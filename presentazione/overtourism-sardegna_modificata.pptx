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hJCD1+H9wsvp5QiFNLFNi9BJ0KH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16000" y="812520"/>
            <a:ext cx="7127280" cy="400896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" name="Google Shape;15;p1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1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g3f8a346b7a1_0_1:notes"/>
          <p:cNvSpPr/>
          <p:nvPr>
            <p:ph idx="2" type="sldImg"/>
          </p:nvPr>
        </p:nvSpPr>
        <p:spPr>
          <a:xfrm>
            <a:off x="216000" y="812520"/>
            <a:ext cx="7127400" cy="4008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" name="Google Shape;26;g3f8a346b7a1_0_1:notes"/>
          <p:cNvSpPr txBox="1"/>
          <p:nvPr>
            <p:ph idx="1" type="body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g3f8a346b7a1_0_1:notes"/>
          <p:cNvSpPr txBox="1"/>
          <p:nvPr>
            <p:ph idx="12" type="sldNum"/>
          </p:nvPr>
        </p:nvSpPr>
        <p:spPr>
          <a:xfrm>
            <a:off x="4278960" y="10157400"/>
            <a:ext cx="3280800" cy="534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8a346b7a1_0_44:notes"/>
          <p:cNvSpPr/>
          <p:nvPr>
            <p:ph idx="2" type="sldImg"/>
          </p:nvPr>
        </p:nvSpPr>
        <p:spPr>
          <a:xfrm>
            <a:off x="216000" y="812520"/>
            <a:ext cx="7127400" cy="4008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8a346b7a1_0_44:notes"/>
          <p:cNvSpPr txBox="1"/>
          <p:nvPr>
            <p:ph idx="1" type="body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g3f8a346b7a1_0_44:notes"/>
          <p:cNvSpPr txBox="1"/>
          <p:nvPr>
            <p:ph idx="12" type="sldNum"/>
          </p:nvPr>
        </p:nvSpPr>
        <p:spPr>
          <a:xfrm>
            <a:off x="4278960" y="10157400"/>
            <a:ext cx="3280800" cy="534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5" name="Google Shape;75;p2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409b6d92d7a_3_13:notes"/>
          <p:cNvSpPr/>
          <p:nvPr>
            <p:ph idx="2" type="sldImg"/>
          </p:nvPr>
        </p:nvSpPr>
        <p:spPr>
          <a:xfrm>
            <a:off x="685800" y="1143000"/>
            <a:ext cx="5486100" cy="30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1" name="Google Shape;111;g409b6d92d7a_3_13:notes"/>
          <p:cNvSpPr txBox="1"/>
          <p:nvPr>
            <p:ph idx="1" type="body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g409b6d92d7a_3_13:notes"/>
          <p:cNvSpPr txBox="1"/>
          <p:nvPr>
            <p:ph idx="12" type="sldNum"/>
          </p:nvPr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f8a346b7a1_0_155:notes"/>
          <p:cNvSpPr/>
          <p:nvPr>
            <p:ph idx="2" type="sldImg"/>
          </p:nvPr>
        </p:nvSpPr>
        <p:spPr>
          <a:xfrm>
            <a:off x="685800" y="1143000"/>
            <a:ext cx="5486100" cy="30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7" name="Google Shape;167;g3f8a346b7a1_0_155:notes"/>
          <p:cNvSpPr txBox="1"/>
          <p:nvPr>
            <p:ph idx="1" type="body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g3f8a346b7a1_0_155:notes"/>
          <p:cNvSpPr txBox="1"/>
          <p:nvPr>
            <p:ph idx="12" type="sldNum"/>
          </p:nvPr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7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7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7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8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8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9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p9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9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3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p13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3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5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2" name="Google Shape;262;p15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15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6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9" name="Google Shape;279;p16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6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409b77e888c_0_0:notes"/>
          <p:cNvSpPr/>
          <p:nvPr>
            <p:ph idx="2" type="sldImg"/>
          </p:nvPr>
        </p:nvSpPr>
        <p:spPr>
          <a:xfrm>
            <a:off x="685800" y="1143000"/>
            <a:ext cx="5486100" cy="30858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0" name="Google Shape;290;g409b77e888c_0_0:notes"/>
          <p:cNvSpPr txBox="1"/>
          <p:nvPr>
            <p:ph idx="1" type="body"/>
          </p:nvPr>
        </p:nvSpPr>
        <p:spPr>
          <a:xfrm>
            <a:off x="685800" y="4400640"/>
            <a:ext cx="548610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g409b77e888c_0_0:notes"/>
          <p:cNvSpPr txBox="1"/>
          <p:nvPr>
            <p:ph idx="12" type="sldNum"/>
          </p:nvPr>
        </p:nvSpPr>
        <p:spPr>
          <a:xfrm>
            <a:off x="3884760" y="8685360"/>
            <a:ext cx="2971500" cy="458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7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p17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7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8:notes"/>
          <p:cNvSpPr/>
          <p:nvPr>
            <p:ph idx="2" type="sldImg"/>
          </p:nvPr>
        </p:nvSpPr>
        <p:spPr>
          <a:xfrm>
            <a:off x="685800" y="1143000"/>
            <a:ext cx="5486040" cy="308592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0" name="Google Shape;330;p18:notes"/>
          <p:cNvSpPr txBox="1"/>
          <p:nvPr>
            <p:ph idx="1"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8:notes"/>
          <p:cNvSpPr txBox="1"/>
          <p:nvPr>
            <p:ph idx="12" type="sldNum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b="0" lang="en-US" sz="1200" u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sz="1200" u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f8a346b7a1_0_215:notes"/>
          <p:cNvSpPr/>
          <p:nvPr>
            <p:ph idx="2" type="sldImg"/>
          </p:nvPr>
        </p:nvSpPr>
        <p:spPr>
          <a:xfrm>
            <a:off x="216000" y="812520"/>
            <a:ext cx="7127400" cy="40089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f8a346b7a1_0_215:notes"/>
          <p:cNvSpPr txBox="1"/>
          <p:nvPr>
            <p:ph idx="1" type="body"/>
          </p:nvPr>
        </p:nvSpPr>
        <p:spPr>
          <a:xfrm>
            <a:off x="756000" y="5078520"/>
            <a:ext cx="6047700" cy="4811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g3f8a346b7a1_0_215:notes"/>
          <p:cNvSpPr txBox="1"/>
          <p:nvPr>
            <p:ph idx="12" type="sldNum"/>
          </p:nvPr>
        </p:nvSpPr>
        <p:spPr>
          <a:xfrm>
            <a:off x="4278960" y="10157400"/>
            <a:ext cx="3280800" cy="534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 type="blank">
  <p:cSld name="BLANK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20040" lvl="0" marL="457200" marR="0" rtl="0" algn="l"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1440"/>
              <a:buFont typeface="Noto Sans Symbols"/>
              <a:buChar char="●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Noto Sans Symbols"/>
              <a:buChar char="−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85750" lvl="2" marL="1371600" marR="0" rtl="0" algn="l">
              <a:spcBef>
                <a:spcPts val="85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567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Noto Sans Symbols"/>
              <a:buChar char="−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85750" lvl="4" marL="2286000" marR="0" rtl="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85750" lvl="5" marL="2743200" marR="0" rtl="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85750" lvl="6" marL="3200400" marR="0" rtl="0" algn="l"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4.jpg"/><Relationship Id="rId4" Type="http://schemas.openxmlformats.org/officeDocument/2006/relationships/image" Target="../media/image2.jpg"/><Relationship Id="rId5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Relationship Id="rId4" Type="http://schemas.openxmlformats.org/officeDocument/2006/relationships/image" Target="../media/image12.jpg"/><Relationship Id="rId5" Type="http://schemas.openxmlformats.org/officeDocument/2006/relationships/image" Target="../media/image2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2.png"/><Relationship Id="rId4" Type="http://schemas.openxmlformats.org/officeDocument/2006/relationships/image" Target="../media/image7.png"/><Relationship Id="rId5" Type="http://schemas.openxmlformats.org/officeDocument/2006/relationships/image" Target="../media/image13.png"/><Relationship Id="rId6" Type="http://schemas.openxmlformats.org/officeDocument/2006/relationships/image" Target="../media/image3.jpg"/><Relationship Id="rId7" Type="http://schemas.openxmlformats.org/officeDocument/2006/relationships/image" Target="../media/image29.jpg"/><Relationship Id="rId8" Type="http://schemas.openxmlformats.org/officeDocument/2006/relationships/image" Target="../media/image2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png"/><Relationship Id="rId6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1.png"/><Relationship Id="rId4" Type="http://schemas.openxmlformats.org/officeDocument/2006/relationships/hyperlink" Target="https://github.com/AlessandroCravidi/sardegna-overtourism-aida26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1076D2"/>
            </a:gs>
            <a:gs pos="100000">
              <a:srgbClr val="093053"/>
            </a:gs>
          </a:gsLst>
          <a:lin ang="5400012" scaled="0"/>
        </a:gra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"/>
          <p:cNvSpPr/>
          <p:nvPr/>
        </p:nvSpPr>
        <p:spPr>
          <a:xfrm>
            <a:off x="362175" y="6293950"/>
            <a:ext cx="3452700" cy="36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none" strike="noStrike">
                <a:solidFill>
                  <a:srgbClr val="9FD1E0"/>
                </a:solidFill>
                <a:latin typeface="Calibri"/>
                <a:ea typeface="Calibri"/>
                <a:cs typeface="Calibri"/>
                <a:sym typeface="Calibri"/>
              </a:rPr>
              <a:t>PROJECT WORK  </a:t>
            </a:r>
            <a:r>
              <a:rPr b="1" lang="en-US" sz="1200">
                <a:solidFill>
                  <a:srgbClr val="9FD1E0"/>
                </a:solidFill>
                <a:latin typeface="Calibri"/>
                <a:ea typeface="Calibri"/>
                <a:cs typeface="Calibri"/>
                <a:sym typeface="Calibri"/>
              </a:rPr>
              <a:t>- GRUPPO 3 - A.A. 2026/2027</a:t>
            </a:r>
            <a:endParaRPr b="1" sz="1200">
              <a:solidFill>
                <a:srgbClr val="9FD1E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FD1E0"/>
                </a:solidFill>
                <a:latin typeface="Calibri"/>
                <a:ea typeface="Calibri"/>
                <a:cs typeface="Calibri"/>
                <a:sym typeface="Calibri"/>
              </a:rPr>
              <a:t>Artificial Intelligent &amp; Data Analytics for Business</a:t>
            </a:r>
            <a:endParaRPr b="1" sz="1200">
              <a:solidFill>
                <a:srgbClr val="9FD1E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362174" y="2548250"/>
            <a:ext cx="4827000" cy="13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2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Overtourism in Sardegna:</a:t>
            </a:r>
            <a:endParaRPr b="1" sz="5200" u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Una mappa per identificare le criticità e le opportunità di miglioramento</a:t>
            </a:r>
            <a:endParaRPr b="1" sz="2800">
              <a:solidFill>
                <a:srgbClr val="FFFFFF"/>
              </a:solidFill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" name="Google Shape;20;p1" title="image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2175" y="279325"/>
            <a:ext cx="802975" cy="80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1" title="logoist_3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5150" y="279325"/>
            <a:ext cx="802975" cy="802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21750" y="1451900"/>
            <a:ext cx="5805476" cy="39542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1"/>
          <p:cNvSpPr txBox="1"/>
          <p:nvPr/>
        </p:nvSpPr>
        <p:spPr>
          <a:xfrm>
            <a:off x="9949025" y="5735350"/>
            <a:ext cx="1678200" cy="9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Davide Colucci</a:t>
            </a:r>
            <a:endParaRPr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Alessandro Cravidi</a:t>
            </a:r>
            <a:endParaRPr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Giuseppe Gatto</a:t>
            </a:r>
            <a:endParaRPr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Matteo Rovedo</a:t>
            </a:r>
            <a:endParaRPr b="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8a346b7a1_0_1"/>
          <p:cNvSpPr/>
          <p:nvPr/>
        </p:nvSpPr>
        <p:spPr>
          <a:xfrm>
            <a:off x="640075" y="320675"/>
            <a:ext cx="40251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Obiettivi dell’analisi</a:t>
            </a:r>
            <a:endParaRPr b="0" sz="2900" u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0" name="Google Shape;30;g3f8a346b7a1_0_1"/>
          <p:cNvGrpSpPr/>
          <p:nvPr/>
        </p:nvGrpSpPr>
        <p:grpSpPr>
          <a:xfrm>
            <a:off x="5417125" y="1236669"/>
            <a:ext cx="264649" cy="235957"/>
            <a:chOff x="741280" y="1985783"/>
            <a:chExt cx="357007" cy="318302"/>
          </a:xfrm>
        </p:grpSpPr>
        <p:sp>
          <p:nvSpPr>
            <p:cNvPr id="31" name="Google Shape;31;g3f8a346b7a1_0_1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67775" lIns="67775" spcFirstLastPara="1" rIns="67775" wrap="square" tIns="67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g3f8a346b7a1_0_1"/>
            <p:cNvSpPr txBox="1"/>
            <p:nvPr/>
          </p:nvSpPr>
          <p:spPr>
            <a:xfrm>
              <a:off x="741280" y="1985783"/>
              <a:ext cx="217200" cy="29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12"/>
                <a:buFont typeface="Calibri"/>
                <a:buNone/>
              </a:pPr>
              <a:r>
                <a:t/>
              </a:r>
              <a:endParaRPr b="0" i="0" sz="111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" name="Google Shape;33;g3f8a346b7a1_0_1"/>
          <p:cNvGrpSpPr/>
          <p:nvPr/>
        </p:nvGrpSpPr>
        <p:grpSpPr>
          <a:xfrm>
            <a:off x="5417125" y="2510994"/>
            <a:ext cx="264649" cy="235957"/>
            <a:chOff x="741280" y="1985783"/>
            <a:chExt cx="357007" cy="318302"/>
          </a:xfrm>
        </p:grpSpPr>
        <p:sp>
          <p:nvSpPr>
            <p:cNvPr id="34" name="Google Shape;34;g3f8a346b7a1_0_1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67775" lIns="67775" spcFirstLastPara="1" rIns="67775" wrap="square" tIns="67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g3f8a346b7a1_0_1"/>
            <p:cNvSpPr txBox="1"/>
            <p:nvPr/>
          </p:nvSpPr>
          <p:spPr>
            <a:xfrm>
              <a:off x="741280" y="1985783"/>
              <a:ext cx="217200" cy="29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12"/>
                <a:buFont typeface="Calibri"/>
                <a:buNone/>
              </a:pPr>
              <a:r>
                <a:t/>
              </a:r>
              <a:endParaRPr b="0" i="0" sz="111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" name="Google Shape;36;g3f8a346b7a1_0_1"/>
          <p:cNvGrpSpPr/>
          <p:nvPr/>
        </p:nvGrpSpPr>
        <p:grpSpPr>
          <a:xfrm>
            <a:off x="5417125" y="3785319"/>
            <a:ext cx="264649" cy="235957"/>
            <a:chOff x="741280" y="1985783"/>
            <a:chExt cx="357007" cy="318302"/>
          </a:xfrm>
        </p:grpSpPr>
        <p:sp>
          <p:nvSpPr>
            <p:cNvPr id="37" name="Google Shape;37;g3f8a346b7a1_0_1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67775" lIns="67775" spcFirstLastPara="1" rIns="67775" wrap="square" tIns="67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g3f8a346b7a1_0_1"/>
            <p:cNvSpPr txBox="1"/>
            <p:nvPr/>
          </p:nvSpPr>
          <p:spPr>
            <a:xfrm>
              <a:off x="741280" y="1985783"/>
              <a:ext cx="217200" cy="29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12"/>
                <a:buFont typeface="Calibri"/>
                <a:buNone/>
              </a:pPr>
              <a:r>
                <a:t/>
              </a:r>
              <a:endParaRPr b="0" i="0" sz="111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" name="Google Shape;39;g3f8a346b7a1_0_1"/>
          <p:cNvGrpSpPr/>
          <p:nvPr/>
        </p:nvGrpSpPr>
        <p:grpSpPr>
          <a:xfrm>
            <a:off x="5417125" y="4633194"/>
            <a:ext cx="264649" cy="235957"/>
            <a:chOff x="741280" y="1985783"/>
            <a:chExt cx="357007" cy="318302"/>
          </a:xfrm>
        </p:grpSpPr>
        <p:sp>
          <p:nvSpPr>
            <p:cNvPr id="40" name="Google Shape;40;g3f8a346b7a1_0_1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67775" lIns="67775" spcFirstLastPara="1" rIns="67775" wrap="square" tIns="67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g3f8a346b7a1_0_1"/>
            <p:cNvSpPr txBox="1"/>
            <p:nvPr/>
          </p:nvSpPr>
          <p:spPr>
            <a:xfrm>
              <a:off x="741280" y="1985783"/>
              <a:ext cx="217200" cy="29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12"/>
                <a:buFont typeface="Calibri"/>
                <a:buNone/>
              </a:pPr>
              <a:r>
                <a:t/>
              </a:r>
              <a:endParaRPr b="0" i="0" sz="111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2" name="Google Shape;42;g3f8a346b7a1_0_1" title="images.jpg"/>
          <p:cNvPicPr preferRelativeResize="0"/>
          <p:nvPr/>
        </p:nvPicPr>
        <p:blipFill rotWithShape="1">
          <a:blip r:embed="rId3">
            <a:alphaModFix/>
          </a:blip>
          <a:srcRect b="28343" l="0" r="0" t="-67348"/>
          <a:stretch/>
        </p:blipFill>
        <p:spPr>
          <a:xfrm>
            <a:off x="821225" y="2199188"/>
            <a:ext cx="3662800" cy="3820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Google Shape;43;g3f8a346b7a1_0_1" title="images (1).jpg"/>
          <p:cNvPicPr preferRelativeResize="0"/>
          <p:nvPr/>
        </p:nvPicPr>
        <p:blipFill rotWithShape="1">
          <a:blip r:embed="rId4">
            <a:alphaModFix/>
          </a:blip>
          <a:srcRect b="9058" l="0" r="0" t="0"/>
          <a:stretch/>
        </p:blipFill>
        <p:spPr>
          <a:xfrm>
            <a:off x="1637325" y="1341175"/>
            <a:ext cx="2030600" cy="231869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4" name="Google Shape;44;g3f8a346b7a1_0_1"/>
          <p:cNvCxnSpPr/>
          <p:nvPr/>
        </p:nvCxnSpPr>
        <p:spPr>
          <a:xfrm>
            <a:off x="627975" y="745775"/>
            <a:ext cx="34989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" name="Google Shape;45;g3f8a346b7a1_0_1"/>
          <p:cNvSpPr/>
          <p:nvPr/>
        </p:nvSpPr>
        <p:spPr>
          <a:xfrm>
            <a:off x="627978" y="6463150"/>
            <a:ext cx="30279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g3f8a346b7a1_0_1"/>
          <p:cNvSpPr/>
          <p:nvPr/>
        </p:nvSpPr>
        <p:spPr>
          <a:xfrm>
            <a:off x="10684285" y="6463155"/>
            <a:ext cx="1188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02 / 16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7" name="Google Shape;47;g3f8a346b7a1_0_1"/>
          <p:cNvGrpSpPr/>
          <p:nvPr/>
        </p:nvGrpSpPr>
        <p:grpSpPr>
          <a:xfrm>
            <a:off x="5417125" y="5481069"/>
            <a:ext cx="264649" cy="235957"/>
            <a:chOff x="741280" y="1985783"/>
            <a:chExt cx="357007" cy="318302"/>
          </a:xfrm>
        </p:grpSpPr>
        <p:sp>
          <p:nvSpPr>
            <p:cNvPr id="48" name="Google Shape;48;g3f8a346b7a1_0_1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67775" lIns="67775" spcFirstLastPara="1" rIns="67775" wrap="square" tIns="6777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" name="Google Shape;49;g3f8a346b7a1_0_1"/>
            <p:cNvSpPr txBox="1"/>
            <p:nvPr/>
          </p:nvSpPr>
          <p:spPr>
            <a:xfrm>
              <a:off x="741280" y="1985783"/>
              <a:ext cx="217200" cy="292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112"/>
                <a:buFont typeface="Calibri"/>
                <a:buNone/>
              </a:pPr>
              <a:r>
                <a:t/>
              </a:r>
              <a:endParaRPr b="0" i="0" sz="111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50" name="Google Shape;50;g3f8a346b7a1_0_1"/>
          <p:cNvSpPr txBox="1"/>
          <p:nvPr/>
        </p:nvSpPr>
        <p:spPr>
          <a:xfrm>
            <a:off x="5681775" y="1156275"/>
            <a:ext cx="5221800" cy="48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Indice di Overtourism: un indice comune per comune - su densità turistica, intensità turistica, utilizzazione lorda e densità ricettiva - in grado di quantificare quanto il turismo eccede la capacità del territorio e segnalare la sua crescita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Indice di Attrattività dei comuni: valutare il potenziale turistico di ciascun territorio i punti di interesse presenti ( turismo, natura, ristorazione, servizi e infrastrutture) per confrontarlo con il livello di Overtourism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Stimare il sommerso turistico: misurare quanta parte dei flussi turistici sfugge alle statistiche ufficiali e come evolve nel tempo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Fornire uno strumento operativo: tradurre gli indici in una base dati aggiornabile e utile alle istituzioni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Individuare delle Gemme nascoste contrapponendo l’indice di Overtourism con l'indice di Attrattività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f8a346b7a1_0_44"/>
          <p:cNvSpPr/>
          <p:nvPr/>
        </p:nvSpPr>
        <p:spPr>
          <a:xfrm>
            <a:off x="618025" y="385775"/>
            <a:ext cx="28932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Fonti utilizzate</a:t>
            </a:r>
            <a:endParaRPr b="0" sz="2900" u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g3f8a346b7a1_0_44"/>
          <p:cNvSpPr/>
          <p:nvPr/>
        </p:nvSpPr>
        <p:spPr>
          <a:xfrm>
            <a:off x="375928" y="6482300"/>
            <a:ext cx="2998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g3f8a346b7a1_0_44"/>
          <p:cNvSpPr txBox="1"/>
          <p:nvPr/>
        </p:nvSpPr>
        <p:spPr>
          <a:xfrm>
            <a:off x="565525" y="2731300"/>
            <a:ext cx="2998200" cy="151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Utilizzata per l'anagrafica dei comuni (Elenco comuni italiani, dato statistico), il bilancio demografico comunale (popolazione residente, aggiornamento annuale) e le statistiche geografiche su comuni (superficie, dato statico)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9" name="Google Shape;59;g3f8a346b7a1_0_44" title="image_preview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52975" y="1799025"/>
            <a:ext cx="1423300" cy="53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0" name="Google Shape;60;g3f8a346b7a1_0_44" title="Sardegn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88100" y="998613"/>
            <a:ext cx="1064975" cy="13370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g3f8a346b7a1_0_44"/>
          <p:cNvSpPr txBox="1"/>
          <p:nvPr/>
        </p:nvSpPr>
        <p:spPr>
          <a:xfrm>
            <a:off x="4873988" y="2685375"/>
            <a:ext cx="2893200" cy="19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Fonte ufficiale dei dati regionali: dall'Osservatorio del Turismo, tramite il sistema SIRED, abbiamo recuperato i dati per gli arrivi e le presenze ufficiali (aggiornamento mensile) e per la capacità delle strutture ricettive (aggiornamento annuale) e sardegnamobilità per i flussi giornalieri di porti e aeroporti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3" name="Google Shape;63;g3f8a346b7a1_0_44"/>
          <p:cNvCxnSpPr/>
          <p:nvPr/>
        </p:nvCxnSpPr>
        <p:spPr>
          <a:xfrm flipH="1" rot="10800000">
            <a:off x="583525" y="798100"/>
            <a:ext cx="2583000" cy="171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4" name="Google Shape;64;g3f8a346b7a1_0_44"/>
          <p:cNvSpPr/>
          <p:nvPr/>
        </p:nvSpPr>
        <p:spPr>
          <a:xfrm>
            <a:off x="10661335" y="6482305"/>
            <a:ext cx="1188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03 / 16</a:t>
            </a:r>
            <a:r>
              <a:rPr lang="en-US" sz="10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g3f8a346b7a1_0_44"/>
          <p:cNvSpPr/>
          <p:nvPr/>
        </p:nvSpPr>
        <p:spPr>
          <a:xfrm>
            <a:off x="2954043" y="5091695"/>
            <a:ext cx="2521800" cy="1234200"/>
          </a:xfrm>
          <a:prstGeom prst="roundRect">
            <a:avLst>
              <a:gd fmla="val 5926" name="adj"/>
            </a:avLst>
          </a:prstGeom>
          <a:solidFill>
            <a:srgbClr val="F3F6F7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f8a346b7a1_0_44"/>
          <p:cNvSpPr/>
          <p:nvPr/>
        </p:nvSpPr>
        <p:spPr>
          <a:xfrm>
            <a:off x="3118563" y="5237855"/>
            <a:ext cx="2192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 u="none" strike="noStrike">
                <a:solidFill>
                  <a:srgbClr val="B5602F"/>
                </a:solidFill>
                <a:latin typeface="Cambria"/>
                <a:ea typeface="Cambria"/>
                <a:cs typeface="Cambria"/>
                <a:sym typeface="Cambria"/>
              </a:rPr>
              <a:t>377</a:t>
            </a:r>
            <a:endParaRPr b="0" sz="2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f8a346b7a1_0_44"/>
          <p:cNvSpPr/>
          <p:nvPr/>
        </p:nvSpPr>
        <p:spPr>
          <a:xfrm>
            <a:off x="3118563" y="5750135"/>
            <a:ext cx="21927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Comuni sardi analizzati</a:t>
            </a:r>
            <a:endParaRPr b="0" sz="105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g3f8a346b7a1_0_44"/>
          <p:cNvSpPr/>
          <p:nvPr/>
        </p:nvSpPr>
        <p:spPr>
          <a:xfrm>
            <a:off x="5894048" y="5091695"/>
            <a:ext cx="2521800" cy="1234200"/>
          </a:xfrm>
          <a:prstGeom prst="roundRect">
            <a:avLst>
              <a:gd fmla="val 5926" name="adj"/>
            </a:avLst>
          </a:prstGeom>
          <a:solidFill>
            <a:srgbClr val="F3F6F7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g3f8a346b7a1_0_44"/>
          <p:cNvSpPr/>
          <p:nvPr/>
        </p:nvSpPr>
        <p:spPr>
          <a:xfrm>
            <a:off x="6058568" y="5237855"/>
            <a:ext cx="2192700" cy="50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 u="none" strike="noStrike">
                <a:solidFill>
                  <a:srgbClr val="B5602F"/>
                </a:solidFill>
                <a:latin typeface="Cambria"/>
                <a:ea typeface="Cambria"/>
                <a:cs typeface="Cambria"/>
                <a:sym typeface="Cambria"/>
              </a:rPr>
              <a:t>2022–25</a:t>
            </a:r>
            <a:endParaRPr b="0" sz="26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g3f8a346b7a1_0_44"/>
          <p:cNvSpPr/>
          <p:nvPr/>
        </p:nvSpPr>
        <p:spPr>
          <a:xfrm>
            <a:off x="6058568" y="5750135"/>
            <a:ext cx="21927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Periodo di osservazione</a:t>
            </a:r>
            <a:endParaRPr b="0" sz="105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" name="Google Shape;71;g3f8a346b7a1_0_44" title="NEU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657300" y="1386800"/>
            <a:ext cx="1423299" cy="948866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g3f8a346b7a1_0_44"/>
          <p:cNvSpPr txBox="1"/>
          <p:nvPr/>
        </p:nvSpPr>
        <p:spPr>
          <a:xfrm>
            <a:off x="9077450" y="2685375"/>
            <a:ext cx="2583000" cy="19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OpenStreetMap è una mappa geografica mondiale, costruita e aggiornata da una comunità di volontari, con dati liberamente consultabili e riutilizzabili. L'abbiamo utilizzata come fonte dei punti di interesse (POI) presenti sul territorio sardo, raggruppati in cinque pilastri - turismo, natura, ristorazione, servizi, infrastrutture - con cui abbiamo costruito l'indice di Attrattività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"/>
          <p:cNvSpPr/>
          <p:nvPr/>
        </p:nvSpPr>
        <p:spPr>
          <a:xfrm>
            <a:off x="640075" y="439775"/>
            <a:ext cx="54879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Come abbiamo costruito la pipeline</a:t>
            </a:r>
            <a:endParaRPr b="1" sz="2600">
              <a:solidFill>
                <a:schemeClr val="lt1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9" name="Google Shape;79;p2"/>
          <p:cNvSpPr/>
          <p:nvPr/>
        </p:nvSpPr>
        <p:spPr>
          <a:xfrm>
            <a:off x="640080" y="6473880"/>
            <a:ext cx="7314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2"/>
          <p:cNvSpPr/>
          <p:nvPr/>
        </p:nvSpPr>
        <p:spPr>
          <a:xfrm>
            <a:off x="10649860" y="6473880"/>
            <a:ext cx="1188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04 / 16</a:t>
            </a:r>
            <a:r>
              <a:rPr lang="en-US" sz="100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" name="Google Shape;81;p2"/>
          <p:cNvCxnSpPr/>
          <p:nvPr/>
        </p:nvCxnSpPr>
        <p:spPr>
          <a:xfrm>
            <a:off x="640075" y="947025"/>
            <a:ext cx="5419200" cy="54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2" name="Google Shape;82;p2"/>
          <p:cNvSpPr/>
          <p:nvPr/>
        </p:nvSpPr>
        <p:spPr>
          <a:xfrm>
            <a:off x="640075" y="2272250"/>
            <a:ext cx="3041100" cy="325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2"/>
          <p:cNvSpPr/>
          <p:nvPr/>
        </p:nvSpPr>
        <p:spPr>
          <a:xfrm>
            <a:off x="640075" y="1847150"/>
            <a:ext cx="3041100" cy="425100"/>
          </a:xfrm>
          <a:prstGeom prst="rect">
            <a:avLst/>
          </a:prstGeom>
          <a:gradFill>
            <a:gsLst>
              <a:gs pos="0">
                <a:srgbClr val="1076D2"/>
              </a:gs>
              <a:gs pos="100000">
                <a:srgbClr val="09305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 COLLECTION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4" name="Google Shape;84;p2"/>
          <p:cNvCxnSpPr>
            <a:stCxn id="82" idx="1"/>
            <a:endCxn id="82" idx="3"/>
          </p:cNvCxnSpPr>
          <p:nvPr/>
        </p:nvCxnSpPr>
        <p:spPr>
          <a:xfrm>
            <a:off x="640075" y="3901850"/>
            <a:ext cx="3041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85" name="Google Shape;85;p2"/>
          <p:cNvSpPr/>
          <p:nvPr/>
        </p:nvSpPr>
        <p:spPr>
          <a:xfrm>
            <a:off x="4562300" y="2244624"/>
            <a:ext cx="3041100" cy="3276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"/>
          <p:cNvSpPr/>
          <p:nvPr/>
        </p:nvSpPr>
        <p:spPr>
          <a:xfrm>
            <a:off x="4562300" y="1817225"/>
            <a:ext cx="3041100" cy="427500"/>
          </a:xfrm>
          <a:prstGeom prst="rect">
            <a:avLst/>
          </a:prstGeom>
          <a:gradFill>
            <a:gsLst>
              <a:gs pos="0">
                <a:srgbClr val="1076D2"/>
              </a:gs>
              <a:gs pos="100000">
                <a:srgbClr val="09305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ETL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2"/>
          <p:cNvSpPr/>
          <p:nvPr/>
        </p:nvSpPr>
        <p:spPr>
          <a:xfrm>
            <a:off x="8484550" y="2254624"/>
            <a:ext cx="3041100" cy="3276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2"/>
          <p:cNvSpPr/>
          <p:nvPr/>
        </p:nvSpPr>
        <p:spPr>
          <a:xfrm>
            <a:off x="8484550" y="1827225"/>
            <a:ext cx="3041100" cy="427500"/>
          </a:xfrm>
          <a:prstGeom prst="rect">
            <a:avLst/>
          </a:prstGeom>
          <a:gradFill>
            <a:gsLst>
              <a:gs pos="0">
                <a:srgbClr val="1076D2"/>
              </a:gs>
              <a:gs pos="100000">
                <a:srgbClr val="093053"/>
              </a:gs>
            </a:gsLst>
            <a:lin ang="5400012" scaled="0"/>
          </a:gra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DATA ANALYSIS &amp; VISUALIZATION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2"/>
          <p:cNvSpPr txBox="1"/>
          <p:nvPr/>
        </p:nvSpPr>
        <p:spPr>
          <a:xfrm>
            <a:off x="1913875" y="2455850"/>
            <a:ext cx="493500" cy="3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ISTAT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2"/>
          <p:cNvSpPr txBox="1"/>
          <p:nvPr/>
        </p:nvSpPr>
        <p:spPr>
          <a:xfrm>
            <a:off x="1524625" y="4031275"/>
            <a:ext cx="1272000" cy="3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Regione Sardegna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1" name="Google Shape;91;p2" title="imag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800" y="2927748"/>
            <a:ext cx="549700" cy="549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2" title="imag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6800" y="4505098"/>
            <a:ext cx="549700" cy="5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2"/>
          <p:cNvSpPr/>
          <p:nvPr/>
        </p:nvSpPr>
        <p:spPr>
          <a:xfrm>
            <a:off x="3920888" y="3756125"/>
            <a:ext cx="401700" cy="2739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/>
          <p:nvPr/>
        </p:nvSpPr>
        <p:spPr>
          <a:xfrm>
            <a:off x="7843113" y="3756125"/>
            <a:ext cx="401700" cy="2739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"/>
          <p:cNvSpPr/>
          <p:nvPr/>
        </p:nvSpPr>
        <p:spPr>
          <a:xfrm>
            <a:off x="1999975" y="3166975"/>
            <a:ext cx="321300" cy="173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1999975" y="4693100"/>
            <a:ext cx="321300" cy="173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/>
          <p:nvPr/>
        </p:nvSpPr>
        <p:spPr>
          <a:xfrm>
            <a:off x="6596971" y="3806225"/>
            <a:ext cx="216600" cy="173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p2" title="images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39" y="3041264"/>
            <a:ext cx="1045598" cy="425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99" name="Google Shape;99;p2" title="images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93539" y="4567389"/>
            <a:ext cx="1045598" cy="4251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00" name="Google Shape;100;p2" title="images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8650" y="3710874"/>
            <a:ext cx="847085" cy="3444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sp>
        <p:nvSpPr>
          <p:cNvPr id="101" name="Google Shape;101;p2"/>
          <p:cNvSpPr/>
          <p:nvPr/>
        </p:nvSpPr>
        <p:spPr>
          <a:xfrm>
            <a:off x="5350821" y="3796213"/>
            <a:ext cx="216600" cy="1737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2" title="python-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52088" y="3563313"/>
            <a:ext cx="677075" cy="677075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103" name="Google Shape;103;p2" title="duckdb_logo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835888" y="3544538"/>
            <a:ext cx="677075" cy="677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4" name="Google Shape;104;p2"/>
          <p:cNvCxnSpPr/>
          <p:nvPr/>
        </p:nvCxnSpPr>
        <p:spPr>
          <a:xfrm>
            <a:off x="8484550" y="3901850"/>
            <a:ext cx="3041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105" name="Google Shape;105;p2"/>
          <p:cNvSpPr txBox="1"/>
          <p:nvPr/>
        </p:nvSpPr>
        <p:spPr>
          <a:xfrm>
            <a:off x="9293500" y="2455850"/>
            <a:ext cx="1423200" cy="3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Analisi esplorativa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"/>
          <p:cNvSpPr txBox="1"/>
          <p:nvPr/>
        </p:nvSpPr>
        <p:spPr>
          <a:xfrm>
            <a:off x="9172150" y="4031275"/>
            <a:ext cx="1665900" cy="3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Visualizzazione del deck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Google Shape;107;p2" title="matplotlib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9666563" y="2915288"/>
            <a:ext cx="677076" cy="677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2" title="tableau-software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9605738" y="4505100"/>
            <a:ext cx="798726" cy="798726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409b6d92d7a_3_13"/>
          <p:cNvSpPr/>
          <p:nvPr/>
        </p:nvSpPr>
        <p:spPr>
          <a:xfrm>
            <a:off x="640200" y="443448"/>
            <a:ext cx="10911300" cy="5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90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Indice di Overtourism</a:t>
            </a:r>
            <a:endParaRPr b="1" sz="2900">
              <a:solidFill>
                <a:schemeClr val="lt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1F2733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5" name="Google Shape;115;g409b6d92d7a_3_13"/>
          <p:cNvSpPr/>
          <p:nvPr/>
        </p:nvSpPr>
        <p:spPr>
          <a:xfrm>
            <a:off x="640000" y="991950"/>
            <a:ext cx="10016700" cy="2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L'Indice di Overtourism per comune, seguito nei quattro anni di osservazione, individua dove la pressione è cresciuta più velocemente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g409b6d92d7a_3_13"/>
          <p:cNvSpPr/>
          <p:nvPr/>
        </p:nvSpPr>
        <p:spPr>
          <a:xfrm>
            <a:off x="642816" y="6463367"/>
            <a:ext cx="7595400" cy="28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38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38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g409b6d92d7a_3_13"/>
          <p:cNvSpPr/>
          <p:nvPr/>
        </p:nvSpPr>
        <p:spPr>
          <a:xfrm>
            <a:off x="10738540" y="6463367"/>
            <a:ext cx="1233900" cy="28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38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05 / 16</a:t>
            </a:r>
            <a:endParaRPr b="0" sz="1038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g409b6d92d7a_3_13"/>
          <p:cNvSpPr/>
          <p:nvPr/>
        </p:nvSpPr>
        <p:spPr>
          <a:xfrm>
            <a:off x="642728" y="1451871"/>
            <a:ext cx="4842300" cy="960900"/>
          </a:xfrm>
          <a:prstGeom prst="roundRect">
            <a:avLst>
              <a:gd fmla="val 6250" name="adj"/>
            </a:avLst>
          </a:prstGeom>
          <a:solidFill>
            <a:srgbClr val="E8F1F5"/>
          </a:solidFill>
          <a:ln cap="flat" cmpd="sng" w="9875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g409b6d92d7a_3_13"/>
          <p:cNvSpPr txBox="1"/>
          <p:nvPr/>
        </p:nvSpPr>
        <p:spPr>
          <a:xfrm>
            <a:off x="1190591" y="1462826"/>
            <a:ext cx="4138500" cy="24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298"/>
              <a:buFont typeface="Calibri"/>
              <a:buNone/>
            </a:pPr>
            <a:r>
              <a:rPr b="1" lang="en-US" sz="129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Densità Turistica</a:t>
            </a:r>
            <a:endParaRPr b="1" sz="12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409b6d92d7a_3_13"/>
          <p:cNvSpPr txBox="1"/>
          <p:nvPr/>
        </p:nvSpPr>
        <p:spPr>
          <a:xfrm>
            <a:off x="1224078" y="1702995"/>
            <a:ext cx="4138500" cy="7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142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Presenze turistiche per km² di superficie comunale: misura il carico fisico di persone sul territorio.</a:t>
            </a:r>
            <a:endParaRPr sz="1142">
              <a:solidFill>
                <a:srgbClr val="5B647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142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Presenze / Superficie</a:t>
            </a:r>
            <a:endParaRPr b="1" sz="986">
              <a:solidFill>
                <a:srgbClr val="5B6B7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g409b6d92d7a_3_13"/>
          <p:cNvSpPr/>
          <p:nvPr/>
        </p:nvSpPr>
        <p:spPr>
          <a:xfrm>
            <a:off x="5485217" y="3636980"/>
            <a:ext cx="505200" cy="210000"/>
          </a:xfrm>
          <a:prstGeom prst="downArrow">
            <a:avLst>
              <a:gd fmla="val 50985" name="adj1"/>
              <a:gd fmla="val 50000" name="adj2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409b6d92d7a_3_13"/>
          <p:cNvSpPr/>
          <p:nvPr/>
        </p:nvSpPr>
        <p:spPr>
          <a:xfrm>
            <a:off x="642863" y="3862235"/>
            <a:ext cx="10190100" cy="615900"/>
          </a:xfrm>
          <a:prstGeom prst="roundRect">
            <a:avLst>
              <a:gd fmla="val 8537" name="adj"/>
            </a:avLst>
          </a:prstGeom>
          <a:solidFill>
            <a:srgbClr val="FFFFFF"/>
          </a:solidFill>
          <a:ln cap="flat" cmpd="sng" w="9875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409b6d92d7a_3_13"/>
          <p:cNvSpPr txBox="1"/>
          <p:nvPr/>
        </p:nvSpPr>
        <p:spPr>
          <a:xfrm>
            <a:off x="1190591" y="3882739"/>
            <a:ext cx="9389700" cy="26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454"/>
              <a:buFont typeface="Calibri"/>
              <a:buNone/>
            </a:pPr>
            <a:r>
              <a:rPr b="1" i="0" lang="en-US" sz="1454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Normalizzazione — Winsor p99 + Min-Max</a:t>
            </a:r>
            <a:endParaRPr b="0" i="0" sz="145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409b6d92d7a_3_13"/>
          <p:cNvSpPr txBox="1"/>
          <p:nvPr/>
        </p:nvSpPr>
        <p:spPr>
          <a:xfrm>
            <a:off x="1190591" y="4177596"/>
            <a:ext cx="9389700" cy="24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94"/>
              <a:buFont typeface="Calibri"/>
              <a:buNone/>
            </a:pPr>
            <a:r>
              <a:rPr b="0" i="0" lang="en-US" sz="1194" u="none" cap="none" strike="noStrike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Le ancore (minimo, cap al 99° percentile) sono calcolate una sola volta e congelate: l'indice resta confrontabile quando si aggiungono nuovi anni.</a:t>
            </a:r>
            <a:endParaRPr b="0" i="0" sz="119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g409b6d92d7a_3_13"/>
          <p:cNvSpPr/>
          <p:nvPr/>
        </p:nvSpPr>
        <p:spPr>
          <a:xfrm>
            <a:off x="5485217" y="4507967"/>
            <a:ext cx="5052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g409b6d92d7a_3_13"/>
          <p:cNvSpPr/>
          <p:nvPr/>
        </p:nvSpPr>
        <p:spPr>
          <a:xfrm>
            <a:off x="642863" y="4733221"/>
            <a:ext cx="10190100" cy="615900"/>
          </a:xfrm>
          <a:prstGeom prst="roundRect">
            <a:avLst>
              <a:gd fmla="val 8537" name="adj"/>
            </a:avLst>
          </a:prstGeom>
          <a:solidFill>
            <a:srgbClr val="FFFFFF"/>
          </a:solidFill>
          <a:ln cap="flat" cmpd="sng" w="9875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409b6d92d7a_3_13"/>
          <p:cNvSpPr txBox="1"/>
          <p:nvPr/>
        </p:nvSpPr>
        <p:spPr>
          <a:xfrm>
            <a:off x="1224078" y="4753728"/>
            <a:ext cx="9356100" cy="26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454"/>
              <a:buFont typeface="Calibri"/>
              <a:buNone/>
            </a:pPr>
            <a:r>
              <a:rPr b="1" i="0" lang="en-US" sz="1454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Gestione dei dati mancanti — missing ≠ zero</a:t>
            </a:r>
            <a:endParaRPr b="0" i="0" sz="145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g409b6d92d7a_3_13"/>
          <p:cNvSpPr txBox="1"/>
          <p:nvPr/>
        </p:nvSpPr>
        <p:spPr>
          <a:xfrm>
            <a:off x="1224078" y="5048585"/>
            <a:ext cx="9356100" cy="24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94"/>
              <a:buFont typeface="Calibri"/>
              <a:buNone/>
            </a:pPr>
            <a:r>
              <a:rPr b="0" i="0" lang="en-US" sz="1194" u="none" cap="none" strike="noStrike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Scaffold pieno sui 377 comuni (da Densità Ricettiva). Comuni senza presenze registrate: valore mancante escluso dal calcolo, mai confuso con uno zero vero.</a:t>
            </a:r>
            <a:endParaRPr b="0" i="0" sz="119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g409b6d92d7a_3_13"/>
          <p:cNvSpPr/>
          <p:nvPr/>
        </p:nvSpPr>
        <p:spPr>
          <a:xfrm>
            <a:off x="5485217" y="5378954"/>
            <a:ext cx="505200" cy="195000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0" name="Google Shape;130;g409b6d92d7a_3_13"/>
          <p:cNvGrpSpPr/>
          <p:nvPr/>
        </p:nvGrpSpPr>
        <p:grpSpPr>
          <a:xfrm>
            <a:off x="747869" y="1767025"/>
            <a:ext cx="370673" cy="330491"/>
            <a:chOff x="741287" y="1985785"/>
            <a:chExt cx="357000" cy="318300"/>
          </a:xfrm>
        </p:grpSpPr>
        <p:sp>
          <p:nvSpPr>
            <p:cNvPr id="131" name="Google Shape;131;g409b6d92d7a_3_13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94925" lIns="94925" spcFirstLastPara="1" rIns="94925" wrap="square" tIns="949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g409b6d92d7a_3_13"/>
            <p:cNvSpPr txBox="1"/>
            <p:nvPr/>
          </p:nvSpPr>
          <p:spPr>
            <a:xfrm>
              <a:off x="741287" y="1985785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558"/>
                <a:buFont typeface="Calibri"/>
                <a:buNone/>
              </a:pPr>
              <a:r>
                <a:rPr b="1" lang="en-US" sz="1558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b="0" i="0" sz="1558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3" name="Google Shape;133;g409b6d92d7a_3_13"/>
          <p:cNvSpPr/>
          <p:nvPr/>
        </p:nvSpPr>
        <p:spPr>
          <a:xfrm>
            <a:off x="6017290" y="1451871"/>
            <a:ext cx="4842300" cy="960900"/>
          </a:xfrm>
          <a:prstGeom prst="roundRect">
            <a:avLst>
              <a:gd fmla="val 6250" name="adj"/>
            </a:avLst>
          </a:prstGeom>
          <a:solidFill>
            <a:srgbClr val="E8F1F5"/>
          </a:solidFill>
          <a:ln cap="flat" cmpd="sng" w="9875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/>
          </a:p>
        </p:txBody>
      </p:sp>
      <p:sp>
        <p:nvSpPr>
          <p:cNvPr id="134" name="Google Shape;134;g409b6d92d7a_3_13"/>
          <p:cNvSpPr txBox="1"/>
          <p:nvPr/>
        </p:nvSpPr>
        <p:spPr>
          <a:xfrm>
            <a:off x="6565153" y="1462826"/>
            <a:ext cx="4138500" cy="24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298"/>
              <a:buFont typeface="Calibri"/>
              <a:buNone/>
            </a:pPr>
            <a:r>
              <a:rPr b="1" lang="en-US" sz="129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Intensità</a:t>
            </a:r>
            <a:r>
              <a:rPr b="1" i="0" lang="en-US" sz="1298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Turistica</a:t>
            </a:r>
            <a:endParaRPr b="0" i="0" sz="129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409b6d92d7a_3_13"/>
          <p:cNvSpPr txBox="1"/>
          <p:nvPr/>
        </p:nvSpPr>
        <p:spPr>
          <a:xfrm>
            <a:off x="6565153" y="1682708"/>
            <a:ext cx="413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142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Quantifica il rapporto tra flusso turistico e popolazione locale.</a:t>
            </a:r>
            <a:endParaRPr sz="1142">
              <a:solidFill>
                <a:srgbClr val="5B647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142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Presenze / Popolazione residente</a:t>
            </a:r>
            <a:endParaRPr sz="986">
              <a:solidFill>
                <a:srgbClr val="5B6B7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6" name="Google Shape;136;g409b6d92d7a_3_13"/>
          <p:cNvGrpSpPr/>
          <p:nvPr/>
        </p:nvGrpSpPr>
        <p:grpSpPr>
          <a:xfrm>
            <a:off x="6122432" y="1767025"/>
            <a:ext cx="370673" cy="330491"/>
            <a:chOff x="741287" y="1985785"/>
            <a:chExt cx="357000" cy="318300"/>
          </a:xfrm>
        </p:grpSpPr>
        <p:sp>
          <p:nvSpPr>
            <p:cNvPr id="137" name="Google Shape;137;g409b6d92d7a_3_13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94925" lIns="94925" spcFirstLastPara="1" rIns="94925" wrap="square" tIns="949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g409b6d92d7a_3_13"/>
            <p:cNvSpPr txBox="1"/>
            <p:nvPr/>
          </p:nvSpPr>
          <p:spPr>
            <a:xfrm>
              <a:off x="741287" y="1985785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558"/>
                <a:buFont typeface="Calibri"/>
                <a:buNone/>
              </a:pPr>
              <a:r>
                <a:rPr b="1" lang="en-US" sz="1558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0" i="0" sz="1558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9" name="Google Shape;139;g409b6d92d7a_3_13"/>
          <p:cNvSpPr/>
          <p:nvPr/>
        </p:nvSpPr>
        <p:spPr>
          <a:xfrm>
            <a:off x="642728" y="2538966"/>
            <a:ext cx="4842300" cy="960900"/>
          </a:xfrm>
          <a:prstGeom prst="roundRect">
            <a:avLst>
              <a:gd fmla="val 6250" name="adj"/>
            </a:avLst>
          </a:prstGeom>
          <a:solidFill>
            <a:srgbClr val="E8F1F5"/>
          </a:solidFill>
          <a:ln cap="flat" cmpd="sng" w="9875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/>
          </a:p>
        </p:txBody>
      </p:sp>
      <p:sp>
        <p:nvSpPr>
          <p:cNvPr id="140" name="Google Shape;140;g409b6d92d7a_3_13"/>
          <p:cNvSpPr txBox="1"/>
          <p:nvPr/>
        </p:nvSpPr>
        <p:spPr>
          <a:xfrm>
            <a:off x="1190591" y="2549920"/>
            <a:ext cx="4138500" cy="24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298"/>
              <a:buFont typeface="Calibri"/>
              <a:buNone/>
            </a:pPr>
            <a:r>
              <a:rPr b="1" lang="en-US" sz="1298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Densità Ricettiva</a:t>
            </a:r>
            <a:endParaRPr b="1" sz="1298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409b6d92d7a_3_13"/>
          <p:cNvSpPr txBox="1"/>
          <p:nvPr/>
        </p:nvSpPr>
        <p:spPr>
          <a:xfrm>
            <a:off x="1224078" y="2790089"/>
            <a:ext cx="4138500" cy="7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142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Presenze turistiche per km² di superficie comunale: Misura la pressione delle infrastrutture ricettive sul territorio</a:t>
            </a:r>
            <a:endParaRPr sz="1142">
              <a:solidFill>
                <a:srgbClr val="5B647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142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Letti totali / Superficie</a:t>
            </a:r>
            <a:endParaRPr sz="1142">
              <a:solidFill>
                <a:srgbClr val="5B647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2" name="Google Shape;142;g409b6d92d7a_3_13"/>
          <p:cNvGrpSpPr/>
          <p:nvPr/>
        </p:nvGrpSpPr>
        <p:grpSpPr>
          <a:xfrm>
            <a:off x="747869" y="2854119"/>
            <a:ext cx="370673" cy="330491"/>
            <a:chOff x="741287" y="1985785"/>
            <a:chExt cx="357000" cy="318300"/>
          </a:xfrm>
        </p:grpSpPr>
        <p:sp>
          <p:nvSpPr>
            <p:cNvPr id="143" name="Google Shape;143;g409b6d92d7a_3_13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94925" lIns="94925" spcFirstLastPara="1" rIns="94925" wrap="square" tIns="949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g409b6d92d7a_3_13"/>
            <p:cNvSpPr txBox="1"/>
            <p:nvPr/>
          </p:nvSpPr>
          <p:spPr>
            <a:xfrm>
              <a:off x="741287" y="1985785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558"/>
                <a:buFont typeface="Calibri"/>
                <a:buNone/>
              </a:pPr>
              <a:r>
                <a:rPr b="1" lang="en-US" sz="1558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0" i="0" sz="1558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5" name="Google Shape;145;g409b6d92d7a_3_13"/>
          <p:cNvSpPr/>
          <p:nvPr/>
        </p:nvSpPr>
        <p:spPr>
          <a:xfrm>
            <a:off x="6017290" y="2547454"/>
            <a:ext cx="4842300" cy="960900"/>
          </a:xfrm>
          <a:prstGeom prst="roundRect">
            <a:avLst>
              <a:gd fmla="val 6250" name="adj"/>
            </a:avLst>
          </a:prstGeom>
          <a:solidFill>
            <a:srgbClr val="E8F1F5"/>
          </a:solidFill>
          <a:ln cap="flat" cmpd="sng" w="9875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/>
          </a:p>
        </p:txBody>
      </p:sp>
      <p:sp>
        <p:nvSpPr>
          <p:cNvPr id="146" name="Google Shape;146;g409b6d92d7a_3_13"/>
          <p:cNvSpPr txBox="1"/>
          <p:nvPr/>
        </p:nvSpPr>
        <p:spPr>
          <a:xfrm>
            <a:off x="6565153" y="2558409"/>
            <a:ext cx="4138500" cy="24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298"/>
              <a:buFont typeface="Calibri"/>
              <a:buNone/>
            </a:pPr>
            <a:r>
              <a:rPr b="1" lang="en-US" sz="1142">
                <a:solidFill>
                  <a:schemeClr val="dk1"/>
                </a:solidFill>
              </a:rPr>
              <a:t>Utilizzazione Lorda</a:t>
            </a:r>
            <a:endParaRPr b="0" i="0" sz="1298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g409b6d92d7a_3_13"/>
          <p:cNvSpPr txBox="1"/>
          <p:nvPr/>
        </p:nvSpPr>
        <p:spPr>
          <a:xfrm>
            <a:off x="6565153" y="2782587"/>
            <a:ext cx="4138500" cy="70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142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Misura quanto la capacità ricettiva è effettivamente satura nel periodo, espresso in % non superiore al 100</a:t>
            </a:r>
            <a:endParaRPr sz="1142">
              <a:solidFill>
                <a:srgbClr val="5B647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1142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en-US" sz="1142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resenze / (posti letto disponibili * 365) %</a:t>
            </a:r>
            <a:endParaRPr b="1" sz="1142">
              <a:solidFill>
                <a:srgbClr val="5B647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48" name="Google Shape;148;g409b6d92d7a_3_13"/>
          <p:cNvGrpSpPr/>
          <p:nvPr/>
        </p:nvGrpSpPr>
        <p:grpSpPr>
          <a:xfrm>
            <a:off x="6122432" y="2862608"/>
            <a:ext cx="370673" cy="330491"/>
            <a:chOff x="741287" y="1985785"/>
            <a:chExt cx="357000" cy="318300"/>
          </a:xfrm>
        </p:grpSpPr>
        <p:sp>
          <p:nvSpPr>
            <p:cNvPr id="149" name="Google Shape;149;g409b6d92d7a_3_13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94925" lIns="94925" spcFirstLastPara="1" rIns="94925" wrap="square" tIns="949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0" name="Google Shape;150;g409b6d92d7a_3_13"/>
            <p:cNvSpPr txBox="1"/>
            <p:nvPr/>
          </p:nvSpPr>
          <p:spPr>
            <a:xfrm>
              <a:off x="741287" y="1985785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558"/>
                <a:buFont typeface="Calibri"/>
                <a:buNone/>
              </a:pPr>
              <a:r>
                <a:rPr b="1" lang="en-US" sz="1558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b="0" i="0" sz="1558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1" name="Google Shape;151;g409b6d92d7a_3_13"/>
          <p:cNvGrpSpPr/>
          <p:nvPr/>
        </p:nvGrpSpPr>
        <p:grpSpPr>
          <a:xfrm>
            <a:off x="747869" y="4004816"/>
            <a:ext cx="370673" cy="330491"/>
            <a:chOff x="741287" y="1985785"/>
            <a:chExt cx="357000" cy="318300"/>
          </a:xfrm>
        </p:grpSpPr>
        <p:sp>
          <p:nvSpPr>
            <p:cNvPr id="152" name="Google Shape;152;g409b6d92d7a_3_13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94925" lIns="94925" spcFirstLastPara="1" rIns="94925" wrap="square" tIns="949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3" name="Google Shape;153;g409b6d92d7a_3_13"/>
            <p:cNvSpPr txBox="1"/>
            <p:nvPr/>
          </p:nvSpPr>
          <p:spPr>
            <a:xfrm>
              <a:off x="741287" y="1985785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558"/>
                <a:buFont typeface="Calibri"/>
                <a:buNone/>
              </a:pPr>
              <a:r>
                <a:rPr b="1" lang="en-US" sz="1558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b="0" i="0" sz="1558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54" name="Google Shape;154;g409b6d92d7a_3_13"/>
          <p:cNvGrpSpPr/>
          <p:nvPr/>
        </p:nvGrpSpPr>
        <p:grpSpPr>
          <a:xfrm>
            <a:off x="747869" y="4875803"/>
            <a:ext cx="370673" cy="330491"/>
            <a:chOff x="741287" y="1985785"/>
            <a:chExt cx="357000" cy="318300"/>
          </a:xfrm>
        </p:grpSpPr>
        <p:sp>
          <p:nvSpPr>
            <p:cNvPr id="155" name="Google Shape;155;g409b6d92d7a_3_13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94925" lIns="94925" spcFirstLastPara="1" rIns="94925" wrap="square" tIns="949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6" name="Google Shape;156;g409b6d92d7a_3_13"/>
            <p:cNvSpPr txBox="1"/>
            <p:nvPr/>
          </p:nvSpPr>
          <p:spPr>
            <a:xfrm>
              <a:off x="741287" y="1985785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558"/>
                <a:buFont typeface="Calibri"/>
                <a:buNone/>
              </a:pPr>
              <a:r>
                <a:rPr b="1" lang="en-US" sz="1558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 b="0" i="0" sz="1558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7" name="Google Shape;157;g409b6d92d7a_3_13"/>
          <p:cNvSpPr/>
          <p:nvPr/>
        </p:nvSpPr>
        <p:spPr>
          <a:xfrm>
            <a:off x="642733" y="5644809"/>
            <a:ext cx="10190100" cy="754800"/>
          </a:xfrm>
          <a:prstGeom prst="roundRect">
            <a:avLst>
              <a:gd fmla="val 8537" name="adj"/>
            </a:avLst>
          </a:prstGeom>
          <a:solidFill>
            <a:srgbClr val="21295C"/>
          </a:solidFill>
          <a:ln>
            <a:noFill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/>
          </a:p>
        </p:txBody>
      </p:sp>
      <p:sp>
        <p:nvSpPr>
          <p:cNvPr id="158" name="Google Shape;158;g409b6d92d7a_3_13"/>
          <p:cNvSpPr txBox="1"/>
          <p:nvPr/>
        </p:nvSpPr>
        <p:spPr>
          <a:xfrm>
            <a:off x="1190410" y="5665316"/>
            <a:ext cx="9389700" cy="26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54"/>
              <a:buFont typeface="Calibri"/>
              <a:buNone/>
            </a:pPr>
            <a:r>
              <a:rPr b="1" lang="en-US" sz="1454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Indice di OverTourism</a:t>
            </a:r>
            <a:endParaRPr b="0" i="0" sz="1454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g409b6d92d7a_3_13"/>
          <p:cNvSpPr txBox="1"/>
          <p:nvPr/>
        </p:nvSpPr>
        <p:spPr>
          <a:xfrm>
            <a:off x="1190410" y="5960160"/>
            <a:ext cx="9389700" cy="24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94"/>
              <a:buFont typeface="Calibri"/>
              <a:buNone/>
            </a:pPr>
            <a:r>
              <a:rPr lang="en-US" sz="1194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Media geometrica di quattro indicatori normalizzati (densità turistica, densità ricettiva, intensità turistica, utilizzazione lorda), dopo winsorizzazione al 99° percentile e min-max.</a:t>
            </a:r>
            <a:endParaRPr sz="1194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0" name="Google Shape;160;g409b6d92d7a_3_13"/>
          <p:cNvGrpSpPr/>
          <p:nvPr/>
        </p:nvGrpSpPr>
        <p:grpSpPr>
          <a:xfrm>
            <a:off x="747902" y="5888636"/>
            <a:ext cx="370673" cy="330491"/>
            <a:chOff x="40387" y="5396910"/>
            <a:chExt cx="357000" cy="318300"/>
          </a:xfrm>
        </p:grpSpPr>
        <p:sp>
          <p:nvSpPr>
            <p:cNvPr id="161" name="Google Shape;161;g409b6d92d7a_3_13"/>
            <p:cNvSpPr/>
            <p:nvPr/>
          </p:nvSpPr>
          <p:spPr>
            <a:xfrm>
              <a:off x="40387" y="5396910"/>
              <a:ext cx="357000" cy="318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4925" lIns="94925" spcFirstLastPara="1" rIns="94925" wrap="square" tIns="949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g409b6d92d7a_3_13"/>
            <p:cNvSpPr txBox="1"/>
            <p:nvPr/>
          </p:nvSpPr>
          <p:spPr>
            <a:xfrm>
              <a:off x="40387" y="5396910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558"/>
                <a:buFont typeface="Calibri"/>
                <a:buNone/>
              </a:pPr>
              <a:r>
                <a:rPr b="1" lang="en-US" sz="1558">
                  <a:solidFill>
                    <a:srgbClr val="21295C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 b="0" i="0" sz="1558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3" name="Google Shape;163;g409b6d92d7a_3_13"/>
          <p:cNvSpPr/>
          <p:nvPr/>
        </p:nvSpPr>
        <p:spPr>
          <a:xfrm>
            <a:off x="568475" y="1315025"/>
            <a:ext cx="10338600" cy="2291100"/>
          </a:xfrm>
          <a:prstGeom prst="roundRect">
            <a:avLst>
              <a:gd fmla="val 6250" name="adj"/>
            </a:avLst>
          </a:prstGeom>
          <a:noFill/>
          <a:ln cap="flat" cmpd="sng" w="9875">
            <a:solidFill>
              <a:schemeClr val="dk1"/>
            </a:solidFill>
            <a:prstDash val="lgDash"/>
            <a:round/>
            <a:headEnd len="sm" w="sm" type="none"/>
            <a:tailEnd len="sm" w="sm" type="none"/>
          </a:ln>
        </p:spPr>
        <p:txBody>
          <a:bodyPr anchorCtr="0" anchor="ctr" bIns="94925" lIns="94925" spcFirstLastPara="1" rIns="94925" wrap="square" tIns="94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/>
          </a:p>
        </p:txBody>
      </p:sp>
      <p:cxnSp>
        <p:nvCxnSpPr>
          <p:cNvPr id="164" name="Google Shape;164;g409b6d92d7a_3_13"/>
          <p:cNvCxnSpPr/>
          <p:nvPr/>
        </p:nvCxnSpPr>
        <p:spPr>
          <a:xfrm>
            <a:off x="640200" y="846898"/>
            <a:ext cx="3705900" cy="3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f8a346b7a1_0_155"/>
          <p:cNvSpPr/>
          <p:nvPr/>
        </p:nvSpPr>
        <p:spPr>
          <a:xfrm>
            <a:off x="640200" y="443448"/>
            <a:ext cx="10911300" cy="5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90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Indice di Attrattività</a:t>
            </a:r>
            <a:endParaRPr b="1" sz="2900">
              <a:solidFill>
                <a:schemeClr val="lt1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600">
              <a:solidFill>
                <a:srgbClr val="1F2733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1" name="Google Shape;171;g3f8a346b7a1_0_155"/>
          <p:cNvSpPr/>
          <p:nvPr/>
        </p:nvSpPr>
        <p:spPr>
          <a:xfrm>
            <a:off x="640000" y="991950"/>
            <a:ext cx="10016700" cy="2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 punteggio comunale costruito sui punti di interesse OpenStreetMap, indipendentemente dai flussi turistici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g3f8a346b7a1_0_155"/>
          <p:cNvSpPr/>
          <p:nvPr/>
        </p:nvSpPr>
        <p:spPr>
          <a:xfrm>
            <a:off x="642816" y="6463367"/>
            <a:ext cx="7595400" cy="28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38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38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g3f8a346b7a1_0_155"/>
          <p:cNvSpPr/>
          <p:nvPr/>
        </p:nvSpPr>
        <p:spPr>
          <a:xfrm>
            <a:off x="10738540" y="6463367"/>
            <a:ext cx="1233900" cy="28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38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06 / 16</a:t>
            </a:r>
            <a:endParaRPr b="0" sz="1038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4" name="Google Shape;174;g3f8a346b7a1_0_155"/>
          <p:cNvCxnSpPr/>
          <p:nvPr/>
        </p:nvCxnSpPr>
        <p:spPr>
          <a:xfrm flipH="1" rot="10800000">
            <a:off x="640200" y="837298"/>
            <a:ext cx="3456600" cy="96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75" name="Google Shape;175;g3f8a346b7a1_0_155"/>
          <p:cNvSpPr/>
          <p:nvPr/>
        </p:nvSpPr>
        <p:spPr>
          <a:xfrm>
            <a:off x="640188" y="2641550"/>
            <a:ext cx="3041100" cy="23424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g3f8a346b7a1_0_155"/>
          <p:cNvSpPr txBox="1"/>
          <p:nvPr/>
        </p:nvSpPr>
        <p:spPr>
          <a:xfrm>
            <a:off x="858588" y="2751175"/>
            <a:ext cx="2604300" cy="21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 punteggio da 0 a 100 per ciascun comune, costruito su cinque categorie di punti di interesse rilevati da OpenStreetMap - turismo, natura, ristorazione, servizi, infrastrutture - pesate rispettivamente 30%, 25%, 20%, 15% e 10%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g3f8a346b7a1_0_155"/>
          <p:cNvSpPr/>
          <p:nvPr/>
        </p:nvSpPr>
        <p:spPr>
          <a:xfrm>
            <a:off x="4439250" y="2645125"/>
            <a:ext cx="3041100" cy="23424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g3f8a346b7a1_0_155"/>
          <p:cNvSpPr txBox="1"/>
          <p:nvPr/>
        </p:nvSpPr>
        <p:spPr>
          <a:xfrm>
            <a:off x="4657650" y="2754750"/>
            <a:ext cx="2604300" cy="21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Ogni categoria è normalizzata per la superficie comunale, calcolata su una proiezione metrica (UTM 32N) per avere aree corrette, poi riportata su una scala comune 0-100 con un min-max sui 377 comuni, e infine sommata pesando ciascuna categoria secondo la sua importanza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g3f8a346b7a1_0_155"/>
          <p:cNvSpPr/>
          <p:nvPr/>
        </p:nvSpPr>
        <p:spPr>
          <a:xfrm>
            <a:off x="8238313" y="2641550"/>
            <a:ext cx="3313200" cy="23424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f8a346b7a1_0_155"/>
          <p:cNvSpPr txBox="1"/>
          <p:nvPr/>
        </p:nvSpPr>
        <p:spPr>
          <a:xfrm>
            <a:off x="8476259" y="2745604"/>
            <a:ext cx="2837400" cy="202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 comuni sono divisi in cinque classi di pari numerosità (quintili) in base al punteggio finale, da attrattività molto bassa a molto alta: una classificazione relativa, che si aggiorna automaticamente quando cambiano i dati sottostanti </a:t>
            </a:r>
            <a:endParaRPr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g3f8a346b7a1_0_155"/>
          <p:cNvSpPr txBox="1"/>
          <p:nvPr/>
        </p:nvSpPr>
        <p:spPr>
          <a:xfrm>
            <a:off x="642825" y="2183000"/>
            <a:ext cx="2372400" cy="2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Come misura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g3f8a346b7a1_0_155"/>
          <p:cNvSpPr txBox="1"/>
          <p:nvPr/>
        </p:nvSpPr>
        <p:spPr>
          <a:xfrm>
            <a:off x="4462150" y="2183000"/>
            <a:ext cx="2372400" cy="2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Come si calcola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g3f8a346b7a1_0_155"/>
          <p:cNvSpPr txBox="1"/>
          <p:nvPr/>
        </p:nvSpPr>
        <p:spPr>
          <a:xfrm>
            <a:off x="8238225" y="2183000"/>
            <a:ext cx="2372400" cy="2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Come si classifica</a:t>
            </a:r>
            <a:endParaRPr b="1"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"/>
          <p:cNvSpPr/>
          <p:nvPr/>
        </p:nvSpPr>
        <p:spPr>
          <a:xfrm>
            <a:off x="640050" y="387247"/>
            <a:ext cx="109113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 u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Come si è mossa la pressione turistica nei comuni sardi</a:t>
            </a:r>
            <a:endParaRPr b="0" sz="2900" u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7"/>
          <p:cNvSpPr/>
          <p:nvPr/>
        </p:nvSpPr>
        <p:spPr>
          <a:xfrm>
            <a:off x="640049" y="1117125"/>
            <a:ext cx="109113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L'Indice di Overtourism per comune, seguito nei quattro anni di osservazione, individua dove la pressione è cresciuta più velocemente — non solo dove è più alta oggi. Dalle mappe emerge 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come le zone costiere sono quelle che sono state impattate di più dall’overtourism 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7"/>
          <p:cNvSpPr/>
          <p:nvPr/>
        </p:nvSpPr>
        <p:spPr>
          <a:xfrm>
            <a:off x="640080" y="6473880"/>
            <a:ext cx="7314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7"/>
          <p:cNvSpPr/>
          <p:nvPr/>
        </p:nvSpPr>
        <p:spPr>
          <a:xfrm>
            <a:off x="10362960" y="6473880"/>
            <a:ext cx="11883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07 / 16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5" name="Google Shape;195;p7"/>
          <p:cNvCxnSpPr/>
          <p:nvPr/>
        </p:nvCxnSpPr>
        <p:spPr>
          <a:xfrm flipH="1" rot="10800000">
            <a:off x="640050" y="873547"/>
            <a:ext cx="9275100" cy="216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196" name="Google Shape;196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50" y="1742407"/>
            <a:ext cx="4801800" cy="4724881"/>
          </a:xfrm>
          <a:prstGeom prst="rect">
            <a:avLst/>
          </a:prstGeom>
          <a:solidFill>
            <a:srgbClr val="EAF1F3"/>
          </a:solidFill>
          <a:ln>
            <a:noFill/>
          </a:ln>
        </p:spPr>
      </p:pic>
      <p:pic>
        <p:nvPicPr>
          <p:cNvPr id="197" name="Google Shape;197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10600" y="1735825"/>
            <a:ext cx="4841214" cy="4738051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640075" y="1894125"/>
            <a:ext cx="10440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2022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6482794" y="1894125"/>
            <a:ext cx="1348500" cy="3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2025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0" name="Google Shape;200;p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169765" y="4743228"/>
            <a:ext cx="1669360" cy="172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56238" y="4719425"/>
            <a:ext cx="1647825" cy="1771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"/>
          <p:cNvSpPr/>
          <p:nvPr/>
        </p:nvSpPr>
        <p:spPr>
          <a:xfrm>
            <a:off x="640375" y="421672"/>
            <a:ext cx="10911300" cy="50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 u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Cosa rende un comune attrattivo, indipendentemente dal turismo</a:t>
            </a:r>
            <a:endParaRPr b="0" sz="2800" u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641195" y="1124650"/>
            <a:ext cx="10084500" cy="5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3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L’indice di Attrattività misura il potenziale di un territorio a prescindere dai flussi attuali: natura, ristorazione, servizi e infrastrutture pesano quanto l'offerta turistica in senso stretto</a:t>
            </a:r>
            <a:endParaRPr b="0" sz="1439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641200" y="6466339"/>
            <a:ext cx="7516500" cy="28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28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28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10632061" y="6466339"/>
            <a:ext cx="1221000" cy="28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28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08 / 16</a:t>
            </a:r>
            <a:endParaRPr b="0" sz="1028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8"/>
          <p:cNvPicPr preferRelativeResize="0"/>
          <p:nvPr/>
        </p:nvPicPr>
        <p:blipFill rotWithShape="1">
          <a:blip r:embed="rId3">
            <a:alphaModFix/>
          </a:blip>
          <a:srcRect b="4008" l="29840" r="27170" t="11788"/>
          <a:stretch/>
        </p:blipFill>
        <p:spPr>
          <a:xfrm>
            <a:off x="7543075" y="1702500"/>
            <a:ext cx="3641524" cy="476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8"/>
          <p:cNvSpPr/>
          <p:nvPr/>
        </p:nvSpPr>
        <p:spPr>
          <a:xfrm>
            <a:off x="599450" y="1702497"/>
            <a:ext cx="5684400" cy="13341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98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3950" lIns="93950" spcFirstLastPara="1" rIns="93950" wrap="square" tIns="93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13" name="Google Shape;213;p8"/>
          <p:cNvGrpSpPr/>
          <p:nvPr/>
        </p:nvGrpSpPr>
        <p:grpSpPr>
          <a:xfrm>
            <a:off x="834382" y="2172353"/>
            <a:ext cx="394598" cy="394638"/>
            <a:chOff x="828050" y="2020722"/>
            <a:chExt cx="384000" cy="384038"/>
          </a:xfrm>
        </p:grpSpPr>
        <p:sp>
          <p:nvSpPr>
            <p:cNvPr id="214" name="Google Shape;214;p8"/>
            <p:cNvSpPr/>
            <p:nvPr/>
          </p:nvSpPr>
          <p:spPr>
            <a:xfrm>
              <a:off x="828050" y="2020722"/>
              <a:ext cx="384000" cy="384038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93950" lIns="93950" spcFirstLastPara="1" rIns="93950" wrap="square" tIns="939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8"/>
            <p:cNvSpPr txBox="1"/>
            <p:nvPr/>
          </p:nvSpPr>
          <p:spPr>
            <a:xfrm>
              <a:off x="828050" y="2020722"/>
              <a:ext cx="384000" cy="38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39"/>
                <a:buFont typeface="Calibri"/>
                <a:buNone/>
              </a:pPr>
              <a:r>
                <a:rPr b="1" i="0" lang="en-US" sz="1439" u="none" cap="none" strike="noStrik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b="0" i="0" sz="1439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6" name="Google Shape;216;p8"/>
          <p:cNvSpPr txBox="1"/>
          <p:nvPr/>
        </p:nvSpPr>
        <p:spPr>
          <a:xfrm>
            <a:off x="1369924" y="1852848"/>
            <a:ext cx="4744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87"/>
              <a:buFont typeface="Calibri"/>
              <a:buNone/>
            </a:pPr>
            <a:r>
              <a:rPr b="1" i="0" lang="en-US" sz="1387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Conteggio POI per pilastro (OSM / Overpass API)</a:t>
            </a:r>
            <a:endParaRPr b="0" i="0" sz="138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8"/>
          <p:cNvSpPr txBox="1"/>
          <p:nvPr/>
        </p:nvSpPr>
        <p:spPr>
          <a:xfrm>
            <a:off x="1369916" y="2115007"/>
            <a:ext cx="4791900" cy="58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10"/>
              <a:buFont typeface="Calibri"/>
              <a:buNone/>
            </a:pPr>
            <a:r>
              <a:rPr lang="en-US" sz="1110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Raccolta dei Punti di Interesse (POI) sardi da </a:t>
            </a:r>
            <a:r>
              <a:rPr i="1" lang="en-US" sz="1110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OpenStreetMap</a:t>
            </a:r>
            <a:r>
              <a:rPr lang="en-US" sz="1110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 e suddivisione degli stessi in 5 pilastri: </a:t>
            </a:r>
            <a:r>
              <a:rPr b="1" i="0" lang="en-US" sz="1110" u="none" cap="none" strike="noStrike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Turismo, Natura, Ristorazione, Servizi, Infrastrutture</a:t>
            </a:r>
            <a:r>
              <a:rPr lang="en-US" sz="1110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. Allocazione dei POI ai vari comuni attraverso </a:t>
            </a:r>
            <a:r>
              <a:rPr b="1" lang="en-US" sz="1110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GeoPandas</a:t>
            </a:r>
            <a:r>
              <a:rPr b="0" i="0" lang="en-US" sz="1110" u="none" cap="none" strike="noStrike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11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8"/>
          <p:cNvSpPr/>
          <p:nvPr/>
        </p:nvSpPr>
        <p:spPr>
          <a:xfrm>
            <a:off x="599450" y="3130838"/>
            <a:ext cx="5684400" cy="13341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98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3950" lIns="93950" spcFirstLastPara="1" rIns="93950" wrap="square" tIns="93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19" name="Google Shape;219;p8"/>
          <p:cNvGrpSpPr/>
          <p:nvPr/>
        </p:nvGrpSpPr>
        <p:grpSpPr>
          <a:xfrm>
            <a:off x="834382" y="3600831"/>
            <a:ext cx="394598" cy="394598"/>
            <a:chOff x="828050" y="3410749"/>
            <a:chExt cx="384000" cy="384000"/>
          </a:xfrm>
        </p:grpSpPr>
        <p:sp>
          <p:nvSpPr>
            <p:cNvPr id="220" name="Google Shape;220;p8"/>
            <p:cNvSpPr/>
            <p:nvPr/>
          </p:nvSpPr>
          <p:spPr>
            <a:xfrm>
              <a:off x="828050" y="3410749"/>
              <a:ext cx="384000" cy="3840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93950" lIns="93950" spcFirstLastPara="1" rIns="93950" wrap="square" tIns="939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8"/>
            <p:cNvSpPr txBox="1"/>
            <p:nvPr/>
          </p:nvSpPr>
          <p:spPr>
            <a:xfrm>
              <a:off x="828050" y="3410749"/>
              <a:ext cx="384000" cy="38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39"/>
                <a:buFont typeface="Calibri"/>
                <a:buNone/>
              </a:pPr>
              <a:r>
                <a:rPr b="1" i="0" lang="en-US" sz="1439" u="none" cap="none" strike="noStrik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0" i="0" sz="1439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2" name="Google Shape;222;p8"/>
          <p:cNvSpPr txBox="1"/>
          <p:nvPr/>
        </p:nvSpPr>
        <p:spPr>
          <a:xfrm>
            <a:off x="1369924" y="3281189"/>
            <a:ext cx="4744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87"/>
              <a:buFont typeface="Calibri"/>
              <a:buNone/>
            </a:pPr>
            <a:r>
              <a:rPr b="1" i="0" lang="en-US" sz="1387" u="none" cap="none" strike="noStrike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Densità per km² e trasformazione logaritmica</a:t>
            </a:r>
            <a:endParaRPr b="0" i="0" sz="138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8"/>
          <p:cNvSpPr txBox="1"/>
          <p:nvPr/>
        </p:nvSpPr>
        <p:spPr>
          <a:xfrm>
            <a:off x="1369916" y="3565109"/>
            <a:ext cx="4791900" cy="58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10"/>
              <a:buFont typeface="Calibri"/>
              <a:buNone/>
            </a:pPr>
            <a:r>
              <a:rPr lang="en-US" sz="1110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Il calcolo della densità serve a confrontare comuni di “taglia” diversa Comuni molto estesi geograficamente hanno molti punti di interesse. </a:t>
            </a:r>
            <a:endParaRPr b="0" i="0" sz="111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8"/>
          <p:cNvSpPr/>
          <p:nvPr/>
        </p:nvSpPr>
        <p:spPr>
          <a:xfrm>
            <a:off x="599450" y="4559176"/>
            <a:ext cx="5684400" cy="1796700"/>
          </a:xfrm>
          <a:prstGeom prst="roundRect">
            <a:avLst>
              <a:gd fmla="val 5634" name="adj"/>
            </a:avLst>
          </a:prstGeom>
          <a:solidFill>
            <a:srgbClr val="FFFFFF"/>
          </a:solidFill>
          <a:ln cap="flat" cmpd="sng" w="98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3950" lIns="93950" spcFirstLastPara="1" rIns="93950" wrap="square" tIns="939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25" name="Google Shape;225;p8"/>
          <p:cNvGrpSpPr/>
          <p:nvPr/>
        </p:nvGrpSpPr>
        <p:grpSpPr>
          <a:xfrm>
            <a:off x="834382" y="5260271"/>
            <a:ext cx="394598" cy="394638"/>
            <a:chOff x="828050" y="4800776"/>
            <a:chExt cx="384000" cy="384038"/>
          </a:xfrm>
        </p:grpSpPr>
        <p:sp>
          <p:nvSpPr>
            <p:cNvPr id="226" name="Google Shape;226;p8"/>
            <p:cNvSpPr/>
            <p:nvPr/>
          </p:nvSpPr>
          <p:spPr>
            <a:xfrm>
              <a:off x="828050" y="4800776"/>
              <a:ext cx="384000" cy="384038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93950" lIns="93950" spcFirstLastPara="1" rIns="93950" wrap="square" tIns="939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8"/>
            <p:cNvSpPr txBox="1"/>
            <p:nvPr/>
          </p:nvSpPr>
          <p:spPr>
            <a:xfrm>
              <a:off x="828050" y="4800776"/>
              <a:ext cx="384000" cy="38403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439"/>
                <a:buFont typeface="Calibri"/>
                <a:buNone/>
              </a:pPr>
              <a:r>
                <a:rPr b="1" i="0" lang="en-US" sz="1439" u="none" cap="none" strike="noStrike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0" i="0" sz="1439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8" name="Google Shape;228;p8"/>
          <p:cNvSpPr txBox="1"/>
          <p:nvPr/>
        </p:nvSpPr>
        <p:spPr>
          <a:xfrm>
            <a:off x="1369924" y="4709530"/>
            <a:ext cx="47448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95C"/>
              </a:buClr>
              <a:buSzPts val="1387"/>
              <a:buFont typeface="Calibri"/>
              <a:buNone/>
            </a:pPr>
            <a:r>
              <a:rPr b="1" lang="en-US" sz="1387">
                <a:solidFill>
                  <a:srgbClr val="21295C"/>
                </a:solidFill>
                <a:latin typeface="Calibri"/>
                <a:ea typeface="Calibri"/>
                <a:cs typeface="Calibri"/>
                <a:sym typeface="Calibri"/>
              </a:rPr>
              <a:t>Calcolo indicatore pesato e logaritmizzazione</a:t>
            </a:r>
            <a:endParaRPr b="0" i="0" sz="138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8"/>
          <p:cNvSpPr txBox="1"/>
          <p:nvPr/>
        </p:nvSpPr>
        <p:spPr>
          <a:xfrm>
            <a:off x="1369916" y="5047837"/>
            <a:ext cx="4791900" cy="64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10"/>
              <a:buFont typeface="Calibri"/>
              <a:buNone/>
            </a:pPr>
            <a:r>
              <a:rPr lang="en-US" sz="1110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Per ogni comune è stato calcolato un indicatore assoluto.</a:t>
            </a:r>
            <a:endParaRPr sz="1110">
              <a:solidFill>
                <a:srgbClr val="5B6B75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10"/>
              <a:buFont typeface="Calibri"/>
              <a:buNone/>
            </a:pPr>
            <a:r>
              <a:rPr lang="en-US" sz="1110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>Successivamente, è stata calcolata la trasformazione logaritmica normalizzata, onde  evitare che poche zone iper-dense (con molti POI) comprimano la scala. Ogni pilastro normalizzato 0–100, combinato con i pesi di ogni pilastro. L'indice finale classifica i comuni in 5 classi (quintili) di attrattività.</a:t>
            </a:r>
            <a:r>
              <a:rPr lang="en-US" sz="1110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b="0" i="0" lang="en-US" sz="1110" u="none" cap="none" strike="noStrike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lang="en-US" sz="1110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r>
              <a:rPr b="0" i="0" lang="en-US" sz="1110" u="none" cap="none" strike="noStrike">
                <a:solidFill>
                  <a:srgbClr val="5B6B75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b="0" i="0" sz="111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8"/>
          <p:cNvSpPr txBox="1"/>
          <p:nvPr/>
        </p:nvSpPr>
        <p:spPr>
          <a:xfrm>
            <a:off x="1394012" y="4112272"/>
            <a:ext cx="4791900" cy="28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10"/>
              <a:buFont typeface="Calibri"/>
              <a:buNone/>
            </a:pP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Densita dei POI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c,p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D = (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POI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c,p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/Area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1" sz="111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10"/>
              <a:buFont typeface="Calibri"/>
              <a:buNone/>
            </a:pP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 densità è stata normalizzata: norm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-d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c,p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​ = (densità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c,p 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min)/(max-min)</a:t>
            </a:r>
            <a:endParaRPr b="1" sz="111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8"/>
          <p:cNvSpPr txBox="1"/>
          <p:nvPr/>
        </p:nvSpPr>
        <p:spPr>
          <a:xfrm>
            <a:off x="1394021" y="2637625"/>
            <a:ext cx="4791900" cy="28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10"/>
              <a:buFont typeface="Calibri"/>
              <a:buNone/>
            </a:pP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er ogni comune c, per ogni pilastro p: 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POI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c,p =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Σ POI (pilastro p, comune c)</a:t>
            </a:r>
            <a:endParaRPr b="1" i="0" sz="111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8"/>
          <p:cNvSpPr txBox="1"/>
          <p:nvPr/>
        </p:nvSpPr>
        <p:spPr>
          <a:xfrm>
            <a:off x="1398354" y="5824003"/>
            <a:ext cx="4791900" cy="46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10"/>
              <a:buFont typeface="Calibri"/>
              <a:buNone/>
            </a:pP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Indicatore assoluto di attrattività: 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 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Σ ω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* norm-d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c,p</a:t>
            </a:r>
            <a:endParaRPr b="1" sz="111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5"/>
              </a:buClr>
              <a:buSzPts val="1110"/>
              <a:buFont typeface="Calibri"/>
              <a:buNone/>
            </a:pP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Indicatore finale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A</a:t>
            </a:r>
            <a:r>
              <a:rPr b="1" i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​ = (ln(1+A</a:t>
            </a:r>
            <a:r>
              <a:rPr b="1" lang="en-US" sz="822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c) </a:t>
            </a:r>
            <a:r>
              <a:rPr b="1" lang="en-US" sz="111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ln(1+min))/(ln(1+max)-ln(1+min))</a:t>
            </a:r>
            <a:endParaRPr b="1" sz="111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3" name="Google Shape;233;p8"/>
          <p:cNvCxnSpPr/>
          <p:nvPr/>
        </p:nvCxnSpPr>
        <p:spPr>
          <a:xfrm>
            <a:off x="642650" y="929550"/>
            <a:ext cx="109137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9"/>
          <p:cNvSpPr/>
          <p:nvPr/>
        </p:nvSpPr>
        <p:spPr>
          <a:xfrm>
            <a:off x="640350" y="421672"/>
            <a:ext cx="10911300" cy="45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 u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Overtourism e attrattività a confronto</a:t>
            </a:r>
            <a:endParaRPr b="0" sz="2900" u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640350" y="2502588"/>
            <a:ext cx="3436800" cy="22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Ogni punto è un comune, posizionato secondo il proprio livello di Overtourism e di Attrattività: le due mediane dividono il piano in quattro quadranti - Zona Satura, Destinazione Popolare, Territorio Autentico, Gemma Nascosta - che mostrano dove la pressione turistica è già eccessiva e dove esiste ancora margine di sviluppo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640080" y="6473880"/>
            <a:ext cx="7314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10362960" y="6473880"/>
            <a:ext cx="11883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09 / 16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3" name="Google Shape;243;p9"/>
          <p:cNvPicPr preferRelativeResize="0"/>
          <p:nvPr/>
        </p:nvPicPr>
        <p:blipFill rotWithShape="1">
          <a:blip r:embed="rId3">
            <a:alphaModFix/>
          </a:blip>
          <a:srcRect b="0" l="0" r="11567" t="7339"/>
          <a:stretch/>
        </p:blipFill>
        <p:spPr>
          <a:xfrm>
            <a:off x="4549075" y="1595150"/>
            <a:ext cx="5088861" cy="40666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4" name="Google Shape;244;p9"/>
          <p:cNvCxnSpPr/>
          <p:nvPr/>
        </p:nvCxnSpPr>
        <p:spPr>
          <a:xfrm flipH="1" rot="10800000">
            <a:off x="640350" y="878575"/>
            <a:ext cx="6369000" cy="114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245" name="Google Shape;245;p9"/>
          <p:cNvPicPr preferRelativeResize="0"/>
          <p:nvPr/>
        </p:nvPicPr>
        <p:blipFill rotWithShape="1">
          <a:blip r:embed="rId4">
            <a:alphaModFix/>
          </a:blip>
          <a:srcRect b="-4380" l="1756" r="1766" t="4380"/>
          <a:stretch/>
        </p:blipFill>
        <p:spPr>
          <a:xfrm>
            <a:off x="9838450" y="1595150"/>
            <a:ext cx="1880125" cy="1136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3"/>
          <p:cNvSpPr/>
          <p:nvPr/>
        </p:nvSpPr>
        <p:spPr>
          <a:xfrm>
            <a:off x="536775" y="398723"/>
            <a:ext cx="10911300" cy="5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 u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Quanto dipendono i comuni sardi da un unico mercato turistico?</a:t>
            </a:r>
            <a:endParaRPr b="0" sz="2900" u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3"/>
          <p:cNvSpPr/>
          <p:nvPr/>
        </p:nvSpPr>
        <p:spPr>
          <a:xfrm>
            <a:off x="536775" y="1134575"/>
            <a:ext cx="10911300" cy="7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L'indice di Herfindahl-Hirschman misura la concentrazione dei mercati di provenienza. Muros e Ardauli superano il 75% dai turisti francesi, Villasalto oltre il 50% dal Regno Unito.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3"/>
          <p:cNvSpPr/>
          <p:nvPr/>
        </p:nvSpPr>
        <p:spPr>
          <a:xfrm>
            <a:off x="640080" y="6473880"/>
            <a:ext cx="7314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3"/>
          <p:cNvSpPr/>
          <p:nvPr/>
        </p:nvSpPr>
        <p:spPr>
          <a:xfrm>
            <a:off x="10362960" y="6473880"/>
            <a:ext cx="11883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10 / 16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5" name="Google Shape;255;p13"/>
          <p:cNvPicPr preferRelativeResize="0"/>
          <p:nvPr/>
        </p:nvPicPr>
        <p:blipFill rotWithShape="1">
          <a:blip r:embed="rId3">
            <a:alphaModFix/>
          </a:blip>
          <a:srcRect b="3048" l="25998" r="26628" t="8846"/>
          <a:stretch/>
        </p:blipFill>
        <p:spPr>
          <a:xfrm>
            <a:off x="6643400" y="2082225"/>
            <a:ext cx="2976203" cy="4323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13"/>
          <p:cNvPicPr preferRelativeResize="0"/>
          <p:nvPr/>
        </p:nvPicPr>
        <p:blipFill rotWithShape="1">
          <a:blip r:embed="rId4">
            <a:alphaModFix/>
          </a:blip>
          <a:srcRect b="4107" l="29997" r="27308" t="10685"/>
          <a:stretch/>
        </p:blipFill>
        <p:spPr>
          <a:xfrm>
            <a:off x="640075" y="2150400"/>
            <a:ext cx="2712741" cy="432347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57" name="Google Shape;257;p13"/>
          <p:cNvCxnSpPr/>
          <p:nvPr/>
        </p:nvCxnSpPr>
        <p:spPr>
          <a:xfrm flipH="1" rot="10800000">
            <a:off x="562325" y="941175"/>
            <a:ext cx="10959600" cy="228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258" name="Google Shape;258;p13"/>
          <p:cNvPicPr preferRelativeResize="0"/>
          <p:nvPr/>
        </p:nvPicPr>
        <p:blipFill rotWithShape="1">
          <a:blip r:embed="rId5">
            <a:alphaModFix/>
          </a:blip>
          <a:srcRect b="0" l="0" r="0" t="6068"/>
          <a:stretch/>
        </p:blipFill>
        <p:spPr>
          <a:xfrm>
            <a:off x="9895525" y="2082175"/>
            <a:ext cx="2123225" cy="22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13"/>
          <p:cNvPicPr preferRelativeResize="0"/>
          <p:nvPr/>
        </p:nvPicPr>
        <p:blipFill rotWithShape="1">
          <a:blip r:embed="rId6">
            <a:alphaModFix/>
          </a:blip>
          <a:srcRect b="4830" l="1343" r="1343" t="-4830"/>
          <a:stretch/>
        </p:blipFill>
        <p:spPr>
          <a:xfrm>
            <a:off x="3511650" y="2082175"/>
            <a:ext cx="2391550" cy="120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5"/>
          <p:cNvSpPr/>
          <p:nvPr/>
        </p:nvSpPr>
        <p:spPr>
          <a:xfrm>
            <a:off x="640080" y="384120"/>
            <a:ext cx="777204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IL SOMMERSO TURISTICO</a:t>
            </a:r>
            <a:endParaRPr b="0" sz="12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15"/>
          <p:cNvSpPr/>
          <p:nvPr/>
        </p:nvSpPr>
        <p:spPr>
          <a:xfrm>
            <a:off x="640075" y="731525"/>
            <a:ext cx="10250400" cy="6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 u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Quasi un terzo dei turisti reali non compare nei dati ufficiali</a:t>
            </a:r>
            <a:endParaRPr b="0" sz="2900" u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15"/>
          <p:cNvSpPr/>
          <p:nvPr/>
        </p:nvSpPr>
        <p:spPr>
          <a:xfrm>
            <a:off x="938125" y="1660000"/>
            <a:ext cx="2808900" cy="123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800" u="none" strike="noStrike">
                <a:solidFill>
                  <a:srgbClr val="B5602F"/>
                </a:solidFill>
                <a:latin typeface="Cambria"/>
                <a:ea typeface="Cambria"/>
                <a:cs typeface="Cambria"/>
                <a:sym typeface="Cambria"/>
              </a:rPr>
              <a:t>36,5%</a:t>
            </a:r>
            <a:endParaRPr b="0" sz="68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5"/>
          <p:cNvSpPr/>
          <p:nvPr/>
        </p:nvSpPr>
        <p:spPr>
          <a:xfrm>
            <a:off x="598225" y="3137241"/>
            <a:ext cx="3488700" cy="13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flusso fisico via porti e aeroporti nel 2025 non risulta nei dati ufficiali (SIRED). Gli arrivi registrati crescono però più velocemente (+40,5%) del flusso fisico totale (+17,8%).</a:t>
            </a:r>
            <a:endParaRPr b="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5"/>
          <p:cNvSpPr/>
          <p:nvPr/>
        </p:nvSpPr>
        <p:spPr>
          <a:xfrm>
            <a:off x="598224" y="4683800"/>
            <a:ext cx="666300" cy="38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 u="none" strike="noStrike">
                <a:solidFill>
                  <a:srgbClr val="0B3C55"/>
                </a:solidFill>
                <a:latin typeface="Cambria"/>
                <a:ea typeface="Cambria"/>
                <a:cs typeface="Cambria"/>
                <a:sym typeface="Cambria"/>
              </a:rPr>
              <a:t>46,8%</a:t>
            </a:r>
            <a:endParaRPr b="1" sz="1700" u="none" strike="noStrike">
              <a:solidFill>
                <a:srgbClr val="0B3C55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2022</a:t>
            </a:r>
            <a:endParaRPr b="1" sz="1900">
              <a:solidFill>
                <a:srgbClr val="0B3C55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0" name="Google Shape;270;p15"/>
          <p:cNvSpPr/>
          <p:nvPr/>
        </p:nvSpPr>
        <p:spPr>
          <a:xfrm>
            <a:off x="1338850" y="4683800"/>
            <a:ext cx="666300" cy="38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 u="none" strike="noStrike">
                <a:solidFill>
                  <a:srgbClr val="0B3C55"/>
                </a:solidFill>
                <a:latin typeface="Cambria"/>
                <a:ea typeface="Cambria"/>
                <a:cs typeface="Cambria"/>
                <a:sym typeface="Cambria"/>
              </a:rPr>
              <a:t>46,4%</a:t>
            </a:r>
            <a:endParaRPr b="1" sz="1700" u="none" strike="noStrike">
              <a:solidFill>
                <a:srgbClr val="0B3C55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2023</a:t>
            </a:r>
            <a:endParaRPr b="1" sz="1900">
              <a:solidFill>
                <a:srgbClr val="0B3C55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1" name="Google Shape;271;p15"/>
          <p:cNvSpPr/>
          <p:nvPr/>
        </p:nvSpPr>
        <p:spPr>
          <a:xfrm>
            <a:off x="2079475" y="4683800"/>
            <a:ext cx="666300" cy="38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 u="none" strike="noStrike">
                <a:solidFill>
                  <a:srgbClr val="0B3C55"/>
                </a:solidFill>
                <a:latin typeface="Cambria"/>
                <a:ea typeface="Cambria"/>
                <a:cs typeface="Cambria"/>
                <a:sym typeface="Cambria"/>
              </a:rPr>
              <a:t>42,6%</a:t>
            </a:r>
            <a:endParaRPr b="1" sz="1700" u="none" strike="noStrike">
              <a:solidFill>
                <a:srgbClr val="0B3C55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2024</a:t>
            </a:r>
            <a:endParaRPr b="1" sz="1900">
              <a:solidFill>
                <a:srgbClr val="0B3C55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2" name="Google Shape;272;p15"/>
          <p:cNvSpPr/>
          <p:nvPr/>
        </p:nvSpPr>
        <p:spPr>
          <a:xfrm>
            <a:off x="2827924" y="4683800"/>
            <a:ext cx="666300" cy="38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 u="none" strike="noStrike">
                <a:solidFill>
                  <a:srgbClr val="0B3C55"/>
                </a:solidFill>
                <a:latin typeface="Cambria"/>
                <a:ea typeface="Cambria"/>
                <a:cs typeface="Cambria"/>
                <a:sym typeface="Cambria"/>
              </a:rPr>
              <a:t>36,5%</a:t>
            </a:r>
            <a:endParaRPr b="1" sz="1700" u="none" strike="noStrike">
              <a:solidFill>
                <a:srgbClr val="0B3C55"/>
              </a:solidFill>
              <a:latin typeface="Cambria"/>
              <a:ea typeface="Cambria"/>
              <a:cs typeface="Cambria"/>
              <a:sym typeface="Cambria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2025</a:t>
            </a:r>
            <a:endParaRPr b="1" sz="1900">
              <a:solidFill>
                <a:srgbClr val="0B3C55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3" name="Google Shape;273;p15"/>
          <p:cNvSpPr/>
          <p:nvPr/>
        </p:nvSpPr>
        <p:spPr>
          <a:xfrm>
            <a:off x="457928" y="6473875"/>
            <a:ext cx="2949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15"/>
          <p:cNvSpPr/>
          <p:nvPr/>
        </p:nvSpPr>
        <p:spPr>
          <a:xfrm>
            <a:off x="10362960" y="6473880"/>
            <a:ext cx="11883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11 / 16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5" name="Google Shape;275;p15"/>
          <p:cNvPicPr preferRelativeResize="0"/>
          <p:nvPr/>
        </p:nvPicPr>
        <p:blipFill rotWithShape="1">
          <a:blip r:embed="rId3">
            <a:alphaModFix/>
          </a:blip>
          <a:srcRect b="0" l="0" r="0" t="7749"/>
          <a:stretch/>
        </p:blipFill>
        <p:spPr>
          <a:xfrm>
            <a:off x="4985300" y="1874063"/>
            <a:ext cx="5591949" cy="3829875"/>
          </a:xfrm>
          <a:prstGeom prst="rect">
            <a:avLst/>
          </a:prstGeom>
          <a:solidFill>
            <a:srgbClr val="EAF1F3"/>
          </a:solidFill>
          <a:ln cap="flat" cmpd="sng" w="19050">
            <a:solidFill>
              <a:srgbClr val="1C7293"/>
            </a:solidFill>
            <a:prstDash val="dash"/>
            <a:round/>
            <a:headEnd len="sm" w="sm" type="none"/>
            <a:tailEnd len="sm" w="sm" type="none"/>
          </a:ln>
        </p:spPr>
      </p:pic>
      <p:cxnSp>
        <p:nvCxnSpPr>
          <p:cNvPr id="276" name="Google Shape;276;p15"/>
          <p:cNvCxnSpPr/>
          <p:nvPr/>
        </p:nvCxnSpPr>
        <p:spPr>
          <a:xfrm>
            <a:off x="640075" y="1212000"/>
            <a:ext cx="10250400" cy="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6"/>
          <p:cNvSpPr/>
          <p:nvPr/>
        </p:nvSpPr>
        <p:spPr>
          <a:xfrm>
            <a:off x="640080" y="301495"/>
            <a:ext cx="10911300" cy="10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 u="sng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Dove promuovere un turismo più equilibrato</a:t>
            </a:r>
            <a:endParaRPr b="0" sz="2600" u="sng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6"/>
          <p:cNvSpPr/>
          <p:nvPr/>
        </p:nvSpPr>
        <p:spPr>
          <a:xfrm>
            <a:off x="753250" y="2759250"/>
            <a:ext cx="5323800" cy="13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Attraverso la costituzione dell’indice di attrattività si sono individuate 5 classi attraverso le quali sono stati raggruppati i vari comuni sardi, dove il valore 5 indica il massimo valore attrattivo, mentre il valore 1 il minimo.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6"/>
          <p:cNvSpPr/>
          <p:nvPr/>
        </p:nvSpPr>
        <p:spPr>
          <a:xfrm>
            <a:off x="640080" y="6473880"/>
            <a:ext cx="7314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6"/>
          <p:cNvSpPr/>
          <p:nvPr/>
        </p:nvSpPr>
        <p:spPr>
          <a:xfrm>
            <a:off x="10362960" y="6473880"/>
            <a:ext cx="11883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12 / 16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6" name="Google Shape;286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89477" y="1116298"/>
            <a:ext cx="5061900" cy="4979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67800" y="4657050"/>
            <a:ext cx="1676400" cy="143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409b77e888c_0_0"/>
          <p:cNvSpPr/>
          <p:nvPr/>
        </p:nvSpPr>
        <p:spPr>
          <a:xfrm>
            <a:off x="640080" y="301495"/>
            <a:ext cx="10911300" cy="10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lang="en-US" sz="2600" u="sng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Evoluzione delle Gemme Nascoste Sarde </a:t>
            </a:r>
            <a:endParaRPr b="0" i="0" sz="2600" u="sng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g409b77e888c_0_0"/>
          <p:cNvSpPr/>
          <p:nvPr/>
        </p:nvSpPr>
        <p:spPr>
          <a:xfrm>
            <a:off x="640080" y="6473880"/>
            <a:ext cx="73149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g409b77e888c_0_0"/>
          <p:cNvSpPr/>
          <p:nvPr/>
        </p:nvSpPr>
        <p:spPr>
          <a:xfrm>
            <a:off x="10362960" y="6473880"/>
            <a:ext cx="1188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13 / 16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6" name="Google Shape;296;g409b77e888c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77425" y="1042275"/>
            <a:ext cx="6011200" cy="5279202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g409b77e888c_0_0"/>
          <p:cNvSpPr/>
          <p:nvPr/>
        </p:nvSpPr>
        <p:spPr>
          <a:xfrm>
            <a:off x="640075" y="2896625"/>
            <a:ext cx="4001400" cy="157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Attraverso la costituzione dell’indice di attrattività si sono individuate 5 classi attraverso le quali sono stati raggruppati i vari comuni sardi, dove il valore 5 indica il massimo valore attrattivo, mentre il valore 1 il minimo.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7"/>
          <p:cNvSpPr/>
          <p:nvPr/>
        </p:nvSpPr>
        <p:spPr>
          <a:xfrm>
            <a:off x="640075" y="301573"/>
            <a:ext cx="109113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 u="none" strike="noStrike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rPr>
              <a:t>Cosa possono fare le istituzioni? </a:t>
            </a:r>
            <a:endParaRPr b="1" sz="2900" u="none" strike="noStrike">
              <a:solidFill>
                <a:schemeClr val="lt1"/>
              </a:solidFill>
            </a:endParaRPr>
          </a:p>
        </p:txBody>
      </p:sp>
      <p:sp>
        <p:nvSpPr>
          <p:cNvPr id="304" name="Google Shape;304;p17"/>
          <p:cNvSpPr/>
          <p:nvPr/>
        </p:nvSpPr>
        <p:spPr>
          <a:xfrm>
            <a:off x="562325" y="1144553"/>
            <a:ext cx="9813900" cy="374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Quattro direzioni di intervento che nascono direttamente dagli indici e dai grafici presentati.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7"/>
          <p:cNvSpPr/>
          <p:nvPr/>
        </p:nvSpPr>
        <p:spPr>
          <a:xfrm>
            <a:off x="1170000" y="2078015"/>
            <a:ext cx="10289400" cy="29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 u="none" strike="noStrike">
                <a:solidFill>
                  <a:srgbClr val="1F2733"/>
                </a:solidFill>
                <a:latin typeface="Calibri"/>
                <a:ea typeface="Calibri"/>
                <a:cs typeface="Calibri"/>
                <a:sym typeface="Calibri"/>
              </a:rPr>
              <a:t>Destagionalizzare</a:t>
            </a:r>
            <a:endParaRPr b="0" sz="145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7"/>
          <p:cNvSpPr/>
          <p:nvPr/>
        </p:nvSpPr>
        <p:spPr>
          <a:xfrm>
            <a:off x="1170000" y="2388695"/>
            <a:ext cx="102894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Indirizzare la promozione verso mercati con un profilo stagionale più ampio, come quello tedesco, per alleggerire la pressione sul bimestre luglio-agosto.</a:t>
            </a:r>
            <a:endParaRPr b="0" sz="115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7"/>
          <p:cNvSpPr/>
          <p:nvPr/>
        </p:nvSpPr>
        <p:spPr>
          <a:xfrm>
            <a:off x="1170000" y="2946695"/>
            <a:ext cx="10289400" cy="29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 u="none" strike="noStrike">
                <a:solidFill>
                  <a:srgbClr val="1F2733"/>
                </a:solidFill>
                <a:latin typeface="Calibri"/>
                <a:ea typeface="Calibri"/>
                <a:cs typeface="Calibri"/>
                <a:sym typeface="Calibri"/>
              </a:rPr>
              <a:t>Monitorare i comuni mono-mercato</a:t>
            </a:r>
            <a:endParaRPr b="0" sz="145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7"/>
          <p:cNvSpPr/>
          <p:nvPr/>
        </p:nvSpPr>
        <p:spPr>
          <a:xfrm>
            <a:off x="1170000" y="3257375"/>
            <a:ext cx="102894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I territori con HHI più alto sono i più esposti a uno shock di un singolo mercato di provenienza.</a:t>
            </a:r>
            <a:endParaRPr b="0" sz="115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7"/>
          <p:cNvSpPr/>
          <p:nvPr/>
        </p:nvSpPr>
        <p:spPr>
          <a:xfrm>
            <a:off x="1170000" y="3815375"/>
            <a:ext cx="10289400" cy="29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 u="none" strike="noStrike">
                <a:solidFill>
                  <a:srgbClr val="1F2733"/>
                </a:solidFill>
                <a:latin typeface="Calibri"/>
                <a:ea typeface="Calibri"/>
                <a:cs typeface="Calibri"/>
                <a:sym typeface="Calibri"/>
              </a:rPr>
              <a:t>Regolamentare dove serve davvero</a:t>
            </a:r>
            <a:endParaRPr b="0" sz="145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1170000" y="4126055"/>
            <a:ext cx="102894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I comuni con alta quota di case sfitte e alta pressione turistica per residente sono i casi prioritari per interventi sugli affitti brevi.</a:t>
            </a:r>
            <a:endParaRPr b="0" sz="115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7"/>
          <p:cNvSpPr/>
          <p:nvPr/>
        </p:nvSpPr>
        <p:spPr>
          <a:xfrm>
            <a:off x="1170000" y="4684055"/>
            <a:ext cx="10289400" cy="29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50" u="none" strike="noStrike">
                <a:solidFill>
                  <a:srgbClr val="1F2733"/>
                </a:solidFill>
                <a:latin typeface="Calibri"/>
                <a:ea typeface="Calibri"/>
                <a:cs typeface="Calibri"/>
                <a:sym typeface="Calibri"/>
              </a:rPr>
              <a:t>Investire nelle gemme nascoste</a:t>
            </a:r>
            <a:endParaRPr b="0" sz="145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7"/>
          <p:cNvSpPr/>
          <p:nvPr/>
        </p:nvSpPr>
        <p:spPr>
          <a:xfrm>
            <a:off x="1170000" y="4994735"/>
            <a:ext cx="102894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I comuni ad alta attrattività e bassa pressione offrono spazio per una crescita turistica ancora sostenibile.</a:t>
            </a:r>
            <a:endParaRPr b="0" sz="115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7"/>
          <p:cNvSpPr/>
          <p:nvPr/>
        </p:nvSpPr>
        <p:spPr>
          <a:xfrm>
            <a:off x="640080" y="6473880"/>
            <a:ext cx="7314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10362960" y="6473880"/>
            <a:ext cx="11883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14 / 16</a:t>
            </a:r>
            <a:endParaRPr b="0" sz="1000" u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5" name="Google Shape;315;p17"/>
          <p:cNvGrpSpPr/>
          <p:nvPr/>
        </p:nvGrpSpPr>
        <p:grpSpPr>
          <a:xfrm>
            <a:off x="562332" y="2036846"/>
            <a:ext cx="420118" cy="374575"/>
            <a:chOff x="741287" y="1985785"/>
            <a:chExt cx="357000" cy="318300"/>
          </a:xfrm>
        </p:grpSpPr>
        <p:sp>
          <p:nvSpPr>
            <p:cNvPr id="316" name="Google Shape;316;p17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107600" lIns="107600" spcFirstLastPara="1" rIns="107600" wrap="square" tIns="107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17"/>
            <p:cNvSpPr txBox="1"/>
            <p:nvPr/>
          </p:nvSpPr>
          <p:spPr>
            <a:xfrm>
              <a:off x="741287" y="1985785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765"/>
                <a:buFont typeface="Calibri"/>
                <a:buNone/>
              </a:pPr>
              <a:r>
                <a:rPr b="1" lang="en-US" sz="1765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b="0" i="0" sz="1765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18" name="Google Shape;318;p17"/>
          <p:cNvCxnSpPr/>
          <p:nvPr/>
        </p:nvCxnSpPr>
        <p:spPr>
          <a:xfrm flipH="1" rot="10800000">
            <a:off x="562325" y="833825"/>
            <a:ext cx="5492400" cy="75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19" name="Google Shape;319;p17"/>
          <p:cNvGrpSpPr/>
          <p:nvPr/>
        </p:nvGrpSpPr>
        <p:grpSpPr>
          <a:xfrm>
            <a:off x="562332" y="2905521"/>
            <a:ext cx="420118" cy="374575"/>
            <a:chOff x="741287" y="1985785"/>
            <a:chExt cx="357000" cy="318300"/>
          </a:xfrm>
        </p:grpSpPr>
        <p:sp>
          <p:nvSpPr>
            <p:cNvPr id="320" name="Google Shape;320;p17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107600" lIns="107600" spcFirstLastPara="1" rIns="107600" wrap="square" tIns="107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17"/>
            <p:cNvSpPr txBox="1"/>
            <p:nvPr/>
          </p:nvSpPr>
          <p:spPr>
            <a:xfrm>
              <a:off x="741287" y="1985785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765"/>
                <a:buFont typeface="Calibri"/>
                <a:buNone/>
              </a:pPr>
              <a:r>
                <a:rPr b="1" lang="en-US" sz="1765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b="0" i="0" sz="1765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2" name="Google Shape;322;p17"/>
          <p:cNvGrpSpPr/>
          <p:nvPr/>
        </p:nvGrpSpPr>
        <p:grpSpPr>
          <a:xfrm>
            <a:off x="562332" y="3774196"/>
            <a:ext cx="420118" cy="374575"/>
            <a:chOff x="741287" y="1985785"/>
            <a:chExt cx="357000" cy="318300"/>
          </a:xfrm>
        </p:grpSpPr>
        <p:sp>
          <p:nvSpPr>
            <p:cNvPr id="323" name="Google Shape;323;p17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107600" lIns="107600" spcFirstLastPara="1" rIns="107600" wrap="square" tIns="107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17"/>
            <p:cNvSpPr txBox="1"/>
            <p:nvPr/>
          </p:nvSpPr>
          <p:spPr>
            <a:xfrm>
              <a:off x="741287" y="1985785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765"/>
                <a:buFont typeface="Calibri"/>
                <a:buNone/>
              </a:pPr>
              <a:r>
                <a:rPr b="1" lang="en-US" sz="1765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 b="0" i="0" sz="1765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5" name="Google Shape;325;p17"/>
          <p:cNvGrpSpPr/>
          <p:nvPr/>
        </p:nvGrpSpPr>
        <p:grpSpPr>
          <a:xfrm>
            <a:off x="562332" y="4642871"/>
            <a:ext cx="420118" cy="374575"/>
            <a:chOff x="741287" y="1985785"/>
            <a:chExt cx="357000" cy="318300"/>
          </a:xfrm>
        </p:grpSpPr>
        <p:sp>
          <p:nvSpPr>
            <p:cNvPr id="326" name="Google Shape;326;p17"/>
            <p:cNvSpPr/>
            <p:nvPr/>
          </p:nvSpPr>
          <p:spPr>
            <a:xfrm>
              <a:off x="741287" y="1985785"/>
              <a:ext cx="357000" cy="318300"/>
            </a:xfrm>
            <a:prstGeom prst="ellipse">
              <a:avLst/>
            </a:prstGeom>
            <a:solidFill>
              <a:srgbClr val="065A82"/>
            </a:solidFill>
            <a:ln>
              <a:noFill/>
            </a:ln>
          </p:spPr>
          <p:txBody>
            <a:bodyPr anchorCtr="0" anchor="ctr" bIns="107600" lIns="107600" spcFirstLastPara="1" rIns="107600" wrap="square" tIns="1076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" name="Google Shape;327;p17"/>
            <p:cNvSpPr txBox="1"/>
            <p:nvPr/>
          </p:nvSpPr>
          <p:spPr>
            <a:xfrm>
              <a:off x="741287" y="1985785"/>
              <a:ext cx="357000" cy="31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1765"/>
                <a:buFont typeface="Calibri"/>
                <a:buNone/>
              </a:pPr>
              <a:r>
                <a:rPr b="1" lang="en-US" sz="1765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b="0" i="0" sz="1765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18"/>
          <p:cNvSpPr/>
          <p:nvPr/>
        </p:nvSpPr>
        <p:spPr>
          <a:xfrm>
            <a:off x="640080" y="384120"/>
            <a:ext cx="7772040" cy="292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 u="none" strike="noStrike">
                <a:solidFill>
                  <a:srgbClr val="9FD1E0"/>
                </a:solidFill>
                <a:latin typeface="Calibri"/>
                <a:ea typeface="Calibri"/>
                <a:cs typeface="Calibri"/>
                <a:sym typeface="Calibri"/>
              </a:rPr>
              <a:t>CONCLUSIONI</a:t>
            </a:r>
            <a:endParaRPr b="0" sz="12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8"/>
          <p:cNvSpPr/>
          <p:nvPr/>
        </p:nvSpPr>
        <p:spPr>
          <a:xfrm>
            <a:off x="640075" y="731523"/>
            <a:ext cx="10911300" cy="56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900" u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Un modello di lettura, non solo una fotografia</a:t>
            </a:r>
            <a:endParaRPr b="0" sz="29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8"/>
          <p:cNvSpPr/>
          <p:nvPr/>
        </p:nvSpPr>
        <p:spPr>
          <a:xfrm>
            <a:off x="640075" y="1511600"/>
            <a:ext cx="10284900" cy="73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Gli indici costruiti in questo lavoro permettono di seguire l'evoluzione anno su anno, comune per comune, distinguendo pressione turistica, attrattività strutturale e sostenibilità del mercato abitativo come dimensioni distinte ma collegate.</a:t>
            </a:r>
            <a:endParaRPr b="0" sz="1400" u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8"/>
          <p:cNvSpPr/>
          <p:nvPr/>
        </p:nvSpPr>
        <p:spPr>
          <a:xfrm>
            <a:off x="2548675" y="2868875"/>
            <a:ext cx="5235600" cy="1589100"/>
          </a:xfrm>
          <a:prstGeom prst="roundRect">
            <a:avLst>
              <a:gd fmla="val 5455" name="adj"/>
            </a:avLst>
          </a:prstGeom>
          <a:solidFill>
            <a:srgbClr val="0F4C63"/>
          </a:solidFill>
          <a:ln cap="flat" cmpd="sng" w="12700">
            <a:solidFill>
              <a:srgbClr val="33333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8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8"/>
          <p:cNvSpPr/>
          <p:nvPr/>
        </p:nvSpPr>
        <p:spPr>
          <a:xfrm>
            <a:off x="2868720" y="3128872"/>
            <a:ext cx="4594200" cy="106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 u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Il prossimo passo naturale è l'aggiornamento periodico di questi indici, per trasformarli da analisi one-off a strumento di monitoraggio continuo per le istituzioni sarde.</a:t>
            </a:r>
            <a:endParaRPr b="0" sz="14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8"/>
          <p:cNvSpPr/>
          <p:nvPr/>
        </p:nvSpPr>
        <p:spPr>
          <a:xfrm>
            <a:off x="640080" y="6473880"/>
            <a:ext cx="731484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6E8C99"/>
                </a:solidFill>
                <a:latin typeface="Calibri"/>
                <a:ea typeface="Calibri"/>
                <a:cs typeface="Calibri"/>
                <a:sym typeface="Calibri"/>
              </a:rPr>
              <a:t>Overtourism in Sardegna   ·   Master AIDA26 — Gruppo 3</a:t>
            </a:r>
            <a:endParaRPr b="0" sz="10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8"/>
          <p:cNvSpPr/>
          <p:nvPr/>
        </p:nvSpPr>
        <p:spPr>
          <a:xfrm>
            <a:off x="10362960" y="6473880"/>
            <a:ext cx="1188360" cy="273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 u="none" strike="noStrike">
                <a:solidFill>
                  <a:srgbClr val="6E8C99"/>
                </a:solidFill>
                <a:latin typeface="Calibri"/>
                <a:ea typeface="Calibri"/>
                <a:cs typeface="Calibri"/>
                <a:sym typeface="Calibri"/>
              </a:rPr>
              <a:t>15 / 16</a:t>
            </a:r>
            <a:endParaRPr b="0" sz="1000" u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0" name="Google Shape;340;p18"/>
          <p:cNvCxnSpPr/>
          <p:nvPr/>
        </p:nvCxnSpPr>
        <p:spPr>
          <a:xfrm>
            <a:off x="640075" y="1163323"/>
            <a:ext cx="7691400" cy="7200"/>
          </a:xfrm>
          <a:prstGeom prst="straightConnector1">
            <a:avLst/>
          </a:prstGeom>
          <a:noFill/>
          <a:ln cap="flat" cmpd="sng" w="3810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341" name="Google Shape;341;p18" title="15376668-uomo-lampadina-idea-icona-schema-stile-vettorial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51075" y="4016451"/>
            <a:ext cx="1883200" cy="188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D4E5F5"/>
            </a:gs>
            <a:gs pos="100000">
              <a:srgbClr val="70A4D5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f8a346b7a1_0_215"/>
          <p:cNvSpPr/>
          <p:nvPr/>
        </p:nvSpPr>
        <p:spPr>
          <a:xfrm>
            <a:off x="3672369" y="1350475"/>
            <a:ext cx="4847253" cy="1215519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>
                <a:ln cap="flat" cmpd="sng" w="9525">
                  <a:solidFill>
                    <a:schemeClr val="dk2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accent1"/>
                </a:solidFill>
                <a:latin typeface="Caveat"/>
              </a:rPr>
              <a:t>GRAZIE</a:t>
            </a:r>
          </a:p>
        </p:txBody>
      </p:sp>
      <p:pic>
        <p:nvPicPr>
          <p:cNvPr id="348" name="Google Shape;348;g3f8a346b7a1_0_215" title="1401882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2875" y="4293825"/>
            <a:ext cx="2039500" cy="159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g3f8a346b7a1_0_215" title="1401882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57600" y="4293825"/>
            <a:ext cx="2039500" cy="159170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g3f8a346b7a1_0_215"/>
          <p:cNvSpPr txBox="1"/>
          <p:nvPr/>
        </p:nvSpPr>
        <p:spPr>
          <a:xfrm>
            <a:off x="1091485" y="3959175"/>
            <a:ext cx="301752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github.com/AlessandroCravidi/
sardegna-overtourism-aida26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g3f8a346b7a1_0_215"/>
          <p:cNvSpPr txBox="1"/>
          <p:nvPr/>
        </p:nvSpPr>
        <p:spPr>
          <a:xfrm>
            <a:off x="7829750" y="3959175"/>
            <a:ext cx="23871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MAPPA INTERATTIVA
[link da pubblicare]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g3f8a346b7a1_0_215"/>
          <p:cNvSpPr txBox="1"/>
          <p:nvPr/>
        </p:nvSpPr>
        <p:spPr>
          <a:xfrm>
            <a:off x="4160520" y="4160520"/>
            <a:ext cx="3840480" cy="14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Davide Colucci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ctr"/>
            <a:r>
              <a:rPr sz="1400"/>
              <a:t>Alessandro Cravidi</a:t>
            </a:r>
          </a:p>
          <a:p>
            <a:pPr algn="ctr"/>
            <a:r>
              <a:rPr sz="1400"/>
              <a:t>Giuseppe Gatto</a:t>
            </a:r>
          </a:p>
          <a:p>
            <a:pPr algn="ctr"/>
            <a:r>
              <a:rPr sz="1400"/>
              <a:t>Matteo Rovedo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2026-08-28T17:02:36Z</dcterms:created>
  <dc:creator>PptxGenJS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18</vt:i4>
  </property>
  <property fmtid="{D5CDD505-2E9C-101B-9397-08002B2CF9AE}" pid="3" name="PresentationFormat">
    <vt:lpwstr>On-screen Show (16:9)</vt:lpwstr>
  </property>
  <property fmtid="{D5CDD505-2E9C-101B-9397-08002B2CF9AE}" pid="4" name="Slides">
    <vt:i4>18</vt:i4>
  </property>
</Properties>
</file>