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554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1F7A8C"/>
                </a:solidFill>
                <a:latin typeface="Calibri"/>
              </a:rPr>
              <a:t>RELAZIONE TECNICA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Overtourism in Sardegna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88036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C7CED3"/>
                </a:solidFill>
                <a:latin typeface="Calibri"/>
              </a:rPr>
              <a:t>Una pipeline ETL e un sistema di indicatori per misurare la pressione turistica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C7CED3"/>
                </a:solidFill>
                <a:latin typeface="Calibri"/>
              </a:rPr>
              <a:t>e l'attrattività dei comuni sardi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062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9AA6AE"/>
                </a:solidFill>
                <a:latin typeface="Calibri"/>
              </a:rPr>
              <a:t>Master AIDA26 — Artificial Intelligence &amp; Data Analytics for Business · Modulo ETL &amp; Data Visualization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25780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Davide Colucci · Alessandro Cravidi · Giuseppe Gatto · Matteo Rovedo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2356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9AA6AE"/>
                </a:solidFill>
                <a:latin typeface="Calibri"/>
              </a:rPr>
              <a:t>02/09/2026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550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A969E"/>
                </a:solidFill>
                <a:latin typeface="Calibri"/>
              </a:rPr>
              <a:t>01 / 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Indice della relazione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Relazione Tecnica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02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1. Scenario e obiettivo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463040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6. ETL — source, staging, DW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463040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11. Data Presentation &amp; risultati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29968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2. Stakeholder &amp; usefulness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029968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7. Pipeline dei notebook (01→10)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029968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12. Obiettivi raggiunti / non raggiunti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96896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3. Architettura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596896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8. Indicatori calcolati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596896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13. Criticità, limiti e miglioramenti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63824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4. Tecnologie e sorgenti dati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163824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9. Mappa delle gemme nascoste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163824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14. Repository, autori, conclusioni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30752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5. Data Collection &amp; Profiling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730752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10. Data Distribution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80560"/>
            <a:ext cx="11185855" cy="822960"/>
          </a:xfrm>
          <a:prstGeom prst="roundRect">
            <a:avLst>
              <a:gd name="adj" fmla="val 6000"/>
            </a:avLst>
          </a:prstGeom>
          <a:solidFill>
            <a:srgbClr val="EC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17720"/>
            <a:ext cx="1072865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1">
                <a:solidFill>
                  <a:srgbClr val="5B6670"/>
                </a:solidFill>
                <a:latin typeface="Calibri"/>
              </a:rPr>
              <a:t>Nota di metodo: ogni slide di analisi riporta in basso il riferimento al notebook o allo schema dati da cui proviene il contenuto, per mantenere tracciabilità diretta fra questa relazione e il codice del repository.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CONTESTO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Overtourism in Sardegna: perché è rilevante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Scenario e contesto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03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800"/>
              </a:spcAft>
            </a:pPr>
            <a:r>
              <a:rPr sz="1550" b="0">
                <a:solidFill>
                  <a:srgbClr val="1B2A3A"/>
                </a:solidFill>
                <a:latin typeface="Calibri"/>
              </a:rPr>
              <a:t>—  La Sardegna concentra una quota enorme della domanda turistica regionale in poche settimane estive e in un numero ristretto di comuni costieri, mentre gran parte dell'entroterra resta fuori da qualunque statistica ufficiale.</a:t>
            </a:r>
          </a:p>
          <a:p>
            <a:pPr algn="l" marL="0" indent="0">
              <a:lnSpc>
                <a:spcPct val="108000"/>
              </a:lnSpc>
              <a:spcAft>
                <a:spcPts val="800"/>
              </a:spcAft>
            </a:pPr>
            <a:r>
              <a:rPr sz="1550" b="0">
                <a:solidFill>
                  <a:srgbClr val="1B2A3A"/>
                </a:solidFill>
                <a:latin typeface="Calibri"/>
              </a:rPr>
              <a:t>—  L'overtourism non è solo "tanti turisti": è pressione che eccede la capacità del territorio — ricettiva, infrastrutturale, abitativa — misurabile solo confrontando i flussi con le caratteristiche strutturali di ciascun comune.</a:t>
            </a:r>
          </a:p>
          <a:p>
            <a:pPr algn="l" marL="0" indent="0">
              <a:lnSpc>
                <a:spcPct val="108000"/>
              </a:lnSpc>
              <a:spcAft>
                <a:spcPts val="800"/>
              </a:spcAft>
            </a:pPr>
            <a:r>
              <a:rPr sz="1550" b="0">
                <a:solidFill>
                  <a:srgbClr val="1B2A3A"/>
                </a:solidFill>
                <a:latin typeface="Calibri"/>
              </a:rPr>
              <a:t>—  Il fenomeno opposto, altrettanto rilevante per la sostenibilità del settore, è quello dei comuni ad alto potenziale attrattivo ma ancora privi di pressione turistica significativa: un margine di crescita che il progetto prova a rendere visibile.</a:t>
            </a:r>
          </a:p>
          <a:p>
            <a:pPr algn="l" marL="0" indent="0">
              <a:lnSpc>
                <a:spcPct val="108000"/>
              </a:lnSpc>
              <a:spcAft>
                <a:spcPts val="800"/>
              </a:spcAft>
            </a:pPr>
            <a:r>
              <a:rPr sz="1550" b="0">
                <a:solidFill>
                  <a:srgbClr val="1B2A3A"/>
                </a:solidFill>
                <a:latin typeface="Calibri"/>
              </a:rPr>
              <a:t>—  Il progetto copre 377 comuni sardi su una finestra di osservazione 2022–2025 (48 mesi), incrociando dati ISTAT, dati regionali (SIRED) e OpenStreetMap.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417320"/>
            <a:ext cx="1417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527048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1F7A8C"/>
                </a:solidFill>
                <a:latin typeface="Calibri"/>
              </a:rPr>
              <a:t>377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2219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comuni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1417320"/>
            <a:ext cx="1417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0" y="1527048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1F7A8C"/>
                </a:solidFill>
                <a:latin typeface="Calibri"/>
              </a:rPr>
              <a:t>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22219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mesi (2022–25)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788920"/>
            <a:ext cx="1417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898648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1F7A8C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5935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indicatori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2788920"/>
            <a:ext cx="141732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2898648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1F7A8C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359359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5B6670"/>
                </a:solidFill>
                <a:latin typeface="Calibri"/>
              </a:rPr>
              <a:t>fonti dati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Obiettivo del progetto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Obiettivo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04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1" i="0">
                <a:solidFill>
                  <a:srgbClr val="1B2A3A"/>
                </a:solidFill>
                <a:latin typeface="Calibri"/>
              </a:rPr>
              <a:t>Costruire uno strumento data-driven, aggiornabile nel tempo, che permetta di distinguere — comune per comune, mese per mese — dove il turismo è già eccessivo da dove esiste ancora margine per una crescita sostenibile.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800"/>
              </a:spcAft>
            </a:pPr>
            <a:r>
              <a:rPr sz="1550" b="0">
                <a:solidFill>
                  <a:srgbClr val="1B2A3A"/>
                </a:solidFill>
                <a:latin typeface="Calibri"/>
              </a:rPr>
              <a:t>—  Non una fotografia statica: una pipeline che si ricalcola quando arrivano nuovi dati (nuovi mesi SIRED, nuovi anni ISTAT).</a:t>
            </a:r>
          </a:p>
          <a:p>
            <a:pPr algn="l" marL="0" indent="0">
              <a:lnSpc>
                <a:spcPct val="108000"/>
              </a:lnSpc>
              <a:spcAft>
                <a:spcPts val="800"/>
              </a:spcAft>
            </a:pPr>
            <a:r>
              <a:rPr sz="1550" b="0">
                <a:solidFill>
                  <a:srgbClr val="1B2A3A"/>
                </a:solidFill>
                <a:latin typeface="Calibri"/>
              </a:rPr>
              <a:t>—  Due dimensioni tenute volutamente separate — pressione turistica reale (Indice di Overtourism) e potenziale strutturale del territorio (Indice di Attrattività) — combinate solo alla fine nel Gem Score.</a:t>
            </a:r>
          </a:p>
          <a:p>
            <a:pPr algn="l" marL="0" indent="0">
              <a:lnSpc>
                <a:spcPct val="108000"/>
              </a:lnSpc>
              <a:spcAft>
                <a:spcPts val="800"/>
              </a:spcAft>
            </a:pPr>
            <a:r>
              <a:rPr sz="1550" b="0">
                <a:solidFill>
                  <a:srgbClr val="1B2A3A"/>
                </a:solidFill>
                <a:latin typeface="Calibri"/>
              </a:rPr>
              <a:t>—  Output pensato per essere consumato sia da una dashboard Tableau (pubblico non tecnico) sia da un notebook/mappa interattiva (pubblico tecnico).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Domande di ricerca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Domande di ricerca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05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—  Quanto e dove il turismo eccede la capacità del territorio? → Indice di Overtourism, comune × mese, 2022–2025.</a:t>
            </a:r>
          </a:p>
          <a:p>
            <a:pPr algn="l" marL="0" indent="0"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—  Cosa rende un comune attrattivo indipendentemente dai flussi turistici attuali? → Indice di Attrattività da OpenStreetMap.</a:t>
            </a:r>
          </a:p>
          <a:p>
            <a:pPr algn="l" marL="0" indent="0"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—  Quanta parte dei flussi turistici reali sfugge alle statistiche ufficiali (il "sommerso turistico")? → confronto fra flussi fisici porti/aeroporti e dati SIRED.</a:t>
            </a:r>
          </a:p>
          <a:p>
            <a:pPr algn="l" marL="0" indent="0"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—  Quanto sono dipendenti i comuni sardi da un singolo mercato di provenienza turistica? → Indice di Herfindahl-Hirschman sulle nazionalità.</a:t>
            </a:r>
          </a:p>
          <a:p>
            <a:pPr algn="l" marL="0" indent="0"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1B2A3A"/>
                </a:solidFill>
                <a:latin typeface="Calibri"/>
              </a:rPr>
              <a:t>—  Quali comuni combinano alta attrattività e bassa pressione turistica, cioè sono candidati a un turismo sostenibile? → Gem Score e mappa delle gemme nascoste.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Stakeholder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Stakeholder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06 /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49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F7A8C"/>
                </a:solidFill>
                <a:latin typeface="Calibri"/>
              </a:rPr>
              <a:t>Enti del turismo regionale e locale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56232"/>
            <a:ext cx="4983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5B6670"/>
                </a:solidFill>
                <a:latin typeface="Calibri"/>
              </a:rPr>
              <a:t>Assessorato al Turismo, uffici IAT comunali: pianificazione della promozione, individuazione delle mete da destagionalizzare.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417320"/>
            <a:ext cx="5349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F7A8C"/>
                </a:solidFill>
                <a:latin typeface="Calibri"/>
              </a:rPr>
              <a:t>Comuni costieri e amministrazioni locali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56232"/>
            <a:ext cx="4983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5B6670"/>
                </a:solidFill>
                <a:latin typeface="Calibri"/>
              </a:rPr>
              <a:t>gestione della capacità ricettiva, regolamentazione degli affitti brevi dove la pressione è più alta.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25496"/>
            <a:ext cx="5349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16936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F7A8C"/>
                </a:solidFill>
                <a:latin typeface="Calibri"/>
              </a:rPr>
              <a:t>Operatori del settore turistico/ricettivo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64408"/>
            <a:ext cx="4983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5B6670"/>
                </a:solidFill>
                <a:latin typeface="Calibri"/>
              </a:rPr>
              <a:t>lettura della stagionalità e della concentrazione di mercato per orientare investimenti e canali di vendita.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825496"/>
            <a:ext cx="5349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916936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F7A8C"/>
                </a:solidFill>
                <a:latin typeface="Calibri"/>
              </a:rPr>
              <a:t>Residenti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264408"/>
            <a:ext cx="4983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5B6670"/>
                </a:solidFill>
                <a:latin typeface="Calibri"/>
              </a:rPr>
              <a:t>impatto sul mercato abitativo (abitazioni non occupate, affitti brevi) nei comuni a più alta pressione.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33672"/>
            <a:ext cx="5349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325112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F7A8C"/>
                </a:solidFill>
                <a:latin typeface="Calibri"/>
              </a:rPr>
              <a:t>Decisori politici regionali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72584"/>
            <a:ext cx="4983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5B6670"/>
                </a:solidFill>
                <a:latin typeface="Calibri"/>
              </a:rPr>
              <a:t>priorizzazione degli interventi normativi sulla base di indicatori oggettivi e aggiornabili.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4233672"/>
            <a:ext cx="5349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4325112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F7A8C"/>
                </a:solidFill>
                <a:latin typeface="Calibri"/>
              </a:rPr>
              <a:t>Turisti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672584"/>
            <a:ext cx="4983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5B6670"/>
                </a:solidFill>
                <a:latin typeface="Calibri"/>
              </a:rPr>
              <a:t>scelta consapevole di una meta autentica e non satura, tramite la mappa delle gemme nascoste.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USEFULNESS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Utilità concreta per gli stakeholder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Usefulness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07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Regolamentare dove serve davvero: i comuni con alta quota di case sfitte e alta pressione turistica per residente sono i casi prioritari per interventi sugli affitti brevi.</a:t>
            </a:r>
          </a:p>
          <a:p>
            <a:pPr algn="l" marL="0" indent="0"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Destagionalizzare: la scomposizione per mercato di provenienza indica quali bacini (es. mercato tedesco, a profilo stagionale più ampio) promuovere per alleggerire il bimestre luglio-agosto.</a:t>
            </a:r>
          </a:p>
          <a:p>
            <a:pPr algn="l" marL="0" indent="0"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Monitorare i comuni mono-mercato: i territori con HHI più alto sono i più esposti a uno shock di un singolo mercato di provenienza (es. Muros e Ardauli, oltre il 75% dai turisti francesi).</a:t>
            </a:r>
          </a:p>
          <a:p>
            <a:pPr algn="l" marL="0" indent="0"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Investire nelle gemme nascoste: i comuni ad alta attrattività e bassa pressione offrono spazio per una crescita turistica ancora sostenibile.</a:t>
            </a:r>
          </a:p>
          <a:p>
            <a:pPr algn="l" marL="0" indent="0"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Correggere le statistiche ufficiali: la stima del sommerso turistico (fino al 46,8% del flusso fisico nel 2022) dà un ordine di grandezza a un problema noto ma raramente quantificato a livello comunale.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Architettura BI adottata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Architettura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08 /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8883" y="196596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8A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8883" y="20574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Sorgenti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323" y="242316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ISTAT · SIRED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sardegnamobilità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OpenStreetMap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34843" y="2564892"/>
            <a:ext cx="256032" cy="219456"/>
          </a:xfrm>
          <a:prstGeom prst="rightArrow">
            <a:avLst/>
          </a:prstGeom>
          <a:solidFill>
            <a:srgbClr val="EC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90875" y="196596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0875" y="20574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2315" y="242316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tabelle sorgente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1 per fonte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DuckDB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56835" y="2564892"/>
            <a:ext cx="256032" cy="219456"/>
          </a:xfrm>
          <a:prstGeom prst="rightArrow">
            <a:avLst/>
          </a:prstGeom>
          <a:solidFill>
            <a:srgbClr val="EC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12867" y="196596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2867" y="20574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4307" y="242316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join, pulizia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chiavi comune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gestione missing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78827" y="2564892"/>
            <a:ext cx="256032" cy="219456"/>
          </a:xfrm>
          <a:prstGeom prst="rightArrow">
            <a:avLst/>
          </a:prstGeom>
          <a:solidFill>
            <a:srgbClr val="EC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34859" y="196596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1B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4859" y="20574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6299" y="242316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data warehouse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1 tabella/indicatore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+ indicatori_comune_anno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00819" y="2564892"/>
            <a:ext cx="256032" cy="219456"/>
          </a:xfrm>
          <a:prstGeom prst="rightArrow">
            <a:avLst/>
          </a:prstGeom>
          <a:solidFill>
            <a:srgbClr val="EC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56851" y="1965960"/>
            <a:ext cx="1965960" cy="1417320"/>
          </a:xfrm>
          <a:prstGeom prst="roundRect">
            <a:avLst>
              <a:gd name="adj" fmla="val 6000"/>
            </a:avLst>
          </a:prstGeom>
          <a:solidFill>
            <a:srgbClr val="C9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6851" y="20574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BI /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8291" y="2423160"/>
            <a:ext cx="1783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Tableau dashboard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mappa Leaflet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CSV per Tableau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70332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 i="0">
                <a:solidFill>
                  <a:srgbClr val="5B6670"/>
                </a:solidFill>
                <a:latin typeface="Calibri"/>
              </a:rPr>
              <a:t>Lo strato ETL è implementato interamente in DuckDB (db/sardegna_overtourism.duckdb): tre schemi separati (raw, staging, presentation) mantengono la tracciabilità dalla fonte grezza fino alla tabella pronta per il consumo. Gli indicatori (notebook 04–09) scrivono direttamente in presentation.*; l'esportazione in CSV/GeoJSON verso data/ e File x Tableau/ è lo strato di Data Distribution.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Tecnologie e strumenti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Tecnologie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09 / 50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07899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926080"/>
                <a:gridCol w="5760720"/>
              </a:tblGrid>
              <a:tr h="42062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Strumento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Ruolo nel progetto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Linguaggio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Python 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Tutta la pipeline ETL e il calcolo degli indicatori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Notebook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Jupyter Notebook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10 notebook, uno per fase/indicatore, eseguiti in ordine 01→10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Manipolazione dati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pandas, numpy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Pulizia, join, calcolo indicatori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Dati geografici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geopandas, shapely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Allocazione POI ai comuni, calcolo aree comunali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Sorgente geodati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OpenStreetMap / Overpass API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Punti di interesse per l'Indice di Attrattività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Data warehouse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DuckDB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Schemi raw / staging / presentation, query SQL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Mappe interattive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Folium, Leaflet (via HTML/JS)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Mappa coropletica attrattività, mappa gemme nascoste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Visualizzazione statica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matplotlib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Scatter plot quadranti, grafici esplorativi nei notebook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Dashboard BI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Tableau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B2A3A"/>
                          </a:solidFill>
                          <a:latin typeface="Calibri"/>
                        </a:rPr>
                        <a:t>Dashboard finale: HHI, sommerso turistico, stagionalità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Sorgenti dati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Sorgenti dati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10 / 50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07899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200400"/>
                <a:gridCol w="1554480"/>
                <a:gridCol w="3200400"/>
              </a:tblGrid>
              <a:tr h="60089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Fonte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Dato fornito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Aggiornamento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Tabella raw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ISTAT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Anagrafica comuni, popolazione residente, superficie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annuale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anagrafica_comuni, popolazione_residente, superficie_comunale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ISTAT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Abitazioni occupate / non occupate per comune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periodico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raw.abitazioni_non_occupate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Regione Sardegna — Osservatorio Turismo (SIRED)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Arrivi e presenze ufficiali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mensile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raw.arrivi_presenze_sired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Regione Sardegna — Osservatorio Turismo (SIRED)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Capacità delle strutture ricettive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annuale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raw.capacita_ricettiva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sardegnamobilità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Flussi giornalieri porti e aeroporti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giornaliero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raw.porti_aeroporti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OpenStreetMap (Overpass API)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Punti di interesse, 5 pilastri tematici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statico (snapshot)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B2A3A"/>
                          </a:solidFill>
                          <a:latin typeface="Calibri"/>
                        </a:rPr>
                        <a:t>osm_per_comune.csv (fuori da DuckDB)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Come sono stati raccolti i dati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Data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11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Nessuno scraping in senso stretto: le fonti ISTAT e Regione Sardegna sono Open Data ufficiali, scaricati come CSV/Excel e versionati in data/raw/originali/ senza modifiche manuali.</a:t>
            </a:r>
          </a:p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I punti di interesse OpenStreetMap sono l'unica fonte raccolta programmaticamente, tramite query Overpass API sulla bounding box della Sardegna, per 5 categorie tematiche (pilastri).</a:t>
            </a:r>
          </a:p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Ogni fonte grezza viene caricata as-is nello schema raw.* di DuckDB con read_csv_auto, prima di qualunque trasformazione — così la tabella raw resta sempre un riflesso fedele del file originale.</a:t>
            </a:r>
          </a:p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Cardinalità: 377 comuni sardi, osservazioni mensili 2022–2025 per arrivi/presenze (~18.000 righe comune×mese×anno), snapshot annuale per capacità ricettiva/popolazione/superficie.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17320"/>
            <a:ext cx="3886200" cy="3291840"/>
          </a:xfrm>
          <a:prstGeom prst="roundRect">
            <a:avLst>
              <a:gd name="adj" fmla="val 6000"/>
            </a:avLst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399032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notebooks/01_pipeline_ingestion.ipynb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1746504"/>
            <a:ext cx="348386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con = duckdb.connect(str(DB_PATH))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con.execute(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"CREATE SCHEMA IF NOT EXISTS raw")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con.execute("""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CREATE TABLE raw.arrivi_presenze_sired AS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SELECT * FROM read_csv_auto(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'{PATH_SIRED_2025}')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""")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Data Profiling — problemi identificati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Data Profiling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12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Valori mancanti non uniformi fra indicatori: alcuni comuni non hanno tutti e 4 i sotto-indicatori disponibili in un dato mese (n_indicatori_disponibili &lt; 4) — trattati come dato mancante, mai come zero.</a:t>
            </a:r>
          </a:p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Giorni mancanti negli scali (porti/aeroporti): verificati scalo per scalo; Golfo Aranci è risultato il caso più sospetto per continuità dei dati e controllato manualmente prima dell'uso.</a:t>
            </a:r>
          </a:p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Nomi di comune corrotti: un pattern di apostrofo "fantasma" (es. su Sant'Antioco e affini) proveniente dai file Excel regionali, che rompeva il join con l'anagrafica ISTAT se non corretto.</a:t>
            </a:r>
          </a:p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Eterogeneità di formato: decimali italiani con virgola, date in formato dd/mm/yyyy, casing incoerente delle macro-tipologie ricettive — armonizzati prima del caricamento in staging.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17320"/>
            <a:ext cx="3886200" cy="3291840"/>
          </a:xfrm>
          <a:prstGeom prst="roundRect">
            <a:avLst>
              <a:gd name="adj" fmla="val 6000"/>
            </a:avLst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399032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notebooks/01_pipeline_ingestion.ipynb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1746504"/>
            <a:ext cx="348386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def ripara_apostrofi(nome):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nome = str(nome)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if nome.startswith("'") \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   and nome.endswith("'"):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    nome = nome[1:-1]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# sequenza corrotta -&gt; apostrofo vero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nome = nome.replace('"\'', "'")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return nome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TRATTAMENTO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Data Cleaning &amp; trattamento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Data Cleaning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13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800"/>
              </a:spcAft>
            </a:pPr>
            <a:r>
              <a:rPr sz="1380" b="0">
                <a:solidFill>
                  <a:srgbClr val="1B2A3A"/>
                </a:solidFill>
                <a:latin typeface="Calibri"/>
              </a:rPr>
              <a:t>—  Normalizzazione delle chiavi di join: tutti i nomi comune armonizzati in Title Case e riparati dagli apostrofi corrotti prima di qualunque merge, per evitare comuni "persi" nei join.</a:t>
            </a:r>
          </a:p>
          <a:p>
            <a:pPr algn="l" marL="0" indent="0">
              <a:lnSpc>
                <a:spcPct val="108000"/>
              </a:lnSpc>
              <a:spcAft>
                <a:spcPts val="800"/>
              </a:spcAft>
            </a:pPr>
            <a:r>
              <a:rPr sz="1380" b="0">
                <a:solidFill>
                  <a:srgbClr val="1B2A3A"/>
                </a:solidFill>
                <a:latin typeface="Calibri"/>
              </a:rPr>
              <a:t>—  Missing ≠ zero, in tutta la pipeline: un comune senza presenze registrate ha un indicatore mancante, escluso dal calcolo — mai forzato a 0, che ne falserebbe la media.</a:t>
            </a:r>
          </a:p>
          <a:p>
            <a:pPr algn="l" marL="0" indent="0">
              <a:lnSpc>
                <a:spcPct val="108000"/>
              </a:lnSpc>
              <a:spcAft>
                <a:spcPts val="800"/>
              </a:spcAft>
            </a:pPr>
            <a:r>
              <a:rPr sz="1380" b="0">
                <a:solidFill>
                  <a:srgbClr val="1B2A3A"/>
                </a:solidFill>
                <a:latin typeface="Calibri"/>
              </a:rPr>
              <a:t>—  Winsorizzazione al 99° percentile + min-max per ogni sotto-indicatore dell'Overtourism, con ancore (minimo, cap p99) calcolate una sola volta e congelate, per restare confrontabili quando si aggiungono nuovi mesi.</a:t>
            </a:r>
          </a:p>
          <a:p>
            <a:pPr algn="l" marL="0" indent="0">
              <a:lnSpc>
                <a:spcPct val="108000"/>
              </a:lnSpc>
              <a:spcAft>
                <a:spcPts val="800"/>
              </a:spcAft>
            </a:pPr>
            <a:r>
              <a:rPr sz="1380" b="0">
                <a:solidFill>
                  <a:srgbClr val="1B2A3A"/>
                </a:solidFill>
                <a:latin typeface="Calibri"/>
              </a:rPr>
              <a:t>—  Regolarizzazione dell'area comunale nell'Indice di Attrattività: un buffer (mediana delle superfici) sommato all'area reale prima di calcolare le densità, per evitare che comuni microscopici risultino artificialmente iper-densi.</a:t>
            </a:r>
          </a:p>
          <a:p>
            <a:pPr algn="l" marL="0" indent="0">
              <a:lnSpc>
                <a:spcPct val="108000"/>
              </a:lnSpc>
              <a:spcAft>
                <a:spcPts val="800"/>
              </a:spcAft>
            </a:pPr>
            <a:r>
              <a:rPr sz="1380" b="0">
                <a:solidFill>
                  <a:srgbClr val="1B2A3A"/>
                </a:solidFill>
                <a:latin typeface="Calibri"/>
              </a:rPr>
              <a:t>—  Filtro di eleggibilità sul Gem Score: un comune entra in "Gemma Nascosta" solo se ha almeno 3 sotto-indicatori disponibili e densità ricettiva &gt; 0 — altrimenti un overtourism a zero per assenza di dati verrebbe scambiato per autenticità.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ETL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ETL — Source Tables (schema raw)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ETL · raw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14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>
                <a:solidFill>
                  <a:srgbClr val="5B6670"/>
                </a:solidFill>
                <a:latin typeface="Calibri"/>
              </a:rPr>
              <a:t>Ogni fonte grezza è caricata as-is in una tabella dedicata, senza trasformazioni — il punto di partenza tracciabile della pipeline.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965960"/>
          <a:ext cx="107899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846320"/>
                <a:gridCol w="2926080"/>
              </a:tblGrid>
              <a:tr h="44577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Tabella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Contenuto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Fonte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raw.anagrafica_comuni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Elenco comuni italiani filtrati su Sardegna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ISTAT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raw.popolazione_residente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Popolazione residente per comune, per anno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ISTAT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raw.superficie_comunale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Superficie in km² per comune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ISTAT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raw.abitazioni_non_occupate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Abitazioni occupate / non occupate per comune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ISTAT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raw.arrivi_presenze_sired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Arrivi e presenze turistiche mensili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Regione Sardegna (SIRED)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raw.capacita_ricettiva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Posti letto per struttura/comune, annuale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Regione Sardegna (SIRED)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raw.porti_aeroporti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Bollettino arrivi/partenze giornaliero per scalo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sardegnamobilità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ETL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ETL — Staging Area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ETL · staging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15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>
                <a:solidFill>
                  <a:srgbClr val="5B6670"/>
                </a:solidFill>
                <a:latin typeface="Calibri"/>
              </a:rPr>
              <a:t>Le tabelle raw vengono pulite, ri-chiavate su un riferimento comune unico e aggregate al grano richiesto dagli indicatori.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965960"/>
          <a:ext cx="107899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6858000"/>
              </a:tblGrid>
              <a:tr h="509451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Tabella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Contenuto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staging.comuni_riferimento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Anagrafica comune con chiave di join normalizzata (apostrofi riparati)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staging.arrivi_presenze_annuale / .presenze_mensili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Arrivi/presenze aggregati per anno e per mese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staging.capacita_annuale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Posti letto aggregati per comune e anno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staging.popolazione / .superficie / .abitazioni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Dimensioni anagrafiche pulite, pronte per il join finale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staging.gini_stagionalita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Indice di concentrazione stagionale dei flussi per comune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staging.flusso_regionale_giornaliero / .flusso_non_catturato_annuale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B2A3A"/>
                          </a:solidFill>
                          <a:latin typeface="Calibri"/>
                        </a:rPr>
                        <a:t>Flusso fisico porti/aeroporti vs quota non catturata da SIRED (sommerso turistico)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ETL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ETL — Data Warehouse (schema presentation)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ETL ·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16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0">
                <a:solidFill>
                  <a:srgbClr val="5B6670"/>
                </a:solidFill>
                <a:latin typeface="Calibri"/>
              </a:rPr>
              <a:t>Una tabella per indicatore, più una tabella wide di sintesi: lo strato pronto per il consumo da Tableau e dai notebook a valle.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96596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4206240"/>
                <a:gridCol w="2651760"/>
              </a:tblGrid>
              <a:tr h="3429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Tabella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Grano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Notebook produttore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presentation.densita_turistica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comune × mese × anno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presentation.densita_ricettiva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comune × anno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presentation.intensita_turistica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comune × mese × anno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presentation.utilizzazione_lorda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comune × anno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07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presentation.indice_overtourism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comune × mese × anno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08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presentation.indicatori_comune_anno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comune × anno (tabella wide, export Tableau)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presentation.presenze_giornaliere_stimate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comune × giorno (stima disaggregata da scalo)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84632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B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93776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1">
                <a:solidFill>
                  <a:srgbClr val="8A4A1E"/>
                </a:solidFill>
                <a:latin typeface="Calibri"/>
              </a:rPr>
              <a:t>Criticità: nell'ultima istantanea locale del database, il file db/sardegna_overtourism.duckdb contiene solo lo schema presentation — gli schemi raw e staging (definiti nel notebook 01) non risultano materializzati insieme nello stesso run. Va rieseguito 01_pipeline_ingestion.ipynb per rigenerare l'intera catena in un unico database coerente.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F7A8C"/>
                </a:solidFill>
                <a:latin typeface="Calibri"/>
              </a:rPr>
              <a:t>PANORAMICA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8892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La pipeline dei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79476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>
                <a:solidFill>
                  <a:srgbClr val="C7CED3"/>
                </a:solidFill>
                <a:latin typeface="Calibri"/>
              </a:rPr>
              <a:t>Dieci notebook, eseguiti in ordine 01 → 10: dalla raccolta dati alla mappa interattiva finale.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550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A969E"/>
                </a:solidFill>
                <a:latin typeface="Calibri"/>
              </a:rPr>
              <a:t>Relazione Tecnica · Overtourism in Sardegna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3550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A969E"/>
                </a:solidFill>
                <a:latin typeface="Calibri"/>
              </a:rPr>
              <a:t>17 / 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I 10 notebook della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18 / 50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0789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377440"/>
                <a:gridCol w="2651760"/>
                <a:gridCol w="5212080"/>
              </a:tblGrid>
              <a:tr h="39069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Notebook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Fase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Cosa produce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pipeline_ingestion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 Collection + ETL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Schema raw/staging/presentation; HHI; sommerso turistico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dati_osm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 Collection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POI OpenStreetMap allocati ai comuni (5 pilastri)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indice_da_osm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 Cleaning/Optimization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Indice di Attrattività (0–100, quintili)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indicatore_densita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 Cleaning/Optimization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Densità Turistica (comune × mese × anno)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densita_ricettiva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 Cleaning/Optimization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Densità Ricettiva (comune × anno)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intensita_turistica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 Cleaning/Optimization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Intensità Turistica (comune × mese × anno)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07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utilizzazione_lorda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 Cleaning/Optimization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Utilizzazione Lorda (comune × anno)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08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indice_overtourism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 Cleaning/Optimization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Indice di Overtourism (media geometrica dei 4 indicatori)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09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calcolo_gem_score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 Presentation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Gem Score, quadranti, tier, eleggibilità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genera_mappa_gemme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 Presentation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Mappa Leaflet interattiva autocontenuta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NOTEBOOK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01 · pipeline_ingestion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 dei notebook · notebooks/01_pipeline_ingestion.ipynb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19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Cosa 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Ingerisce le fonti ISTAT/SIRED/porti-aeroporti e costruisce lo schema raw→staging→presentation in DuckDB.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Calcola le analisi di contesto: indice di Herfindahl-Hirschman sui mercati di provenienza, stima del sommerso turistico, stagionalità.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70 celle: è il notebook più esteso, organizzato in blocchi (FASE 0/1/2) rieseguibili singolarmente.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71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Impatto sul progetto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55848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Fondamenta dell'intera pipeline: tutti gli altri notebook 04–09 leggono da qui.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Alimenta direttamente le slide "sommerso turistico" e "Herfindahl" della presentazione e i CSV in File x Tableau/.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Unico notebook che fa vera pulizia/ETL relazionale (gli altri lavorano su indicatori già isolati).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NOTEBOOK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02 · dati_osm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 dei notebook · notebooks/02_dati_osm.ipynb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20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Cosa 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Interroga l'Overpass API di OpenStreetMap sulla bounding box della Sardegna, per 5 categorie di POI (pilastri).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Alloca ogni punto al comune di appartenenza tramite spatial join (GeoPandas).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Il pilastro "natura" è stato ripulito dai tag di copertura del suolo generica (natural=tree/wood/water/rock), che gonfiavano artificialmente l'attrattività dei comuni boscosi.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71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Impatto sul progetto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55848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Fornisce l'unica fonte di dati indipendente dai flussi turistici: la base dell'Indice di Attrattività.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La pulizia dei tag OSM è stata una correzione metodologica diretta a un bias osservato: comuni interni minuscoli risultavano falsamente iper-attrattivi.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NOTEBOOK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03 · indice_da_osm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 dei notebook · notebooks/03_indice_da_osm.ipynb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21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Cosa 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6492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Calcola la densità di POI per km² per ciascun pilastro, su un'area "regolarizzata" (area reale + buffer).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Applica min-max normalization, poi trasformazione logaritmica per non far dominare la scala ai comuni iper-densi.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Somma pesata dei 5 pilastri (30/25/20/15/10%) e classificazione in quintili.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42132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Impatto sul progetto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26180"/>
            <a:ext cx="6492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Il buffer di area è la correzione chiave contro il falso positivo "comune microscopico = molto attrattivo": senza, pochi POI in 2-3 km² generavano densità enormi.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Produce indicatore_di_attrattivita.csv, input diretto del notebook 09.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17320"/>
            <a:ext cx="3886200" cy="4023360"/>
          </a:xfrm>
          <a:prstGeom prst="roundRect">
            <a:avLst>
              <a:gd name="adj" fmla="val 6000"/>
            </a:avLst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1399032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notebooks/03_indice_da_osm.ipynb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746504"/>
            <a:ext cx="34838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# area regolarizzata: buffer = mediana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# delle superfici comunali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buffer = area_km2.median()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area_reg = area_km2 + buffer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densita = conteggio_poi / area_reg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# comune piccolo -&gt; buffer domina,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# densita' si attenua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NOTEBOOK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04 · indicatore_densita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 dei notebook · notebooks/04_indicatore_densita.ipynb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22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Cosa 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Calcola la Densità Turistica: presenze mensili diviso superficie comunale.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Scrive presentation.densita_turistica in DuckDB e i CSV annuali in data/.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2526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Impatto sul progetto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09316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Primo dei 4 sotto-indicatori che compongono l'Indice di Overtourism (notebook 08).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Misura il carico fisico di persone sul territorio, indipendentemente dalla popolazione residente.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NOTEBOOK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05 · densita_ricettiva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 dei notebook · notebooks/05_densita_ricettiva.ipynb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23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Cosa 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Calcola la Densità Ricettiva: letti totali diviso superficie comunale, a grana annuale.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Scrive presentation.densita_ricettiva.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2526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Impatto sul progetto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09316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Secondo sotto-indicatore dell'Overtourism: misura la pressione delle infrastrutture ricettive, non dei turisti effettivi.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Riusata anche come filtro di eleggibilità nel Gem Score (notebook 09): un comune senza letti non può essere una "gemma" autentica.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NOTEBOOK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06 · intensita_turistica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 dei notebook · notebooks/06_intensita_turistica.ipynb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24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Cosa 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Calcola l'Intensità Turistica: presenze diviso popolazione residente.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Sceglie le presenze (notti di pernottamento) invece degli arrivi come base, perché rappresentano il carico cumulato nel tempo; gli arrivi restano calcolati come confronto complementare.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1043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Impatto sul progetto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94482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Terzo sotto-indicatore dell'Overtourism: quantifica il rapporto turisti/residenti, rilevante per l'impatto sociale.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La scelta presenze-vs-arrivi è motivata esplicitamente nel notebook ed è coerente con la Densità Turistica.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NOTEBOOK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07 · utilizzazione_lorda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 dei notebook · notebooks/07_utilizzazione_lorda.ipynb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25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Cosa 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Calcola l'Utilizzazione Lorda: presenze annue diviso (letti disponibili × 365), in percentuale.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Nota metodologica esplicita nel notebook: è un valore ANNUALE spalmato costante sui 12 mesi.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2526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Impatto sul progetto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09316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Quarto sotto-indicatore dell'Overtourism: misura quanto la capacità ricettiva è effettivamente satura.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Caso Villasimius, documentato nel notebook: capacità enorme dimensionata sul picco estivo (17.027 letti) produce un'utilizzazione annua modesta (~15%), diluendo nella media geometrica un segnale che gli altri 3 indicatori mostrano fortissimo in agosto — un limite noto, non un errore di calcolo.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NOTEBOOK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08 · indice_overtourism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 dei notebook · notebooks/08_indice_overtourism.ipynb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26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Cosa 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6492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Unisce i 4 indicatori normalizzati (winsor p99 + min-max) e li combina con la media geometrica, riga per riga, escludendo i valori mancanti.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Un valore mancante non è uno zero; se manca l'intera riga, l'indice resta mancante.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80766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Impatto sul progetto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64814"/>
            <a:ext cx="6492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È il cuore quantitativo della "pressione turistica": la media geometrica penalizza gli squilibri (un comune alto su 3 indicatori ma quasi zero sul quarto ottiene un indice basso), più coerente di una media aritmetica.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Output diretto: indice_overtourism_complessivo.csv, input del Gem Score (notebook 09).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17320"/>
            <a:ext cx="3886200" cy="4023360"/>
          </a:xfrm>
          <a:prstGeom prst="roundRect">
            <a:avLst>
              <a:gd name="adj" fmla="val 6000"/>
            </a:avLst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1399032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notebooks/08_indice_overtourism.ipynb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746504"/>
            <a:ext cx="34838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def media_geometrica_riga(valori):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# esclude i NaN dal calcolo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v = [x for x in valori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     if not pd.isna(x)]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if not v: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    return np.nan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if 0 in v: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    return 0.0  # un fattore zero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                # annulla il prodotto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return np.prod(v) ** (1/len(v))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NOTEBOOK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09 · calcolo_gem_score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 dei notebook · notebooks/09_calcolo_gem_score.ipynb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27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Cosa 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6492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Unisce Indice di Attrattività (statico) e Indice di Overtourism (mensile) sulla chiave comune.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Calcola gem_score = attrattività × (1 − overtourism), lo normalizza 0–100 e classifica ogni comune/mese in 4 quadranti sulle mediane.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Applica un filtro di eleggibilità: un comune entra in "Gemma Nascosta" solo se ha ≥3 sotto-indicatori disponibili e densità ricettiva &gt; 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7298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Impatto sul progetto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11346"/>
            <a:ext cx="6492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Prima della correzione, comuni interni con zero offerta ricettiva (overtourism a zero per assenza di dati, non per bassa pressione reale) risultavano falsamente classificati come gemme.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Con il filtro, i comuni Q1 ("Gemma Nascosta") sono scesi da un elenco dominato da falsi positivi a un piccolo insieme di comuni con reale, per quanto minima, offerta turistica verificabile.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17320"/>
            <a:ext cx="3886200" cy="4023360"/>
          </a:xfrm>
          <a:prstGeom prst="roundRect">
            <a:avLst>
              <a:gd name="adj" fmla="val 6000"/>
            </a:avLst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1399032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5B6670"/>
                </a:solidFill>
                <a:latin typeface="Calibri"/>
              </a:rPr>
              <a:t>notebooks/09_calcolo_gem_score.ipynb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1746504"/>
            <a:ext cx="34838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eleggibile = (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(df['n_indicatori_disponibili']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  &gt;= 3) &amp;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(df['densita_ricettiva'] &gt; 0)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)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# Q1 ma non eleggibile -&gt; declassato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df.loc[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(df.quadrante=='Q1') &amp; ~eleggibile,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8E6DD"/>
                </a:solidFill>
                <a:latin typeface="Consolas"/>
              </a:rPr>
              <a:t>  'quadrante'] = 'Q3'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NOTEBOOK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10 · genera_mappa_gemme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Pipeline dei notebook · notebooks/10_genera_mappa_gemme.ipynb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28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Cosa 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Calcola i centroidi comunali dal GeoJSON dei confini e costruisce, per ogni comune, gli array mensili (48 valori) di gem score, overtourism e quadrante.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Genera un'unica pagina HTML autocontenuta con Leaflet: mappa, selettori mese/anno, classifica delle gemme del mese, popup per comune.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95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Impatto sul progetto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79648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È l'output finale consumabile senza Python né Jupyter: un file HTML apribile in qualunque browser, in data/mappa_gemme_nascoste/.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</a:pPr>
            <a:r>
              <a:rPr sz="1350" b="0">
                <a:solidFill>
                  <a:srgbClr val="1B2A3A"/>
                </a:solidFill>
                <a:latin typeface="Calibri"/>
              </a:rPr>
              <a:t>—  Rende esplorabile l'evoluzione mensile del fenomeno, non solo uno snapshot annuale come le mappe statiche della dashboard Tableau.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F7A8C"/>
                </a:solidFill>
                <a:latin typeface="Calibri"/>
              </a:rPr>
              <a:t>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8892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Gli indicatori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79476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>
                <a:solidFill>
                  <a:srgbClr val="C7CED3"/>
                </a:solidFill>
                <a:latin typeface="Calibri"/>
              </a:rPr>
              <a:t>Definizione, formula e ruolo di ciascuno dei 7 indicatori calcolati dalla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550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A969E"/>
                </a:solidFill>
                <a:latin typeface="Calibri"/>
              </a:rPr>
              <a:t>Relazione Tecnica · Overtourism in Sardegna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3550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A969E"/>
                </a:solidFill>
                <a:latin typeface="Calibri"/>
              </a:rPr>
              <a:t>29 /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INDICATORE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Densità Turistica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Indicatori calcolati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30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i="0">
                <a:solidFill>
                  <a:srgbClr val="1B2A3A"/>
                </a:solidFill>
                <a:latin typeface="Calibri"/>
              </a:rPr>
              <a:t>Presenze turistiche per km² di superficie comunale: misura il carico fisico di persone sul territorio.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1F7A8C"/>
                </a:solidFill>
                <a:latin typeface="Consolas"/>
              </a:rPr>
              <a:t>densità_turistica = presenze_mese / superficie_km²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raw.arrivi_presenze_sired (presenze mensili)</a:t>
            </a:r>
          </a:p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raw.superficie_comunale (ISTAT)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output / ruolo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presentation.densita_turistica</a:t>
            </a:r>
          </a:p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1° sotto-indicatore dell'Indice di Overtourism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INDICATORE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Densità Ricettiva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Indicatori calcolati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31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i="0">
                <a:solidFill>
                  <a:srgbClr val="1B2A3A"/>
                </a:solidFill>
                <a:latin typeface="Calibri"/>
              </a:rPr>
              <a:t>Letti totali per km² di superficie comunale: misura la pressione delle infrastrutture ricettive sul territorio, indipendentemente dai turisti effettivamente presenti.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1F7A8C"/>
                </a:solidFill>
                <a:latin typeface="Consolas"/>
              </a:rPr>
              <a:t>densità_ricettiva = letti_totali / superficie_km²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raw.capacita_ricettiva (posti letto, annuale)</a:t>
            </a:r>
          </a:p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raw.superficie_comunale (ISTAT)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output / ruolo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presentation.densita_ricettiva</a:t>
            </a:r>
          </a:p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2° sotto-indicatore dell'Overtourism; filtro di eleggibilità nel Gem Score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INDICATORE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Intensità Turistica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Indicatori calcolati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32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i="0">
                <a:solidFill>
                  <a:srgbClr val="1B2A3A"/>
                </a:solidFill>
                <a:latin typeface="Calibri"/>
              </a:rPr>
              <a:t>Rapporto fra flusso turistico e popolazione locale: quanti "turisti-notte" per residente.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1F7A8C"/>
                </a:solidFill>
                <a:latin typeface="Consolas"/>
              </a:rPr>
              <a:t>intensità_turistica = presenze_mese / popolazione_residente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raw.arrivi_presenze_sired (presenze mensili)</a:t>
            </a:r>
          </a:p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raw.popolazione_residente (ISTAT)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output / ruolo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presentation.intensita_turistica</a:t>
            </a:r>
          </a:p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3° sotto-indicatore dell'Overtourism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3776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B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1091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1">
                <a:solidFill>
                  <a:srgbClr val="8A4A1E"/>
                </a:solidFill>
                <a:latin typeface="Calibri"/>
              </a:rPr>
              <a:t>Nota: si usano le presenze (notti di pernottamento) e non gli arrivi, perché rappresentano il carico prolungato nel tempo su alloggi, servizi e infrastrutture — gli arrivi sono comunque calcolati come confronto complementare.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INDICATORE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Utilizzazione Lorda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Indicatori calcolati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33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i="0">
                <a:solidFill>
                  <a:srgbClr val="1B2A3A"/>
                </a:solidFill>
                <a:latin typeface="Calibri"/>
              </a:rPr>
              <a:t>Quanto la capacità ricettiva è effettivamente satura nel periodo, come percentuale non superiore al 100%.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1F7A8C"/>
                </a:solidFill>
                <a:latin typeface="Consolas"/>
              </a:rPr>
              <a:t>utilizzazione_lorda = presenze_annue / (letti_disponibili × 365) ×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raw.arrivi_presenze_sired (presenze annue)</a:t>
            </a:r>
          </a:p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raw.capacita_ricettiva (letti)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output / ruolo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presentation.utilizzazione_lorda</a:t>
            </a:r>
          </a:p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4° sotto-indicatore dell'Overtourism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3776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B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1091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1">
                <a:solidFill>
                  <a:srgbClr val="8A4A1E"/>
                </a:solidFill>
                <a:latin typeface="Calibri"/>
              </a:rPr>
              <a:t>Nota: è un valore ANNUALE applicato costante su tutti i mesi. In comuni con capacità dimensionata sul picco estivo (es. Villasimius) diluisce nella media di agosto un segnale che gli altri 3 indicatori mostrano molto più forte — limite noto, non un errore.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INDICATORE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Indice di Overtourism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Indicatori calcolati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34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i="0">
                <a:solidFill>
                  <a:srgbClr val="1B2A3A"/>
                </a:solidFill>
                <a:latin typeface="Calibri"/>
              </a:rPr>
              <a:t>Combinazione dei 4 indicatori precedenti in un unico punteggio di pressione turistica per comune e mese.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1F7A8C"/>
                </a:solidFill>
                <a:latin typeface="Consolas"/>
              </a:rPr>
              <a:t>overtourism = media_geometrica(4 indicatori normalizzati, esclusi i mancanti)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I 4 sotto-indicatori, dopo winsorizzazione p99 e min-max</a:t>
            </a:r>
          </a:p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Ancore (minimo, cap p99) congelate una sola volta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output / ruolo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indice_overtourism_complessivo.csv</a:t>
            </a:r>
          </a:p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Asse verticale dei quadranti nel Gem Score (notebook 09)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3776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B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1091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1">
                <a:solidFill>
                  <a:srgbClr val="8A4A1E"/>
                </a:solidFill>
                <a:latin typeface="Calibri"/>
              </a:rPr>
              <a:t>La media geometrica penalizza gli squilibri: un comune alto su 3 indicatori ma quasi zero sul quarto ottiene un indice più basso che con una media aritmetica — un segnale equilibrato pesa più di uno estremo su una sola dimensione.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INDICATORE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Indice di Attrattività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Indicatori calcolati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35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i="0">
                <a:solidFill>
                  <a:srgbClr val="1B2A3A"/>
                </a:solidFill>
                <a:latin typeface="Calibri"/>
              </a:rPr>
              <a:t>Punteggio 0–100 costruito sui punti di interesse OpenStreetMap, indipendente dai flussi turistici: misura il potenziale del territorio, non la sua popolarità attuale.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1F7A8C"/>
                </a:solidFill>
                <a:latin typeface="Consolas"/>
              </a:rPr>
              <a:t>A = Σ ωₚ · norm(POIₚ / (area + buffer))  →  0–100 dopo log + min-max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osm_per_comune.csv (5 pilastri: turismo 30%, natura 25%, ristorazione 20%, servizi 15%, infrastrutture 10%)</a:t>
            </a:r>
          </a:p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area_km2 (ISTAT) + buffer di regolarizzazione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output / ruolo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indicatore_di_attrattivita.csv, classi in quintili</a:t>
            </a:r>
          </a:p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Asse orizzontale dei quadranti nel Gem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3776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B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1091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1">
                <a:solidFill>
                  <a:srgbClr val="8A4A1E"/>
                </a:solidFill>
                <a:latin typeface="Calibri"/>
              </a:rPr>
              <a:t>Il buffer di area (mediana delle superfici comunali) evita che comuni microscopici risultino iper-densi e quindi falsamente iper-attrattivi con pochi POI; il pilastro "natura" esclude i tag di copertura del suolo generica (alberi, boschi) per non premiare la semplice ruralità.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INDICATORE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Gem Score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Indicatori calcolati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36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50" b="0" i="0">
                <a:solidFill>
                  <a:srgbClr val="1B2A3A"/>
                </a:solidFill>
                <a:latin typeface="Calibri"/>
              </a:rPr>
              <a:t>Combina Attrattività e Overtourism in un unico punteggio e in una classificazione a 4 quadranti, per individuare le "gemme nascoste": comuni ad alta attrattività e bassa pressione.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12848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1F7A8C"/>
                </a:solidFill>
                <a:latin typeface="Consolas"/>
              </a:rPr>
              <a:t>gem_score = attrattività × (1 − overtourism)  →  normalizzato 0–100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indice_attrattivita (statico)</a:t>
            </a:r>
          </a:p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indice_overtourism (mensile)</a:t>
            </a:r>
          </a:p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densità ricettiva e n. indicatori disponibili (per l'eleggibilità)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10896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F7A8C"/>
                </a:solidFill>
                <a:latin typeface="Calibri"/>
              </a:rPr>
              <a:t>Dati in output / ruolo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42900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indicatore_gem_score.csv: quadrante, tier, rank, eleggibile_gemma</a:t>
            </a:r>
          </a:p>
          <a:p>
            <a:pPr algn="l" marL="0" indent="0">
              <a:lnSpc>
                <a:spcPct val="108000"/>
              </a:lnSpc>
              <a:spcAft>
                <a:spcPts val="5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Input della mappa interattiva (notebook 10)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3776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B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10912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1">
                <a:solidFill>
                  <a:srgbClr val="8A4A1E"/>
                </a:solidFill>
                <a:latin typeface="Calibri"/>
              </a:rPr>
              <a:t>Un comune entra nel quadrante "Gemma Nascosta" solo se supera anche il filtro di eleggibilità (≥3 sotto-indicatori disponibili, densità ricettiva &gt; 0): senza questo filtro, comuni privi di qualunque offerta turistica venivano scambiati per autentici per la sola assenza di dati.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Mappa delle gemme nascoste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Data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37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Mappa Leaflet interattiva, autocontenuta in un solo file HTML (data/mappa_gemme_nascoste/) — nessun server necessario, i dati sono incorporati come JSON nella pagina.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Selettori mese/anno: per ciascuno dei 48 step mensili (2022-01 → 2025-12) mostra i comuni classificati Gemma Nascosta quel mese, ordinati per gem score.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Ogni comune ha un marker colorato per quadrante e un popup con i 4 indicatori grezzi di overtourism, l'attrattività e il gem score del mese.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Costruita a partire da indicatore_gem_score.csv (notebook 09) e dai centroidi calcolati dal GeoJSON dei confini comunali — non richiede GeoPandas a runtime, solo nella fase di generazione.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417320"/>
            <a:ext cx="40233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CE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60020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1" i="0">
                <a:solidFill>
                  <a:srgbClr val="1B2A3A"/>
                </a:solidFill>
                <a:latin typeface="Calibri"/>
              </a:rPr>
              <a:t>Quadranti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2011680"/>
            <a:ext cx="274320" cy="274320"/>
          </a:xfrm>
          <a:prstGeom prst="rect">
            <a:avLst/>
          </a:prstGeom>
          <a:solidFill>
            <a:srgbClr val="3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98424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1B2A3A"/>
                </a:solidFill>
                <a:latin typeface="Calibri"/>
              </a:rPr>
              <a:t>🌟 Gemma Nascosta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2514600"/>
            <a:ext cx="274320" cy="274320"/>
          </a:xfrm>
          <a:prstGeom prst="rect">
            <a:avLst/>
          </a:prstGeom>
          <a:solidFill>
            <a:srgbClr val="C9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48716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1B2A3A"/>
                </a:solidFill>
                <a:latin typeface="Calibri"/>
              </a:rPr>
              <a:t>🏖️ Destinazione Popolare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3017520"/>
            <a:ext cx="274320" cy="2743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99008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1B2A3A"/>
                </a:solidFill>
                <a:latin typeface="Calibri"/>
              </a:rPr>
              <a:t>🌄 Territorio Autentico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3520440"/>
            <a:ext cx="274320" cy="27432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49300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i="0">
                <a:solidFill>
                  <a:srgbClr val="1B2A3A"/>
                </a:solidFill>
                <a:latin typeface="Calibri"/>
              </a:rPr>
              <a:t>⚠️ Zona Satura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160520"/>
            <a:ext cx="3566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File: data/mappa_gemme_nascoste/gemme_nascoste_mappa.html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1">
                <a:solidFill>
                  <a:srgbClr val="5B6670"/>
                </a:solidFill>
                <a:latin typeface="Calibri"/>
              </a:rPr>
              <a:t>(≈1,3 MB, 371 comuni × 48 mesi incorporati)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DISTRIBUZIONE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Data Distribution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Data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38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Ogni indicatore viene esportato sia in DuckDB (schema presentation) sia in CSV annuali dentro data/, per due modalità di consumo indipendenti: query SQL e file piatti.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La cartella File x Tableau/ isola gli export dedicati alla dashboard BI (Herfindahl, provenienze, stagionalità, mappa di provenienza, top 5 mercati) — un confine netto fra dati di lavoro e dati di presentazione.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I GeoJSON dei confini comunali sono distribuiti sia nella cartella indicatore_attrattivita/ sia in mappa_gemme_nascoste/, per rendere ciascun notebook autosufficiente rispetto alla geometria che gli serve.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611880"/>
          <a:ext cx="10789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5303520"/>
                <a:gridCol w="2468880"/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Cartella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Contenuto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Consumatore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File x Tableau/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6 CSV: HHI, provenienze, stagionalità, top5 mercati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Dashboard Tableau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data/presentation/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Export della tabella wide indicatori_comune_anno + tabelle di supporto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Tableau, analisi ad hoc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data/indicatore_*/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Output per singolo indicatore (uno per notebook 03–09)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Notebook a valle, verifica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data/mappa_gemme_nascoste/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GeoJSON + mappa HTML finale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Utente finale (browser)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Data Presentation / Visualization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Data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39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Dashboard Tableau costruita sulle tabelle di data/presentation/ e File x Tableau/: mappe coropletiche, scatter overtourism/attrattività, classifiche HHI e stagionalità.</a:t>
            </a:r>
          </a:p>
          <a:p>
            <a:pPr algn="l" marL="0" indent="0"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Quattro grafici Tableau esportati come immagini in presentazione/charts/ (crescita_confronto, top_gini, top_pressione, top_seconde_case) e riusati nelle slide di sintesi.</a:t>
            </a:r>
          </a:p>
          <a:p>
            <a:pPr algn="l" marL="0" indent="0"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Due mappe interattive complementari: la choropletica dell'Indice di Attrattività (Folium, notebook 03) e quella mensile delle gemme nascoste (Leaflet, notebook 10).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246120"/>
          <a:ext cx="107899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560320"/>
                <a:gridCol w="3657600"/>
              </a:tblGrid>
              <a:tr h="381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Output visivo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Strumento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Dove</a:t>
                      </a:r>
                    </a:p>
                  </a:txBody>
                  <a:tcPr anchor="ctr" marT="50800" marB="50800">
                    <a:solidFill>
                      <a:srgbClr val="1B2A3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Scatter Overtourism × Attrattività (4 quadranti)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Tableau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Slide 9 della presentazione di sintesi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Mappa evolutiva delle gemme (quadranti per comune)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Tableau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Slide 13 della presentazione di sintesi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Mappa 5 classi di attrattività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Tableau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Slide 12 della presentazione di sintesi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Mappa coropletica Indice di Attrattività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Folium/Python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data/indicatore_attrattivita/output_attrattivita/</a:t>
                      </a:r>
                    </a:p>
                  </a:txBody>
                  <a:tcPr anchor="ctr" marT="38100" marB="38100">
                    <a:solidFill>
                      <a:srgbClr val="F3F1E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Mappa interattiva mensile delle gemme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Leaflet/HTML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2A3A"/>
                          </a:solidFill>
                          <a:latin typeface="Calibri"/>
                        </a:rPr>
                        <a:t>data/mappa_gemme_nascoste/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RISULTATI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Risposte alle domande di ricerca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Risultati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40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Dove il turismo eccede la capacità del territorio: l'Indice di Overtourism, seguito su 4 anni, individua le zone costiere come quelle in cui la pressione è cresciuta più velocemente, non solo dove è già più alta oggi.</a:t>
            </a:r>
          </a:p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Cosa rende un comune attrattivo a prescindere dai flussi: l'Indice di Attrattività isola un potenziale strutturale (natura, ristorazione, servizi, infrastrutture) che pesa quanto l'offerta turistica in senso stretto, e non coincide sempre con i comuni già più visitati.</a:t>
            </a:r>
          </a:p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Il sommerso turistico è quantificabile: nel 2025 il 36,5% del flusso fisico via porti e aeroporti non risulta nei dati ufficiali SIRED, in calo rispetto al 46,8% del 2022 — gli arrivi registrati crescono più velocemente (+40,5%) del flusso fisico totale (+17,8%).</a:t>
            </a:r>
          </a:p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La dipendenza da un unico mercato è misurabile comune per comune: l'indice di Herfindahl-Hirschman individua casi estremi come Muros e Ardauli (oltre il 75% dai turisti francesi) o Villasalto (oltre il 50% dal Regno Unito).</a:t>
            </a:r>
          </a:p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Le gemme nascoste esistono ma sono poche e verificabili: dopo il filtro di eleggibilità, un piccolo insieme di comuni combina attrattività sopra la mediana, overtourism sotto la mediana e un'offerta ricettiva reale, non solo l'assenza di dati.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BILANCIO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Obiettivi raggiunti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Obiettivi raggiunti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41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Pipeline ETL completa e tracciabile in DuckDB, con separazione esplicita fra dati grezzi, staging e data warehouse.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7 indicatori calcolati su 377 comuni, con storico mensile 2022–2025 dove la fonte lo consente.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Indice di Attrattività indipendente dai flussi, costruito da fonte geografica aperta (OpenStreetMap), corretto per due bias osservati in corso d'opera (comuni microscopici, copertura del suolo generica).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Gem Score con classificazione a quadranti e filtro di eleggibilità, per evitare falsi positivi nella categoria "gemma nascosta".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Due mappe interattive e una dashboard Tableau, oltre alle analisi complementari su sommerso turistico e concentrazione di mercato.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500" b="0">
                <a:solidFill>
                  <a:srgbClr val="1B2A3A"/>
                </a:solidFill>
                <a:latin typeface="Calibri"/>
              </a:rPr>
              <a:t>—  Presentazione di sintesi e questa relazione tecnica, entrambe allineate allo stato corrente del repository.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BILANCIO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Obiettivi non raggiunti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Obiettivi non raggiunti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42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Nessuna fase di scraping in senso stretto: le fonti restano Open Data ufficiali scaricati manualmente, non un pipeline di raccolta automatica da siti/social.</a:t>
            </a:r>
          </a:p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Il workbook Tableau (.twb/.twbx) non è versionato nel repository: solo i CSV sorgente e le immagini esportate, quindi la dashboard non è ricostruibile end-to-end dal solo codice.</a:t>
            </a:r>
          </a:p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Gli schemi raw e staging di DuckDB non risultano materializzati insieme all'ultima istantanea locale del database — richiede una riesecuzione completa del notebook 01 per essere verificato end-to-end.</a:t>
            </a:r>
          </a:p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Nessun set di test automatici sulla pipeline: la validazione è affidata a controlli manuali dentro i notebook (print, assert puntuali), non a una suite eseguibile.</a:t>
            </a:r>
          </a:p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Nessun file di dipendenze (requirements.txt/environment.yml): le librerie usate sono documentate solo nel README, non fissate a una versione.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RIFLESSIONE CRITICA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Dove si è sbagliato e come migliorare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Riflessione critica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43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380" b="0">
                <a:solidFill>
                  <a:srgbClr val="1B2A3A"/>
                </a:solidFill>
                <a:latin typeface="Calibri"/>
              </a:rPr>
              <a:t>—  Bias nell'Indice di Attrattività non intercettato subito: la densità per km² senza correzioni premiava i comuni piccolissimi, e il pilastro "natura" includeva tag di copertura del suolo generica — entrambi corretti solo dopo un controllo puntuale sui risultati, non da un test automatico. Andrebbe aggiunta una validazione sistematica (es. soglie di plausibilità sui top/bottom comuni) eseguita ad ogni run.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380" b="0">
                <a:solidFill>
                  <a:srgbClr val="1B2A3A"/>
                </a:solidFill>
                <a:latin typeface="Calibri"/>
              </a:rPr>
              <a:t>—  Etichette dei quadranti disallineate fra codice e presentazione: la slide di sintesi usava nomi diversi ("Criticità", "Destinazione Matura") da quelli realmente prodotti dal codice ("Zona Satura", "Destinazione Popolare") — sintomo di presentazione scritta a mano invece che generata dagli stessi dati.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380" b="0">
                <a:solidFill>
                  <a:srgbClr val="1B2A3A"/>
                </a:solidFill>
                <a:latin typeface="Calibri"/>
              </a:rPr>
              <a:t>—  Rischio di disallineamento fra dashboard Tableau e pipeline Python: la dashboard è costruita su un workbook non versionato, quindi un aggiornamento della pipeline (come le due correzioni sopra) non si propaga automaticamente ai grafici Tableau già esportati.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380" b="0">
                <a:solidFill>
                  <a:srgbClr val="1B2A3A"/>
                </a:solidFill>
                <a:latin typeface="Calibri"/>
              </a:rPr>
              <a:t>—  Duplicazione/riordino dei notebook fra branch di lavoro: il file notebooks/01_pipeline_ingestion.ipynb.ipynb ha un'estensione doppia residua, segno di una copia/rinomina non ripulita.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380" b="0">
                <a:solidFill>
                  <a:srgbClr val="1B2A3A"/>
                </a:solidFill>
                <a:latin typeface="Calibri"/>
              </a:rPr>
              <a:t>—  Miglioramento proposto: automatizzare l'intera catena (01→10) con uno script/Makefile unico, aggiungere un requirements.txt con versioni fissate, e versionare il workbook Tableau o generare i suoi grafici direttamente da Python per garantire un'unica fonte di verità.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CRITICITÀ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Criticità emerse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Criticità emerse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44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F7A8C"/>
                </a:solidFill>
                <a:latin typeface="Calibri"/>
              </a:rPr>
              <a:t>Tecniche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Query Overpass API soggette a rate-limit e timeout: la pipeline prevede endpoint di fallback e retry, ma resta una dipendenza esterna non garantita.</a:t>
            </a:r>
          </a:p>
          <a:p>
            <a:pPr algn="l" marL="0" indent="0"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db/*.duckdb non è tracciato in git (per scelta, essendo rigenerabile): chiunque cloni il repository deve rieseguire almeno il notebook 01 prima di poter interrogare lo schema completo.</a:t>
            </a:r>
          </a:p>
          <a:p>
            <a:pPr algn="l" marL="0" indent="0"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Alcuni notebook (04, 05, 07) creano solo lo schema presentation al volo, senza dipendere esplicitamente dagli schemi raw/staging — funzionano solo se 01 è già stato eseguito almeno una volta.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4173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F7A8C"/>
                </a:solidFill>
                <a:latin typeface="Calibri"/>
              </a:rPr>
              <a:t>Di dato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Copertura non uniforme: non tutti i comuni hanno tutti e 4 i sotto-indicatori di overtourism disponibili ogni mese.</a:t>
            </a:r>
          </a:p>
          <a:p>
            <a:pPr algn="l" marL="0" indent="0"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L'Utilizzazione Lorda è un valore annuale spalmato sui mesi: attenua il segnale nei comuni con capacità dimensionata sul solo picco estivo (caso Villasimius, documentato nel notebook 07).</a:t>
            </a:r>
          </a:p>
          <a:p>
            <a:pPr algn="l" marL="0" indent="0">
              <a:lnSpc>
                <a:spcPct val="108000"/>
              </a:lnSpc>
              <a:spcAft>
                <a:spcPts val="800"/>
              </a:spcAft>
            </a:pPr>
            <a:r>
              <a:rPr sz="1300" b="0">
                <a:solidFill>
                  <a:srgbClr val="1B2A3A"/>
                </a:solidFill>
                <a:latin typeface="Calibri"/>
              </a:rPr>
              <a:t>—  L'Indice di Attrattività dipende dalla copertura di OpenStreetMap: comuni poco mappati avranno un punteggio basso anche se il territorio è oggettivamente interessante.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LIMITI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Limiti dei dati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Limiti dei dati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45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Copertura temporale: la serie SIRED copre 2022–2025, un periodo post-pandemico che potrebbe non riflettere pattern di lungo periodo.</a:t>
            </a:r>
          </a:p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Rappresentatività di OpenStreetMap: la densità di mappatura volontaria varia da comune a comune, indipendentemente dalla reale offerta turistica — un limite intrinseco della fonte, non della metodologia.</a:t>
            </a:r>
          </a:p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Freschezza: i POI OSM sono uno snapshot statico al momento della raccolta (query Overpass), non un flusso aggiornato automaticamente come i dati SIRED mensili.</a:t>
            </a:r>
          </a:p>
          <a:p>
            <a:pPr algn="l" marL="0" indent="0">
              <a:lnSpc>
                <a:spcPct val="108000"/>
              </a:lnSpc>
              <a:spcAft>
                <a:spcPts val="11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Il flusso porti/aeroporti (sardegnamobilità) copre solo gli accessi via scalo tracciato: non cattura chi arriva via auto/traghetto senza passare da uno scalo monitorato, quindi la stima del sommerso turistico è un limite inferiore, non una misura esaustiva.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LIMITI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Limiti dei metodi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Limiti dei metodi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46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Le mediane come soglie dei quadranti sono robuste agli outlier ma dividono la popolazione esattamente al 50%: due comuni quasi identici possono finire in quadranti diversi per un margine minimo.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I pesi dei 5 pilastri dell'Attrattività (30/25/20/15/10%) sono una scelta editoriale del gruppo, non derivata da un modello statistico o da una validazione esterna.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Il buffer di area (mediana delle superfici) e il filtro di eleggibilità del Gem Score (≥3 indicatori, densità ricettiva &gt; 0) sono soglie ragionate ma arbitrarie: valori diversi produrrebbero elenchi di "gemme" leggermente diversi.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Il Gem Score è una metrica composita: due comuni con lo stesso punteggio possono avere profili molto diversi (uno molto attrattivo e mediamente affollato, l'altro poco affollato e mediamente attrattivo).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400" b="0">
                <a:solidFill>
                  <a:srgbClr val="1B2A3A"/>
                </a:solidFill>
                <a:latin typeface="Calibri"/>
              </a:rPr>
              <a:t>—  L'indice di Overtourism è una proxy costruita su densità e capacità ricettiva: non misura direttamente la percezione di affollamento da parte del visitatore o del residente.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Struttura della repository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Struttura della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47 /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6400800" cy="4206240"/>
          </a:xfrm>
          <a:prstGeom prst="roundRect">
            <a:avLst>
              <a:gd name="adj" fmla="val 6000"/>
            </a:avLst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45336"/>
            <a:ext cx="5998464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50">
                <a:solidFill>
                  <a:srgbClr val="E8E6DD"/>
                </a:solidFill>
                <a:latin typeface="Consolas"/>
              </a:rPr>
              <a:t>data/                    dataset e output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8E6DD"/>
                </a:solidFill>
                <a:latin typeface="Consolas"/>
              </a:rPr>
              <a:t>  raw/                   fonti pulite + originali/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8E6DD"/>
                </a:solidFill>
                <a:latin typeface="Consolas"/>
              </a:rPr>
              <a:t>  presentation/          export schema presentation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8E6DD"/>
                </a:solidFill>
                <a:latin typeface="Consolas"/>
              </a:rPr>
              <a:t>  indicatore_*/          output per indicatore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8E6DD"/>
                </a:solidFill>
                <a:latin typeface="Consolas"/>
              </a:rPr>
              <a:t>  mappa_gemme_nascoste/  mappa Leaflet finale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8E6DD"/>
                </a:solidFill>
                <a:latin typeface="Consolas"/>
              </a:rPr>
              <a:t>notebooks/               pipeline, 01 -&gt; 10 in ordine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8E6DD"/>
                </a:solidFill>
                <a:latin typeface="Consolas"/>
              </a:rPr>
              <a:t>db/                      *.duckdb (non tracciato)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8E6DD"/>
                </a:solidFill>
                <a:latin typeface="Consolas"/>
              </a:rPr>
              <a:t>File x Tableau/          export per la dashboard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8E6DD"/>
                </a:solidFill>
                <a:latin typeface="Consolas"/>
              </a:rPr>
              <a:t>presentazione/           slide, grafici, relazione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417320"/>
            <a:ext cx="4114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 i="0">
                <a:solidFill>
                  <a:srgbClr val="5B6670"/>
                </a:solidFill>
                <a:latin typeface="Calibri"/>
              </a:rPr>
              <a:t>Il repository segue la stessa separazione logica dell'architettura BI: data/raw rispecchia lo schema raw, data/presentation lo schema presentation, e ogni indicatore ha una cartella dedicata che isola i suoi output da quelli degli altri notebook. File x Tableau/ è l'unico punto di contatto esplicito con la dashboard BI.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Autori e contributi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Autori e contributi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48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i="1">
                <a:solidFill>
                  <a:srgbClr val="5B6670"/>
                </a:solidFill>
                <a:latin typeface="Calibri"/>
              </a:rPr>
              <a:t>Commit per autore sul repository locale (git shortlog), a titolo indicativo dell'attività di versionamento — non del solo lavoro di analisi.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Alessandro Cravidi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093976"/>
            <a:ext cx="6858000" cy="29260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20574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B2A3A"/>
                </a:solidFill>
                <a:latin typeface="Calibri"/>
              </a:rPr>
              <a:t>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Giuseppe Gatto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779776"/>
            <a:ext cx="4071937" cy="29260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5217" y="27432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B2A3A"/>
                </a:solidFill>
                <a:latin typeface="Calibri"/>
              </a:rPr>
              <a:t>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290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Davide Colucci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465576"/>
            <a:ext cx="3643312" cy="29260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26592" y="34290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B2A3A"/>
                </a:solidFill>
                <a:latin typeface="Calibri"/>
              </a:rPr>
              <a:t>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1B2A3A"/>
                </a:solidFill>
                <a:latin typeface="Calibri"/>
              </a:rPr>
              <a:t>Matteo Rovedo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4151376"/>
            <a:ext cx="1714500" cy="292608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97780" y="4114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1B2A3A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074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1">
                <a:solidFill>
                  <a:srgbClr val="5B6670"/>
                </a:solidFill>
                <a:latin typeface="Calibri"/>
              </a:rPr>
              <a:t>Nota: Davide Colucci ha commesso da due account (Davide, David-KDW-999): i due totali sono qui accorpati (15 + 2 = 17).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1F7A8C"/>
                </a:solidFill>
                <a:latin typeface="Calibri"/>
              </a:rPr>
              <a:t>CHIUSURA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700" b="1" i="0">
                <a:solidFill>
                  <a:srgbClr val="1B2A3A"/>
                </a:solidFill>
                <a:latin typeface="Calibri"/>
              </a:rPr>
              <a:t>Conclusioni e sviluppi futuri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207008"/>
            <a:ext cx="11185855" cy="0"/>
          </a:xfrm>
          <a:prstGeom prst="line">
            <a:avLst/>
          </a:prstGeom>
          <a:ln w="15875">
            <a:solidFill>
              <a:srgbClr val="ECE9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Conclusioni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7395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5B6670"/>
                </a:solidFill>
                <a:latin typeface="Calibri"/>
              </a:rPr>
              <a:t>49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50" b="1" i="0">
                <a:solidFill>
                  <a:srgbClr val="1B2A3A"/>
                </a:solidFill>
                <a:latin typeface="Calibri"/>
              </a:rPr>
              <a:t>Un modello di lettura, non solo una fotografia: gli indici costruiti permettono di seguire l'evoluzione anno su anno, comune per comune, distinguendo pressione turistica, attrattività strutturale e sostenibilità del mercato abitativo come dimensioni distinte ma collegate.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10789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Aggiornamento periodico degli indici, per trasformarli da analisi one-off a strumento di monitoraggio continuo per le istituzioni sarde.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Versionamento del workbook Tableau (o migrazione dei suoi grafici in Python) per chiudere il gap fra pipeline dati e dashboard.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Validazione automatica dei risultati (soglie di plausibilità, test di regressione sui top/bottom comuni) per intercettare bias come quelli corretti in questo lavoro prima della pubblicazione.</a:t>
            </a:r>
          </a:p>
          <a:p>
            <a:pPr algn="l" marL="0" indent="0">
              <a:lnSpc>
                <a:spcPct val="108000"/>
              </a:lnSpc>
              <a:spcAft>
                <a:spcPts val="1000"/>
              </a:spcAft>
            </a:pPr>
            <a:r>
              <a:rPr sz="1450" b="0">
                <a:solidFill>
                  <a:srgbClr val="1B2A3A"/>
                </a:solidFill>
                <a:latin typeface="Calibri"/>
              </a:rPr>
              <a:t>—  Estensione della finestra di osservazione oltre il 2022–2025 e integrazione di ulteriori fonti (es. dati meteo, eventi) per arricchire l'interpretazione della stagionalità.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5176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Grazie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5661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>
                <a:solidFill>
                  <a:srgbClr val="7EC8B9"/>
                </a:solidFill>
                <a:latin typeface="Calibri"/>
              </a:rPr>
              <a:t>github.com/AlessandroCravidi/sardegna-overtourism-aida26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C7CED3"/>
                </a:solidFill>
                <a:latin typeface="Calibri"/>
              </a:rPr>
              <a:t>Davide Colucci · Alessandro Cravidi · Giuseppe Gatto · Matteo Rovedo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7215" y="635508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A969E"/>
                </a:solidFill>
                <a:latin typeface="Calibri"/>
              </a:rPr>
              <a:t>50 /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