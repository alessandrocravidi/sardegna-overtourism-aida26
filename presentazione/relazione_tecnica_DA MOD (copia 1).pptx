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C64E6-453D-44BB-8410-9A6C89FED92A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FEF4F-9F43-4152-975C-72A07F3385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2933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8a346b7a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g3f8a346b7a1_0_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" name="Google Shape;27;g3f8a346b7a1_0_1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a346b7a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f8a346b7a1_0_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" name="Google Shape;54;g3f8a346b7a1_0_4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9b6d92d7a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409b6d92d7a_3_1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409b6d92d7a_3_13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a346b7a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f8a346b7a1_0_15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8a346b7a1_0_15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09b77e88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409b77e888c_0_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409b77e888c_0_0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8a346b7a1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f8a346b7a1_0_21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g3f8a346b7a1_0_215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hyperlink" Target="https://dapper-torte-fc18ba.netlify.app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hyperlink" Target="https://github.com/AlessandroCravidi/sardegna-overtourism-aida26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1F7A8C"/>
                </a:solidFill>
                <a:latin typeface="Calibri"/>
              </a:rPr>
              <a:t>RELAZIONE TECNICA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Overtourism in Sardegna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7CED3"/>
                </a:solidFill>
                <a:latin typeface="Calibri"/>
              </a:rPr>
              <a:t>Una pipeline ETL e un sistema di indicatori per misurare la pressione turistica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7CED3"/>
                </a:solidFill>
                <a:latin typeface="Calibri"/>
              </a:rPr>
              <a:t>e l'attrattività dei comuni sardi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9AA6AE"/>
                </a:solidFill>
                <a:latin typeface="Calibri"/>
              </a:rPr>
              <a:t>Master AIDA26 — Artificial Intelligence &amp; Data Analytics for Business · Modulo ETL &amp; Data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Davide Colucci · Alessandro Cravidi · Giuseppe Gatto · Matteo Rovedo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9AA6AE"/>
                </a:solidFill>
                <a:latin typeface="Calibri"/>
              </a:rPr>
              <a:t>02/09/2026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01 / 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362175" y="6293950"/>
            <a:ext cx="34527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PROJECT WORK  - GRUPPO 3 - A.A. 2026/2027</a:t>
            </a:r>
            <a:endParaRPr sz="1200" b="1" i="0" u="none" strike="noStrike" cap="none">
              <a:solidFill>
                <a:srgbClr val="9FD1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Artificial Intelligent &amp; Data Analytics for Business</a:t>
            </a:r>
            <a:endParaRPr sz="1200" b="1" i="0" u="none" strike="noStrike" cap="none">
              <a:solidFill>
                <a:srgbClr val="9FD1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title="ima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75" y="279325"/>
            <a:ext cx="802975" cy="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title="logoist_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5150" y="279325"/>
            <a:ext cx="802975" cy="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1750" y="1451900"/>
            <a:ext cx="5805476" cy="39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9949025" y="5735350"/>
            <a:ext cx="16782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Davide Colucci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Alessandro Cravidi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Giuseppe Gatto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Matteo Rovedo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COPERTINA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152" y="647395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670"/>
                </a:solidFill>
                <a:latin typeface="Calibri"/>
              </a:rPr>
              <a:t>02 / 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75" y="2548250"/>
            <a:ext cx="5459700" cy="137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3A"/>
                </a:solidFill>
                <a:latin typeface="Calibri"/>
              </a:rPr>
              <a:t>Overtourism in Sardegna:
Una mappa per identificare le criticità e le opportunità di miglioramento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g3f8a346b7a1_0_1"/>
          <p:cNvGrpSpPr/>
          <p:nvPr/>
        </p:nvGrpSpPr>
        <p:grpSpPr>
          <a:xfrm>
            <a:off x="5417125" y="1236669"/>
            <a:ext cx="264649" cy="235957"/>
            <a:chOff x="741280" y="1985783"/>
            <a:chExt cx="357007" cy="318302"/>
          </a:xfrm>
        </p:grpSpPr>
        <p:sp>
          <p:nvSpPr>
            <p:cNvPr id="31" name="Google Shape;31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endParaRPr sz="11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g3f8a346b7a1_0_1"/>
          <p:cNvGrpSpPr/>
          <p:nvPr/>
        </p:nvGrpSpPr>
        <p:grpSpPr>
          <a:xfrm>
            <a:off x="5417125" y="2510994"/>
            <a:ext cx="264649" cy="235957"/>
            <a:chOff x="741280" y="1985783"/>
            <a:chExt cx="357007" cy="318302"/>
          </a:xfrm>
        </p:grpSpPr>
        <p:sp>
          <p:nvSpPr>
            <p:cNvPr id="34" name="Google Shape;34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endParaRPr sz="11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g3f8a346b7a1_0_1"/>
          <p:cNvGrpSpPr/>
          <p:nvPr/>
        </p:nvGrpSpPr>
        <p:grpSpPr>
          <a:xfrm>
            <a:off x="5417125" y="3785319"/>
            <a:ext cx="264649" cy="235957"/>
            <a:chOff x="741280" y="1985783"/>
            <a:chExt cx="357007" cy="318302"/>
          </a:xfrm>
        </p:grpSpPr>
        <p:sp>
          <p:nvSpPr>
            <p:cNvPr id="37" name="Google Shape;37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endParaRPr sz="11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g3f8a346b7a1_0_1"/>
          <p:cNvGrpSpPr/>
          <p:nvPr/>
        </p:nvGrpSpPr>
        <p:grpSpPr>
          <a:xfrm>
            <a:off x="5417125" y="4633194"/>
            <a:ext cx="264649" cy="235957"/>
            <a:chOff x="741280" y="1985783"/>
            <a:chExt cx="357007" cy="318302"/>
          </a:xfrm>
        </p:grpSpPr>
        <p:sp>
          <p:nvSpPr>
            <p:cNvPr id="40" name="Google Shape;40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endParaRPr sz="11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" name="Google Shape;42;g3f8a346b7a1_0_1" title="images.jpg"/>
          <p:cNvPicPr preferRelativeResize="0"/>
          <p:nvPr/>
        </p:nvPicPr>
        <p:blipFill rotWithShape="1">
          <a:blip r:embed="rId3">
            <a:alphaModFix/>
          </a:blip>
          <a:srcRect t="-67348" b="28343"/>
          <a:stretch/>
        </p:blipFill>
        <p:spPr>
          <a:xfrm>
            <a:off x="821225" y="2199188"/>
            <a:ext cx="3662800" cy="382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g3f8a346b7a1_0_1" title="images (1).jpg"/>
          <p:cNvPicPr preferRelativeResize="0"/>
          <p:nvPr/>
        </p:nvPicPr>
        <p:blipFill rotWithShape="1">
          <a:blip r:embed="rId4">
            <a:alphaModFix/>
          </a:blip>
          <a:srcRect b="9058"/>
          <a:stretch/>
        </p:blipFill>
        <p:spPr>
          <a:xfrm>
            <a:off x="1637325" y="1341175"/>
            <a:ext cx="2030600" cy="2318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Google Shape;44;g3f8a346b7a1_0_1"/>
          <p:cNvCxnSpPr/>
          <p:nvPr/>
        </p:nvCxnSpPr>
        <p:spPr>
          <a:xfrm>
            <a:off x="627975" y="745775"/>
            <a:ext cx="34989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g3f8a346b7a1_0_1"/>
          <p:cNvSpPr/>
          <p:nvPr/>
        </p:nvSpPr>
        <p:spPr>
          <a:xfrm>
            <a:off x="627978" y="6463150"/>
            <a:ext cx="302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8a346b7a1_0_1"/>
          <p:cNvSpPr/>
          <p:nvPr/>
        </p:nvSpPr>
        <p:spPr>
          <a:xfrm>
            <a:off x="10684285" y="6463155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03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g3f8a346b7a1_0_1"/>
          <p:cNvGrpSpPr/>
          <p:nvPr/>
        </p:nvGrpSpPr>
        <p:grpSpPr>
          <a:xfrm>
            <a:off x="5417125" y="5481069"/>
            <a:ext cx="264649" cy="235957"/>
            <a:chOff x="741280" y="1985783"/>
            <a:chExt cx="357007" cy="318302"/>
          </a:xfrm>
        </p:grpSpPr>
        <p:sp>
          <p:nvSpPr>
            <p:cNvPr id="48" name="Google Shape;48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endParaRPr sz="11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g3f8a346b7a1_0_1"/>
          <p:cNvSpPr txBox="1"/>
          <p:nvPr/>
        </p:nvSpPr>
        <p:spPr>
          <a:xfrm>
            <a:off x="5681775" y="1156275"/>
            <a:ext cx="5221800" cy="48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di Overtourism: un indice comune per comune - su densità turistica, intensità turistica, utilizzazione lorda e densità ricettiva - in grado di quantificare quanto il turismo eccede la capacità del territorio e segnalare la sua crescita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di Attrattività dei comuni: valutare il potenziale turistico di ciascun territorio i punti di interesse presenti ( turismo, natura, ristorazione, servizi e infrastrutture) per confrontarlo con il livello di Overtourism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Stimare il sommerso turistico: misurare quanta parte dei flussi turistici sfugge alle statistiche ufficiali e come evolve nel tempo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Fornire uno strumento operativo: tradurre gli indici in una base dati aggiornabile e utile alle istituzioni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Individuare delle Gemme nascoste contrapponendo l’indice di Overtourism con l'indice di Attrattività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OBIETTIVI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75" y="585216"/>
            <a:ext cx="4025100" cy="42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Obiettivi dell’analisi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a346b7a1_0_44"/>
          <p:cNvSpPr/>
          <p:nvPr/>
        </p:nvSpPr>
        <p:spPr>
          <a:xfrm>
            <a:off x="375928" y="6482300"/>
            <a:ext cx="299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8a346b7a1_0_44"/>
          <p:cNvSpPr txBox="1"/>
          <p:nvPr/>
        </p:nvSpPr>
        <p:spPr>
          <a:xfrm>
            <a:off x="565525" y="2731300"/>
            <a:ext cx="2998200" cy="1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Utilizzata per l'anagrafica dei comuni (Elenco comuni italiani, dato statistico), il bilancio demografico comunale (popolazione residente, aggiornamento annuale) e le statistiche geografiche su comuni (superficie, dato statico)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g3f8a346b7a1_0_44" title="image_pre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2975" y="1799025"/>
            <a:ext cx="1423300" cy="5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f8a346b7a1_0_44" title="Sardegna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8100" y="998613"/>
            <a:ext cx="1064975" cy="13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a346b7a1_0_44"/>
          <p:cNvSpPr txBox="1"/>
          <p:nvPr/>
        </p:nvSpPr>
        <p:spPr>
          <a:xfrm>
            <a:off x="4873988" y="2685375"/>
            <a:ext cx="2893200" cy="19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 ufficiale dei dati regionali: dall'Osservatorio del Turismo, tramite il sistema SIRED, abbiamo recuperato i dati per gli arrivi e le presenze ufficiali (aggiornamento mensile) e per la capacità delle strutture ricettive (aggiornamento annuale) e sardegnamobilità per i flussi giornalieri di porti e aeroporti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g3f8a346b7a1_0_44"/>
          <p:cNvCxnSpPr/>
          <p:nvPr/>
        </p:nvCxnSpPr>
        <p:spPr>
          <a:xfrm rot="10800000" flipH="1">
            <a:off x="583525" y="798100"/>
            <a:ext cx="2583000" cy="171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g3f8a346b7a1_0_44"/>
          <p:cNvSpPr/>
          <p:nvPr/>
        </p:nvSpPr>
        <p:spPr>
          <a:xfrm>
            <a:off x="10661335" y="6482305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04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f8a346b7a1_0_44"/>
          <p:cNvSpPr/>
          <p:nvPr/>
        </p:nvSpPr>
        <p:spPr>
          <a:xfrm>
            <a:off x="2954043" y="5091695"/>
            <a:ext cx="2521800" cy="1234200"/>
          </a:xfrm>
          <a:prstGeom prst="roundRect">
            <a:avLst>
              <a:gd name="adj" fmla="val 5926"/>
            </a:avLst>
          </a:prstGeom>
          <a:solidFill>
            <a:srgbClr val="F3F6F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8a346b7a1_0_44"/>
          <p:cNvSpPr/>
          <p:nvPr/>
        </p:nvSpPr>
        <p:spPr>
          <a:xfrm>
            <a:off x="3118563" y="5237855"/>
            <a:ext cx="21927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377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a346b7a1_0_44"/>
          <p:cNvSpPr/>
          <p:nvPr/>
        </p:nvSpPr>
        <p:spPr>
          <a:xfrm>
            <a:off x="3118563" y="5750135"/>
            <a:ext cx="21927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 sardi analizzati = 100%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8a346b7a1_0_44"/>
          <p:cNvSpPr/>
          <p:nvPr/>
        </p:nvSpPr>
        <p:spPr>
          <a:xfrm>
            <a:off x="5894048" y="5091695"/>
            <a:ext cx="2521800" cy="1234200"/>
          </a:xfrm>
          <a:prstGeom prst="roundRect">
            <a:avLst>
              <a:gd name="adj" fmla="val 5926"/>
            </a:avLst>
          </a:prstGeom>
          <a:solidFill>
            <a:srgbClr val="F3F6F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f8a346b7a1_0_44"/>
          <p:cNvSpPr/>
          <p:nvPr/>
        </p:nvSpPr>
        <p:spPr>
          <a:xfrm>
            <a:off x="6058568" y="5237855"/>
            <a:ext cx="21927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2022–25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8a346b7a1_0_44"/>
          <p:cNvSpPr/>
          <p:nvPr/>
        </p:nvSpPr>
        <p:spPr>
          <a:xfrm>
            <a:off x="6058568" y="5750135"/>
            <a:ext cx="21927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Periodo di osservazione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g3f8a346b7a1_0_44" title="NEU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57300" y="1386800"/>
            <a:ext cx="1423299" cy="9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f8a346b7a1_0_44"/>
          <p:cNvSpPr txBox="1"/>
          <p:nvPr/>
        </p:nvSpPr>
        <p:spPr>
          <a:xfrm>
            <a:off x="9077450" y="2685375"/>
            <a:ext cx="2583000" cy="19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OpenStreetMap è una mappa geografica mondiale, costruita e aggiornata da una comunità di volontari, con dati liberamente consultabili e riutilizzabili. L'abbiamo utilizzata come fonte dei punti di interesse (POI) presenti sul territorio sardo, raggruppati in cinque pilastri - turismo, natura, ristorazione, servizi, infrastrutture - con cui abbiamo costruito l'indice di Attrattività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FONTI DATI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8025" y="585216"/>
            <a:ext cx="2893200" cy="42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Fonti utilizzate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0649860" y="6473880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05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2"/>
          <p:cNvCxnSpPr/>
          <p:nvPr/>
        </p:nvCxnSpPr>
        <p:spPr>
          <a:xfrm>
            <a:off x="640075" y="947025"/>
            <a:ext cx="5419200" cy="54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2"/>
          <p:cNvSpPr/>
          <p:nvPr/>
        </p:nvSpPr>
        <p:spPr>
          <a:xfrm>
            <a:off x="640075" y="2272250"/>
            <a:ext cx="3041100" cy="325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40075" y="1847150"/>
            <a:ext cx="3041100" cy="4251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2"/>
          <p:cNvCxnSpPr>
            <a:stCxn id="81" idx="1"/>
            <a:endCxn id="81" idx="3"/>
          </p:cNvCxnSpPr>
          <p:nvPr/>
        </p:nvCxnSpPr>
        <p:spPr>
          <a:xfrm>
            <a:off x="640075" y="3901850"/>
            <a:ext cx="3041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4" name="Google Shape;84;p2"/>
          <p:cNvSpPr/>
          <p:nvPr/>
        </p:nvSpPr>
        <p:spPr>
          <a:xfrm>
            <a:off x="4562300" y="2244624"/>
            <a:ext cx="3041100" cy="3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562300" y="1817225"/>
            <a:ext cx="3041100" cy="4275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ETL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484550" y="2254624"/>
            <a:ext cx="3041100" cy="3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484550" y="1827225"/>
            <a:ext cx="3041100" cy="4275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ANALYSIS &amp; VISUALIZATION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913875" y="2455850"/>
            <a:ext cx="8241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ISTAT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524625" y="4031275"/>
            <a:ext cx="17379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Regione Sardegna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2" title="imag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2927748"/>
            <a:ext cx="549700" cy="5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title="imag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505098"/>
            <a:ext cx="549700" cy="5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3920888" y="3756125"/>
            <a:ext cx="401700" cy="27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7843113" y="3756125"/>
            <a:ext cx="401700" cy="27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1999975" y="3166975"/>
            <a:ext cx="321300" cy="173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999975" y="4693100"/>
            <a:ext cx="321300" cy="173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596971" y="3806225"/>
            <a:ext cx="216600" cy="173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 title="images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3539" y="3041264"/>
            <a:ext cx="1045598" cy="4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98" name="Google Shape;98;p2" title="images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3539" y="4567389"/>
            <a:ext cx="1045598" cy="4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99" name="Google Shape;99;p2" title="images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2973" y="3697071"/>
            <a:ext cx="1045575" cy="4251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5350821" y="3796213"/>
            <a:ext cx="216600" cy="173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" title="python-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52088" y="3563313"/>
            <a:ext cx="677075" cy="6770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2" name="Google Shape;102;p2" title="duckdb_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35888" y="3544538"/>
            <a:ext cx="677075" cy="67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"/>
          <p:cNvCxnSpPr/>
          <p:nvPr/>
        </p:nvCxnSpPr>
        <p:spPr>
          <a:xfrm>
            <a:off x="8484550" y="3901850"/>
            <a:ext cx="3041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04" name="Google Shape;104;p2"/>
          <p:cNvSpPr txBox="1"/>
          <p:nvPr/>
        </p:nvSpPr>
        <p:spPr>
          <a:xfrm>
            <a:off x="9282600" y="2375150"/>
            <a:ext cx="1806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esplorativa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087950" y="3990925"/>
            <a:ext cx="2165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Visualizzazione del deck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 title="matplotlib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44925" y="2668449"/>
            <a:ext cx="1045575" cy="10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title="tableau-software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5752" y="4319075"/>
            <a:ext cx="984750" cy="984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PIPELINE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75" y="585216"/>
            <a:ext cx="5487900" cy="42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2A3A"/>
                </a:solidFill>
                <a:latin typeface="Calibri"/>
              </a:rPr>
              <a:t>Come abbiamo costruito la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502920" y="292608"/>
            <a:ext cx="822960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50" b="1" i="0" u="none" strike="noStrike" cap="non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SOMMERSO TURISTICO</a:t>
            </a:r>
            <a:r>
              <a:rPr lang="en-US" sz="1150" b="1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938125" y="1660000"/>
            <a:ext cx="2808900" cy="12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lang="en-US" sz="6800" b="1" i="0" u="none" strike="noStrike" cap="non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36,5%</a:t>
            </a:r>
            <a:endParaRPr sz="6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98225" y="3137241"/>
            <a:ext cx="3488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flusso fisico via porti e aeroporti nel 2025 non risulta nei dati ufficiali (SIRED). Gli arrivi registrati crescono però più velocemente (+40,5%) del flusso fisico totale (+17,8%).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98224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46,8%</a:t>
            </a:r>
            <a:endParaRPr sz="17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sz="19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338850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46,4%</a:t>
            </a:r>
            <a:endParaRPr sz="17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sz="19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079475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42,6%</a:t>
            </a:r>
            <a:endParaRPr sz="17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9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827924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36,5%</a:t>
            </a:r>
            <a:endParaRPr sz="17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1900" b="1" i="0" u="none" strike="noStrike" cap="non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57928" y="6473875"/>
            <a:ext cx="2949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06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3">
            <a:alphaModFix/>
          </a:blip>
          <a:srcRect t="7749"/>
          <a:stretch/>
        </p:blipFill>
        <p:spPr>
          <a:xfrm>
            <a:off x="4804101" y="1472100"/>
            <a:ext cx="6747232" cy="4621124"/>
          </a:xfrm>
          <a:prstGeom prst="rect">
            <a:avLst/>
          </a:prstGeom>
          <a:solidFill>
            <a:srgbClr val="EAF1F3"/>
          </a:solidFill>
          <a:ln w="19050" cap="flat" cmpd="sng">
            <a:solidFill>
              <a:srgbClr val="1C7293"/>
            </a:solidFill>
            <a:prstDash val="dash"/>
            <a:round/>
            <a:headEnd type="none" w="sm" len="sm"/>
            <a:tailEnd type="none" w="sm" len="sm"/>
          </a:ln>
        </p:spPr>
      </p:pic>
      <p:cxnSp>
        <p:nvCxnSpPr>
          <p:cNvPr id="124" name="Google Shape;124;p15"/>
          <p:cNvCxnSpPr/>
          <p:nvPr/>
        </p:nvCxnSpPr>
        <p:spPr>
          <a:xfrm>
            <a:off x="640075" y="1212000"/>
            <a:ext cx="102504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TextBox 124"/>
          <p:cNvSpPr txBox="1"/>
          <p:nvPr/>
        </p:nvSpPr>
        <p:spPr>
          <a:xfrm>
            <a:off x="640075" y="731525"/>
            <a:ext cx="10250400" cy="68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Più di un terzo dei turisti reali non compare nei dati ufficiali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09b6d92d7a_3_13"/>
          <p:cNvSpPr/>
          <p:nvPr/>
        </p:nvSpPr>
        <p:spPr>
          <a:xfrm>
            <a:off x="640000" y="991950"/>
            <a:ext cx="100167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Overtourism per comune, seguito nei quattro anni di osservazione, individua dove la pressione è cresciuta più velocemente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409b6d92d7a_3_13"/>
          <p:cNvSpPr/>
          <p:nvPr/>
        </p:nvSpPr>
        <p:spPr>
          <a:xfrm>
            <a:off x="642816" y="6463367"/>
            <a:ext cx="75954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409b6d92d7a_3_13"/>
          <p:cNvSpPr/>
          <p:nvPr/>
        </p:nvSpPr>
        <p:spPr>
          <a:xfrm>
            <a:off x="10738540" y="6463367"/>
            <a:ext cx="12339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07 / 65</a:t>
            </a:r>
            <a:endParaRPr sz="10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409b6d92d7a_3_13"/>
          <p:cNvSpPr/>
          <p:nvPr/>
        </p:nvSpPr>
        <p:spPr>
          <a:xfrm>
            <a:off x="642728" y="1451871"/>
            <a:ext cx="4842300" cy="960900"/>
          </a:xfrm>
          <a:prstGeom prst="roundRect">
            <a:avLst>
              <a:gd name="adj" fmla="val 6250"/>
            </a:avLst>
          </a:prstGeom>
          <a:solidFill>
            <a:srgbClr val="E8F1F5"/>
          </a:solidFill>
          <a:ln w="987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409b6d92d7a_3_13"/>
          <p:cNvSpPr txBox="1"/>
          <p:nvPr/>
        </p:nvSpPr>
        <p:spPr>
          <a:xfrm>
            <a:off x="1190591" y="1462826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lang="en-US" sz="12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Densità Turistica</a:t>
            </a:r>
            <a:endParaRPr sz="129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409b6d92d7a_3_13"/>
          <p:cNvSpPr txBox="1"/>
          <p:nvPr/>
        </p:nvSpPr>
        <p:spPr>
          <a:xfrm>
            <a:off x="1224078" y="1702995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turistiche per km² di superficie comunale: misura il carico fisico di persone sul territorio.</a:t>
            </a:r>
            <a:endParaRPr sz="1142" b="0" i="0" u="none" strike="noStrike" cap="none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1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/ Superficie</a:t>
            </a:r>
            <a:endParaRPr sz="986" b="1" i="0" u="none" strike="noStrike" cap="none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409b6d92d7a_3_13"/>
          <p:cNvSpPr/>
          <p:nvPr/>
        </p:nvSpPr>
        <p:spPr>
          <a:xfrm>
            <a:off x="5485217" y="3636980"/>
            <a:ext cx="505200" cy="210000"/>
          </a:xfrm>
          <a:prstGeom prst="downArrow">
            <a:avLst>
              <a:gd name="adj1" fmla="val 50985"/>
              <a:gd name="adj2" fmla="val 50000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409b6d92d7a_3_13"/>
          <p:cNvSpPr/>
          <p:nvPr/>
        </p:nvSpPr>
        <p:spPr>
          <a:xfrm>
            <a:off x="642863" y="3862235"/>
            <a:ext cx="10190100" cy="6159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87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409b6d92d7a_3_13"/>
          <p:cNvSpPr txBox="1"/>
          <p:nvPr/>
        </p:nvSpPr>
        <p:spPr>
          <a:xfrm>
            <a:off x="1190591" y="3882739"/>
            <a:ext cx="93897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4"/>
              <a:buFont typeface="Calibri"/>
              <a:buNone/>
            </a:pPr>
            <a:r>
              <a:rPr lang="en-US" sz="1454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Normalizzazione — Winsor p99 + Min-Max</a:t>
            </a:r>
            <a:endParaRPr sz="145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409b6d92d7a_3_13"/>
          <p:cNvSpPr txBox="1"/>
          <p:nvPr/>
        </p:nvSpPr>
        <p:spPr>
          <a:xfrm>
            <a:off x="1190591" y="4177596"/>
            <a:ext cx="93897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lang="en-US" sz="1194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Le ancore (minimo, cap al 99° percentile) sono calcolate una sola volta e congelate: l'indice resta confrontabile quando si aggiungono nuovi anni.</a:t>
            </a:r>
            <a:endParaRPr sz="119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409b6d92d7a_3_13"/>
          <p:cNvSpPr/>
          <p:nvPr/>
        </p:nvSpPr>
        <p:spPr>
          <a:xfrm>
            <a:off x="5485217" y="4507967"/>
            <a:ext cx="505200" cy="195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409b6d92d7a_3_13"/>
          <p:cNvSpPr/>
          <p:nvPr/>
        </p:nvSpPr>
        <p:spPr>
          <a:xfrm>
            <a:off x="642863" y="4733221"/>
            <a:ext cx="10190100" cy="6159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87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409b6d92d7a_3_13"/>
          <p:cNvSpPr txBox="1"/>
          <p:nvPr/>
        </p:nvSpPr>
        <p:spPr>
          <a:xfrm>
            <a:off x="1224078" y="4753728"/>
            <a:ext cx="93561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4"/>
              <a:buFont typeface="Calibri"/>
              <a:buNone/>
            </a:pPr>
            <a:r>
              <a:rPr lang="en-US" sz="1454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Gestione dei dati mancanti — missing ≠ zero</a:t>
            </a:r>
            <a:endParaRPr sz="145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409b6d92d7a_3_13"/>
          <p:cNvSpPr txBox="1"/>
          <p:nvPr/>
        </p:nvSpPr>
        <p:spPr>
          <a:xfrm>
            <a:off x="1224078" y="5048585"/>
            <a:ext cx="9356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lang="en-US" sz="1194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Scaffold pieno sui 377 comuni (da Densità Ricettiva). Comuni senza presenze registrate: valore mancante escluso dal calcolo, mai confuso con uno zero vero.</a:t>
            </a:r>
            <a:endParaRPr sz="119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409b6d92d7a_3_13"/>
          <p:cNvSpPr/>
          <p:nvPr/>
        </p:nvSpPr>
        <p:spPr>
          <a:xfrm>
            <a:off x="5485217" y="5378954"/>
            <a:ext cx="505200" cy="195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g409b6d92d7a_3_13"/>
          <p:cNvGrpSpPr/>
          <p:nvPr/>
        </p:nvGrpSpPr>
        <p:grpSpPr>
          <a:xfrm>
            <a:off x="747869" y="1767025"/>
            <a:ext cx="370673" cy="330491"/>
            <a:chOff x="741287" y="1985785"/>
            <a:chExt cx="357000" cy="318300"/>
          </a:xfrm>
        </p:grpSpPr>
        <p:sp>
          <p:nvSpPr>
            <p:cNvPr id="147" name="Google Shape;147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4925" tIns="94925" rIns="94925" bIns="94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lang="en-US" sz="1558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5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g409b6d92d7a_3_13"/>
          <p:cNvSpPr/>
          <p:nvPr/>
        </p:nvSpPr>
        <p:spPr>
          <a:xfrm>
            <a:off x="6017290" y="1451871"/>
            <a:ext cx="4842300" cy="960900"/>
          </a:xfrm>
          <a:prstGeom prst="roundRect">
            <a:avLst>
              <a:gd name="adj" fmla="val 6250"/>
            </a:avLst>
          </a:prstGeom>
          <a:solidFill>
            <a:srgbClr val="E8F1F5"/>
          </a:solidFill>
          <a:ln w="987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endParaRPr sz="145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409b6d92d7a_3_13"/>
          <p:cNvSpPr txBox="1"/>
          <p:nvPr/>
        </p:nvSpPr>
        <p:spPr>
          <a:xfrm>
            <a:off x="6565153" y="1462826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lang="en-US" sz="12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Intensità Turistica</a:t>
            </a:r>
            <a:endParaRPr sz="129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409b6d92d7a_3_13"/>
          <p:cNvSpPr txBox="1"/>
          <p:nvPr/>
        </p:nvSpPr>
        <p:spPr>
          <a:xfrm>
            <a:off x="6565153" y="1682708"/>
            <a:ext cx="4138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Quantifica il rapporto tra flusso turistico e popolazione locale.</a:t>
            </a:r>
            <a:endParaRPr sz="1142" b="0" i="0" u="none" strike="noStrike" cap="none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1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/ Popolazione residente</a:t>
            </a:r>
            <a:endParaRPr sz="986" b="0" i="0" u="none" strike="noStrike" cap="none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g409b6d92d7a_3_13"/>
          <p:cNvGrpSpPr/>
          <p:nvPr/>
        </p:nvGrpSpPr>
        <p:grpSpPr>
          <a:xfrm>
            <a:off x="6122432" y="1767025"/>
            <a:ext cx="370673" cy="330491"/>
            <a:chOff x="741287" y="1985785"/>
            <a:chExt cx="357000" cy="318300"/>
          </a:xfrm>
        </p:grpSpPr>
        <p:sp>
          <p:nvSpPr>
            <p:cNvPr id="153" name="Google Shape;153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4925" tIns="94925" rIns="94925" bIns="94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lang="en-US" sz="1558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5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409b6d92d7a_3_13"/>
          <p:cNvSpPr/>
          <p:nvPr/>
        </p:nvSpPr>
        <p:spPr>
          <a:xfrm>
            <a:off x="642728" y="2538966"/>
            <a:ext cx="4842300" cy="960900"/>
          </a:xfrm>
          <a:prstGeom prst="roundRect">
            <a:avLst>
              <a:gd name="adj" fmla="val 6250"/>
            </a:avLst>
          </a:prstGeom>
          <a:solidFill>
            <a:srgbClr val="E8F1F5"/>
          </a:solidFill>
          <a:ln w="987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endParaRPr sz="145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409b6d92d7a_3_13"/>
          <p:cNvSpPr txBox="1"/>
          <p:nvPr/>
        </p:nvSpPr>
        <p:spPr>
          <a:xfrm>
            <a:off x="1190591" y="2549920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lang="en-US" sz="12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Densità Ricettiva</a:t>
            </a:r>
            <a:endParaRPr sz="129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409b6d92d7a_3_13"/>
          <p:cNvSpPr txBox="1"/>
          <p:nvPr/>
        </p:nvSpPr>
        <p:spPr>
          <a:xfrm>
            <a:off x="1224078" y="2790089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turistiche per km² di superficie comunale: Misura la pressione delle infrastrutture ricettive sul territorio</a:t>
            </a:r>
            <a:endParaRPr sz="1142" b="0" i="0" u="none" strike="noStrike" cap="none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1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Letti totali / Superficie</a:t>
            </a:r>
            <a:endParaRPr sz="1142" b="0" i="0" u="none" strike="noStrike" cap="none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g409b6d92d7a_3_13"/>
          <p:cNvGrpSpPr/>
          <p:nvPr/>
        </p:nvGrpSpPr>
        <p:grpSpPr>
          <a:xfrm>
            <a:off x="747869" y="2854119"/>
            <a:ext cx="370673" cy="330491"/>
            <a:chOff x="741287" y="1985785"/>
            <a:chExt cx="357000" cy="318300"/>
          </a:xfrm>
        </p:grpSpPr>
        <p:sp>
          <p:nvSpPr>
            <p:cNvPr id="159" name="Google Shape;159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4925" tIns="94925" rIns="94925" bIns="94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lang="en-US" sz="1558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5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g409b6d92d7a_3_13"/>
          <p:cNvSpPr/>
          <p:nvPr/>
        </p:nvSpPr>
        <p:spPr>
          <a:xfrm>
            <a:off x="6017290" y="2547454"/>
            <a:ext cx="4842300" cy="960900"/>
          </a:xfrm>
          <a:prstGeom prst="roundRect">
            <a:avLst>
              <a:gd name="adj" fmla="val 6250"/>
            </a:avLst>
          </a:prstGeom>
          <a:solidFill>
            <a:srgbClr val="E8F1F5"/>
          </a:solidFill>
          <a:ln w="987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endParaRPr sz="145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409b6d92d7a_3_13"/>
          <p:cNvSpPr txBox="1"/>
          <p:nvPr/>
        </p:nvSpPr>
        <p:spPr>
          <a:xfrm>
            <a:off x="6565153" y="2558409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lang="en-US" sz="1142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Utilizzazione Lorda</a:t>
            </a:r>
            <a:endParaRPr sz="12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409b6d92d7a_3_13"/>
          <p:cNvSpPr txBox="1"/>
          <p:nvPr/>
        </p:nvSpPr>
        <p:spPr>
          <a:xfrm>
            <a:off x="6565153" y="2782587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Misura quanto la capacità ricettiva è effettivamente satura nel periodo, espresso in % non superiore al 100</a:t>
            </a:r>
            <a:endParaRPr sz="1142" b="0" i="0" u="none" strike="noStrike" cap="none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2"/>
              <a:buFont typeface="Arial"/>
              <a:buNone/>
            </a:pPr>
            <a:r>
              <a:rPr lang="en-US" sz="1142" b="1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/ (posti letto disponibili * 365) %</a:t>
            </a:r>
            <a:endParaRPr sz="1142" b="1" i="0" u="none" strike="noStrike" cap="none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g409b6d92d7a_3_13"/>
          <p:cNvGrpSpPr/>
          <p:nvPr/>
        </p:nvGrpSpPr>
        <p:grpSpPr>
          <a:xfrm>
            <a:off x="6122432" y="2862608"/>
            <a:ext cx="370673" cy="330491"/>
            <a:chOff x="741287" y="1985785"/>
            <a:chExt cx="357000" cy="318300"/>
          </a:xfrm>
        </p:grpSpPr>
        <p:sp>
          <p:nvSpPr>
            <p:cNvPr id="165" name="Google Shape;165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4925" tIns="94925" rIns="94925" bIns="94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lang="en-US" sz="1558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5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g409b6d92d7a_3_13"/>
          <p:cNvGrpSpPr/>
          <p:nvPr/>
        </p:nvGrpSpPr>
        <p:grpSpPr>
          <a:xfrm>
            <a:off x="747869" y="4004816"/>
            <a:ext cx="370673" cy="330491"/>
            <a:chOff x="741287" y="1985785"/>
            <a:chExt cx="357000" cy="318300"/>
          </a:xfrm>
        </p:grpSpPr>
        <p:sp>
          <p:nvSpPr>
            <p:cNvPr id="168" name="Google Shape;168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4925" tIns="94925" rIns="94925" bIns="94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lang="en-US" sz="1558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5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g409b6d92d7a_3_13"/>
          <p:cNvGrpSpPr/>
          <p:nvPr/>
        </p:nvGrpSpPr>
        <p:grpSpPr>
          <a:xfrm>
            <a:off x="747869" y="4875803"/>
            <a:ext cx="370673" cy="330491"/>
            <a:chOff x="741287" y="1985785"/>
            <a:chExt cx="357000" cy="318300"/>
          </a:xfrm>
        </p:grpSpPr>
        <p:sp>
          <p:nvSpPr>
            <p:cNvPr id="171" name="Google Shape;171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4925" tIns="94925" rIns="94925" bIns="94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lang="en-US" sz="1558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5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g409b6d92d7a_3_13"/>
          <p:cNvSpPr/>
          <p:nvPr/>
        </p:nvSpPr>
        <p:spPr>
          <a:xfrm>
            <a:off x="642733" y="5644809"/>
            <a:ext cx="10190100" cy="754800"/>
          </a:xfrm>
          <a:prstGeom prst="roundRect">
            <a:avLst>
              <a:gd name="adj" fmla="val 8537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endParaRPr sz="145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409b6d92d7a_3_13"/>
          <p:cNvSpPr txBox="1"/>
          <p:nvPr/>
        </p:nvSpPr>
        <p:spPr>
          <a:xfrm>
            <a:off x="1190410" y="5665316"/>
            <a:ext cx="93897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4"/>
              <a:buFont typeface="Calibri"/>
              <a:buNone/>
            </a:pPr>
            <a:r>
              <a:rPr lang="en-US" sz="1454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Indice di OverTourism</a:t>
            </a:r>
            <a:endParaRPr sz="145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409b6d92d7a_3_13"/>
          <p:cNvSpPr txBox="1"/>
          <p:nvPr/>
        </p:nvSpPr>
        <p:spPr>
          <a:xfrm>
            <a:off x="1190410" y="5960160"/>
            <a:ext cx="93897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lang="en-US" sz="119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geometrica di quattro indicatori normalizzati (densità turistica, densità ricettiva, intensità turistica, utilizzazione lorda), dopo winsorizzazione al 99° percentile e min-max.</a:t>
            </a:r>
            <a:endParaRPr sz="119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g409b6d92d7a_3_13"/>
          <p:cNvGrpSpPr/>
          <p:nvPr/>
        </p:nvGrpSpPr>
        <p:grpSpPr>
          <a:xfrm>
            <a:off x="747902" y="5888636"/>
            <a:ext cx="370673" cy="330491"/>
            <a:chOff x="40387" y="5396910"/>
            <a:chExt cx="357000" cy="318300"/>
          </a:xfrm>
        </p:grpSpPr>
        <p:sp>
          <p:nvSpPr>
            <p:cNvPr id="177" name="Google Shape;177;g409b6d92d7a_3_13"/>
            <p:cNvSpPr/>
            <p:nvPr/>
          </p:nvSpPr>
          <p:spPr>
            <a:xfrm>
              <a:off x="40387" y="5396910"/>
              <a:ext cx="357000" cy="31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4925" tIns="94925" rIns="94925" bIns="94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409b6d92d7a_3_13"/>
            <p:cNvSpPr txBox="1"/>
            <p:nvPr/>
          </p:nvSpPr>
          <p:spPr>
            <a:xfrm>
              <a:off x="40387" y="5396910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lang="en-US" sz="1558" b="1" i="0" u="none" strike="noStrike" cap="none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58" b="0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g409b6d92d7a_3_13"/>
          <p:cNvSpPr/>
          <p:nvPr/>
        </p:nvSpPr>
        <p:spPr>
          <a:xfrm>
            <a:off x="568475" y="1315025"/>
            <a:ext cx="10338600" cy="2291100"/>
          </a:xfrm>
          <a:prstGeom prst="roundRect">
            <a:avLst>
              <a:gd name="adj" fmla="val 6250"/>
            </a:avLst>
          </a:prstGeom>
          <a:noFill/>
          <a:ln w="98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4925" tIns="94925" rIns="94925" bIns="94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4"/>
              <a:buFont typeface="Arial"/>
              <a:buNone/>
            </a:pPr>
            <a:endParaRPr sz="145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g409b6d92d7a_3_13"/>
          <p:cNvCxnSpPr/>
          <p:nvPr/>
        </p:nvCxnSpPr>
        <p:spPr>
          <a:xfrm>
            <a:off x="640200" y="846898"/>
            <a:ext cx="3705900" cy="3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TextBox 180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OVERTOURISM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0200" y="585216"/>
            <a:ext cx="10911300" cy="5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Indice di Overtourism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640049" y="1117125"/>
            <a:ext cx="109113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Overtourism per comune, seguito nei quattro anni di osservazione, individua dove la pressione è cresciuta più velocemente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Dalle mappe emerge come le zone costiere sono quelle che sono state impattate di più dall’overtourism nel quadri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ennio.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08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7"/>
          <p:cNvCxnSpPr/>
          <p:nvPr/>
        </p:nvCxnSpPr>
        <p:spPr>
          <a:xfrm rot="10800000" flipH="1">
            <a:off x="640050" y="873547"/>
            <a:ext cx="9275100" cy="216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1" name="Google Shape;191;p7"/>
          <p:cNvPicPr preferRelativeResize="0"/>
          <p:nvPr/>
        </p:nvPicPr>
        <p:blipFill rotWithShape="1">
          <a:blip r:embed="rId3">
            <a:alphaModFix/>
          </a:blip>
          <a:srcRect l="10674"/>
          <a:stretch/>
        </p:blipFill>
        <p:spPr>
          <a:xfrm>
            <a:off x="1684064" y="1778337"/>
            <a:ext cx="3081925" cy="4724900"/>
          </a:xfrm>
          <a:prstGeom prst="rect">
            <a:avLst/>
          </a:prstGeom>
          <a:solidFill>
            <a:srgbClr val="EAF1F3"/>
          </a:solidFill>
          <a:ln>
            <a:noFill/>
          </a:ln>
        </p:spPr>
      </p:pic>
      <p:pic>
        <p:nvPicPr>
          <p:cNvPr id="192" name="Google Shape;19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7035" y="1805693"/>
            <a:ext cx="3081925" cy="467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"/>
          <p:cNvPicPr preferRelativeResize="0"/>
          <p:nvPr/>
        </p:nvPicPr>
        <p:blipFill rotWithShape="1">
          <a:blip r:embed="rId5">
            <a:alphaModFix/>
          </a:blip>
          <a:srcRect t="42664"/>
          <a:stretch/>
        </p:blipFill>
        <p:spPr>
          <a:xfrm>
            <a:off x="3593325" y="6035724"/>
            <a:ext cx="2030592" cy="4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5">
            <a:alphaModFix/>
          </a:blip>
          <a:srcRect t="42664"/>
          <a:stretch/>
        </p:blipFill>
        <p:spPr>
          <a:xfrm>
            <a:off x="9620075" y="6035724"/>
            <a:ext cx="2030592" cy="4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7477019" y="1894125"/>
            <a:ext cx="1348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684075" y="1805700"/>
            <a:ext cx="10440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OVERTOURISM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40050" y="585216"/>
            <a:ext cx="10911300" cy="507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Come si è mossa la pressione turistica nei comuni sardi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8a346b7a1_0_155"/>
          <p:cNvSpPr/>
          <p:nvPr/>
        </p:nvSpPr>
        <p:spPr>
          <a:xfrm>
            <a:off x="640000" y="991950"/>
            <a:ext cx="100167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punteggio comunale costruito sui punti di interesse OpenStreetMap, indipendentemente dai flussi turistici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8a346b7a1_0_155"/>
          <p:cNvSpPr/>
          <p:nvPr/>
        </p:nvSpPr>
        <p:spPr>
          <a:xfrm>
            <a:off x="642816" y="6463367"/>
            <a:ext cx="75954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8a346b7a1_0_155"/>
          <p:cNvSpPr/>
          <p:nvPr/>
        </p:nvSpPr>
        <p:spPr>
          <a:xfrm>
            <a:off x="10738540" y="6463367"/>
            <a:ext cx="12339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09 / 65</a:t>
            </a:r>
            <a:endParaRPr sz="103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g3f8a346b7a1_0_155"/>
          <p:cNvCxnSpPr/>
          <p:nvPr/>
        </p:nvCxnSpPr>
        <p:spPr>
          <a:xfrm rot="10800000" flipH="1">
            <a:off x="640200" y="837298"/>
            <a:ext cx="3456600" cy="96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g3f8a346b7a1_0_155"/>
          <p:cNvSpPr/>
          <p:nvPr/>
        </p:nvSpPr>
        <p:spPr>
          <a:xfrm>
            <a:off x="640200" y="2641550"/>
            <a:ext cx="3041100" cy="260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8a346b7a1_0_155"/>
          <p:cNvSpPr txBox="1"/>
          <p:nvPr/>
        </p:nvSpPr>
        <p:spPr>
          <a:xfrm>
            <a:off x="858588" y="2751175"/>
            <a:ext cx="2604300" cy="2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punteggio da 0 a 100 per ciascun comune, costruito su cinque categorie di punti di interesse rilevati da OpenStreetMap - turismo, natura, ristorazione, servizi, infrastrutture - pesate rispettivamente 30%, 25%, 20%, 15% e 10%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8a346b7a1_0_155"/>
          <p:cNvSpPr/>
          <p:nvPr/>
        </p:nvSpPr>
        <p:spPr>
          <a:xfrm>
            <a:off x="4439250" y="2645125"/>
            <a:ext cx="3041100" cy="260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8a346b7a1_0_155"/>
          <p:cNvSpPr txBox="1"/>
          <p:nvPr/>
        </p:nvSpPr>
        <p:spPr>
          <a:xfrm>
            <a:off x="4557400" y="2754750"/>
            <a:ext cx="2799900" cy="2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categoria è normalizzata per la superficie comunale, calcolata su una proiezione metrica (UTM 32N) per avere aree corrette, poi riportata su una scala comune 0-100 con un min-max sui 377 comuni, e infine sommata pesando ciascuna categoria secondo la sua importanza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8a346b7a1_0_155"/>
          <p:cNvSpPr/>
          <p:nvPr/>
        </p:nvSpPr>
        <p:spPr>
          <a:xfrm>
            <a:off x="8238325" y="2641550"/>
            <a:ext cx="3313200" cy="260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8a346b7a1_0_155"/>
          <p:cNvSpPr txBox="1"/>
          <p:nvPr/>
        </p:nvSpPr>
        <p:spPr>
          <a:xfrm>
            <a:off x="8476250" y="2745600"/>
            <a:ext cx="2604300" cy="22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 comuni sono stati  divisi in cinque classi di pari numerosità (quintili) in base al punteggio finale, da attrattività molto bassa a molto alta: una classificazione relativa, che si aggiorna automaticamente quando cambiano i dati sottostanti </a:t>
            </a:r>
            <a:endParaRPr sz="15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8a346b7a1_0_155"/>
          <p:cNvSpPr txBox="1"/>
          <p:nvPr/>
        </p:nvSpPr>
        <p:spPr>
          <a:xfrm>
            <a:off x="642825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misura</a:t>
            </a:r>
            <a:endParaRPr sz="17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8a346b7a1_0_155"/>
          <p:cNvSpPr txBox="1"/>
          <p:nvPr/>
        </p:nvSpPr>
        <p:spPr>
          <a:xfrm>
            <a:off x="4462150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si calcola</a:t>
            </a:r>
            <a:endParaRPr sz="17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8a346b7a1_0_155"/>
          <p:cNvSpPr txBox="1"/>
          <p:nvPr/>
        </p:nvSpPr>
        <p:spPr>
          <a:xfrm>
            <a:off x="8238225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si classifica</a:t>
            </a:r>
            <a:endParaRPr sz="17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ATTRATTIVITÀ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40200" y="585216"/>
            <a:ext cx="10911300" cy="5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Indice di Attrattività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641195" y="1124650"/>
            <a:ext cx="10084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9"/>
              <a:buFont typeface="Arial"/>
              <a:buNone/>
            </a:pPr>
            <a:r>
              <a:rPr lang="en-US" sz="1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L’indice di Attrattività misura il potenziale di un territorio a prescindere dai flussi attuali: natura, ristorazione, servizi e infrastrutture pesano quanto l'offerta turistica in senso stretto</a:t>
            </a:r>
            <a:endParaRPr sz="143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41200" y="6466339"/>
            <a:ext cx="7516500" cy="2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8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0632061" y="6466339"/>
            <a:ext cx="1221000" cy="2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8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10 / 65</a:t>
            </a:r>
            <a:endParaRPr sz="10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8"/>
          <p:cNvPicPr preferRelativeResize="0"/>
          <p:nvPr/>
        </p:nvPicPr>
        <p:blipFill rotWithShape="1">
          <a:blip r:embed="rId3">
            <a:alphaModFix/>
          </a:blip>
          <a:srcRect l="29840" t="11788" r="27170" b="4008"/>
          <a:stretch/>
        </p:blipFill>
        <p:spPr>
          <a:xfrm>
            <a:off x="7543075" y="1702500"/>
            <a:ext cx="3641524" cy="47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599450" y="1702497"/>
            <a:ext cx="5684400" cy="13341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8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950" tIns="93950" rIns="93950" bIns="9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8"/>
          <p:cNvGrpSpPr/>
          <p:nvPr/>
        </p:nvGrpSpPr>
        <p:grpSpPr>
          <a:xfrm>
            <a:off x="834382" y="2172353"/>
            <a:ext cx="394598" cy="394638"/>
            <a:chOff x="828050" y="2020722"/>
            <a:chExt cx="384000" cy="384038"/>
          </a:xfrm>
        </p:grpSpPr>
        <p:sp>
          <p:nvSpPr>
            <p:cNvPr id="228" name="Google Shape;228;p8"/>
            <p:cNvSpPr/>
            <p:nvPr/>
          </p:nvSpPr>
          <p:spPr>
            <a:xfrm>
              <a:off x="828050" y="2020722"/>
              <a:ext cx="384000" cy="384038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3950" tIns="93950" rIns="93950" bIns="939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 txBox="1"/>
            <p:nvPr/>
          </p:nvSpPr>
          <p:spPr>
            <a:xfrm>
              <a:off x="828050" y="2020722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lang="en-US" sz="1439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3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8"/>
          <p:cNvSpPr txBox="1"/>
          <p:nvPr/>
        </p:nvSpPr>
        <p:spPr>
          <a:xfrm>
            <a:off x="1369924" y="1852848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lang="en-US" sz="1387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Conteggio POI per pilastro (OSM / Overpass API)</a:t>
            </a:r>
            <a:endParaRPr sz="138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1369916" y="2115007"/>
            <a:ext cx="47919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Raccolta dei Punti di Interesse (POI) sardi da </a:t>
            </a:r>
            <a:r>
              <a:rPr lang="en-US" sz="1110" b="0" i="1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OpenStreetMap</a:t>
            </a:r>
            <a:r>
              <a:rPr lang="en-US" sz="1110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 e suddivisione degli stessi in 5 pilastri: </a:t>
            </a:r>
            <a:r>
              <a:rPr lang="en-US" sz="1110" b="1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Turismo, Natura, Ristorazione, Servizi, Infrastrutture</a:t>
            </a:r>
            <a:r>
              <a:rPr lang="en-US" sz="1110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. Allocazione dei POI ai vari comuni attraverso </a:t>
            </a:r>
            <a:r>
              <a:rPr lang="en-US" sz="1110" b="1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GeoPandas</a:t>
            </a:r>
            <a:r>
              <a:rPr lang="en-US" sz="1110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99450" y="3130838"/>
            <a:ext cx="5684400" cy="13341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8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950" tIns="93950" rIns="93950" bIns="9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8"/>
          <p:cNvGrpSpPr/>
          <p:nvPr/>
        </p:nvGrpSpPr>
        <p:grpSpPr>
          <a:xfrm>
            <a:off x="834382" y="3600831"/>
            <a:ext cx="394598" cy="394598"/>
            <a:chOff x="828050" y="3410749"/>
            <a:chExt cx="384000" cy="384000"/>
          </a:xfrm>
        </p:grpSpPr>
        <p:sp>
          <p:nvSpPr>
            <p:cNvPr id="234" name="Google Shape;234;p8"/>
            <p:cNvSpPr/>
            <p:nvPr/>
          </p:nvSpPr>
          <p:spPr>
            <a:xfrm>
              <a:off x="828050" y="3410749"/>
              <a:ext cx="384000" cy="3840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3950" tIns="93950" rIns="93950" bIns="939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 txBox="1"/>
            <p:nvPr/>
          </p:nvSpPr>
          <p:spPr>
            <a:xfrm>
              <a:off x="828050" y="3410749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lang="en-US" sz="1439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3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8"/>
          <p:cNvSpPr txBox="1"/>
          <p:nvPr/>
        </p:nvSpPr>
        <p:spPr>
          <a:xfrm>
            <a:off x="1369924" y="3281189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lang="en-US" sz="1387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Densità per km² e trasformazione logaritmica</a:t>
            </a:r>
            <a:endParaRPr sz="138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1369916" y="3565109"/>
            <a:ext cx="47919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Il calcolo della densità serve a confrontare comuni di “taglia” diversa Comuni molto estesi geograficamente hanno molti punti di interesse. </a:t>
            </a:r>
            <a:endParaRPr sz="11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99450" y="4559176"/>
            <a:ext cx="5684400" cy="17967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8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950" tIns="93950" rIns="93950" bIns="93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8"/>
          <p:cNvGrpSpPr/>
          <p:nvPr/>
        </p:nvGrpSpPr>
        <p:grpSpPr>
          <a:xfrm>
            <a:off x="834382" y="5260271"/>
            <a:ext cx="394598" cy="394638"/>
            <a:chOff x="828050" y="4800776"/>
            <a:chExt cx="384000" cy="384038"/>
          </a:xfrm>
        </p:grpSpPr>
        <p:sp>
          <p:nvSpPr>
            <p:cNvPr id="240" name="Google Shape;240;p8"/>
            <p:cNvSpPr/>
            <p:nvPr/>
          </p:nvSpPr>
          <p:spPr>
            <a:xfrm>
              <a:off x="828050" y="4800776"/>
              <a:ext cx="384000" cy="384038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93950" tIns="93950" rIns="93950" bIns="939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828050" y="4800776"/>
              <a:ext cx="384000" cy="384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lang="en-US" sz="1439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3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8"/>
          <p:cNvSpPr txBox="1"/>
          <p:nvPr/>
        </p:nvSpPr>
        <p:spPr>
          <a:xfrm>
            <a:off x="1369924" y="4709530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lang="en-US" sz="1387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Calcolo indicatore pesato e logaritmizzazione</a:t>
            </a:r>
            <a:endParaRPr sz="138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1369916" y="5047837"/>
            <a:ext cx="47919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Per ogni comune è stato calcolato un indicatore assoluto.</a:t>
            </a:r>
            <a:endParaRPr sz="1110" b="0" i="0" u="none" strike="noStrike" cap="none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0" i="0" u="none" strike="noStrike" cap="non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Successivamente, è stata calcolata la trasformazione logaritmica normalizzata, onde  evitare che poche zone iper-dense (con molti POI) comprimano la scala. Ogni pilastro normalizzato 0–100, combinato con i pesi di ogni pilastro. L'indice finale classifica i comuni in 5 classi (quintili) di attrattività.</a:t>
            </a:r>
            <a:endParaRPr sz="11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1394012" y="4112272"/>
            <a:ext cx="4791900" cy="2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Densita dei POI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 = (POI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/Area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1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densità è stata normalizzata: norm-d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(densità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 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min)/(max-min)</a:t>
            </a:r>
            <a:endParaRPr sz="111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1394021" y="2637625"/>
            <a:ext cx="4791900" cy="2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ogni comune c, per ogni pilastro p: POI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 =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Σ POI (pilastro p, comune c)</a:t>
            </a:r>
            <a:endParaRPr sz="111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398354" y="5824003"/>
            <a:ext cx="47919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Indicatore assoluto di attrattività:  A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Σ ω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norm-d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endParaRPr sz="111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Indicatore finale: A</a:t>
            </a:r>
            <a:r>
              <a:rPr lang="en-US" sz="111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(ln(1+A</a:t>
            </a:r>
            <a:r>
              <a:rPr lang="en-US" sz="82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</a:t>
            </a:r>
            <a:r>
              <a:rPr lang="en-US" sz="111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ln(1+min))/(ln(1+max)-ln(1+min))</a:t>
            </a:r>
            <a:endParaRPr sz="111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8"/>
          <p:cNvCxnSpPr/>
          <p:nvPr/>
        </p:nvCxnSpPr>
        <p:spPr>
          <a:xfrm>
            <a:off x="642650" y="929550"/>
            <a:ext cx="10913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8" name="Google Shape;24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4284" y="6284497"/>
            <a:ext cx="1786688" cy="3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 txBox="1"/>
          <p:nvPr/>
        </p:nvSpPr>
        <p:spPr>
          <a:xfrm>
            <a:off x="9539621" y="6086292"/>
            <a:ext cx="19635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 di attrattività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ATTRATTIVITÀ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40375" y="585216"/>
            <a:ext cx="10911300" cy="50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3A"/>
                </a:solidFill>
                <a:latin typeface="Calibri"/>
              </a:rPr>
              <a:t>Cosa rende un comune attrattivo, indipendentemente dal turismo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395000" y="1174875"/>
            <a:ext cx="4233900" cy="22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punto è un comune, posizionato secondo il proprio livello di Overtourism e di Attrattività: le due mediane dividono il piano in quattro quadranti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E06666"/>
                </a:highlight>
                <a:latin typeface="Calibri"/>
                <a:ea typeface="Calibri"/>
                <a:cs typeface="Calibri"/>
                <a:sym typeface="Calibri"/>
              </a:rPr>
              <a:t>Zona Satura</a:t>
            </a: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sono i comuni con alto indice Overtourism e bassa Attrattività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le destinazioni c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uno squilibrio marcato fra offerta (bassa) e domanda turistica (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alta).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1" i="0" u="none" strike="noStrike" cap="none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Destinazione </a:t>
            </a:r>
            <a:r>
              <a:rPr lang="en-US" b="1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Popolare</a:t>
            </a: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 quei comuni che, vivono di equilibrio tra domanda e offerta ricettiva.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,I quadranti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basso hanno un indice medio di impatto turistico basso.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>
                <a:solidFill>
                  <a:schemeClr val="dk1"/>
                </a:solidFill>
                <a:highlight>
                  <a:srgbClr val="6AA84F"/>
                </a:highlight>
                <a:latin typeface="Calibri"/>
                <a:ea typeface="Calibri"/>
                <a:cs typeface="Calibri"/>
                <a:sym typeface="Calibri"/>
              </a:rPr>
              <a:t>Territorio </a:t>
            </a:r>
            <a:r>
              <a:rPr lang="en-US" b="1">
                <a:solidFill>
                  <a:schemeClr val="dk1"/>
                </a:solidFill>
                <a:highlight>
                  <a:srgbClr val="6AA84F"/>
                </a:highlight>
                <a:latin typeface="Calibri"/>
                <a:ea typeface="Calibri"/>
                <a:cs typeface="Calibri"/>
                <a:sym typeface="Calibri"/>
              </a:rPr>
              <a:t>Autentico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sono i Comuni che non hanno ancora un buon livello di attrattività nè una pressione turistica notevole, mentre con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highlight>
                  <a:srgbClr val="A4C2F4"/>
                </a:highlight>
                <a:latin typeface="Calibri"/>
                <a:ea typeface="Calibri"/>
                <a:cs typeface="Calibri"/>
                <a:sym typeface="Calibri"/>
              </a:rPr>
              <a:t>Gemm</a:t>
            </a:r>
            <a:r>
              <a:rPr lang="en-US" b="1">
                <a:solidFill>
                  <a:schemeClr val="dk1"/>
                </a:solidFill>
                <a:highlight>
                  <a:srgbClr val="A4C2F4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 i="0" u="none" strike="noStrike" cap="none">
                <a:solidFill>
                  <a:schemeClr val="dk1"/>
                </a:solidFill>
                <a:highlight>
                  <a:srgbClr val="A4C2F4"/>
                </a:highlight>
                <a:latin typeface="Calibri"/>
                <a:ea typeface="Calibri"/>
                <a:cs typeface="Calibri"/>
                <a:sym typeface="Calibri"/>
              </a:rPr>
              <a:t> Nascosta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abbiamo individuato i Comuni in cui 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pressione turistica è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bassa 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dove esiste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ottimo 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margine di sviluppo turistico (attrattività alta).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11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9"/>
          <p:cNvPicPr preferRelativeResize="0"/>
          <p:nvPr/>
        </p:nvPicPr>
        <p:blipFill rotWithShape="1">
          <a:blip r:embed="rId3">
            <a:alphaModFix/>
          </a:blip>
          <a:srcRect t="7339" r="11567"/>
          <a:stretch/>
        </p:blipFill>
        <p:spPr>
          <a:xfrm>
            <a:off x="4920741" y="1174875"/>
            <a:ext cx="6630909" cy="5298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9"/>
          <p:cNvCxnSpPr/>
          <p:nvPr/>
        </p:nvCxnSpPr>
        <p:spPr>
          <a:xfrm rot="10800000" flipH="1">
            <a:off x="640350" y="878575"/>
            <a:ext cx="6369000" cy="114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TextBox 260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QUADRANTI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40350" y="585216"/>
            <a:ext cx="10911300" cy="45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Overtourism e attrattività a confronto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09b77e888c_0_0"/>
          <p:cNvSpPr/>
          <p:nvPr/>
        </p:nvSpPr>
        <p:spPr>
          <a:xfrm>
            <a:off x="640080" y="6473880"/>
            <a:ext cx="7314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409b77e888c_0_0"/>
          <p:cNvSpPr/>
          <p:nvPr/>
        </p:nvSpPr>
        <p:spPr>
          <a:xfrm>
            <a:off x="10362960" y="6473880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12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409b77e888c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2175" y="933576"/>
            <a:ext cx="5969001" cy="524212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409b77e888c_0_0"/>
          <p:cNvSpPr/>
          <p:nvPr/>
        </p:nvSpPr>
        <p:spPr>
          <a:xfrm>
            <a:off x="640075" y="1147125"/>
            <a:ext cx="4482600" cy="4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facilitare la comprensione e l’utilizzatore finale, abbiamo costruito una mappa interattiva divisa per mese e anno che mostra la tipologia di ogni comune.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L’utilizzo di una granularità più fine permette di visionare l’evoluzione di ciascun comune e la distribuzione delle varie tipologie nella Regione.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Gem score è calcolato come  attrattività × (1 − overtourism), normalizzato 0-100 sull'intero pannello (calcolato in 04_gemme_nascoste.ipynb).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Alcuni comuni cambiano categoria tra i mesi e gli anni, confermando che non sono calcoli statici ma possono evolvere nel tempo a seconda dell’aumentare dei flussi turistici e dell’offerta ricettiva.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409b77e888c_0_0"/>
          <p:cNvSpPr/>
          <p:nvPr/>
        </p:nvSpPr>
        <p:spPr>
          <a:xfrm>
            <a:off x="7536000" y="6258488"/>
            <a:ext cx="36696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LINK ALLA MAPPA INTERATTIVA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GEMME NASCOSTE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40080" y="585216"/>
            <a:ext cx="10911300" cy="10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2A3A"/>
                </a:solidFill>
                <a:latin typeface="Calibri"/>
              </a:rPr>
              <a:t>Evoluzione delle Gemme Nascoste Sarde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536775" y="1134575"/>
            <a:ext cx="109113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Herfindahl-Hirschman misura la concentrazione dei mercati di provenienza.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turismo italiano spopola nell’isola, seguito con distacco dalla Svizzera. Germania e Francia completano la top4.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13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3"/>
          <p:cNvPicPr preferRelativeResize="0"/>
          <p:nvPr/>
        </p:nvPicPr>
        <p:blipFill rotWithShape="1">
          <a:blip r:embed="rId3">
            <a:alphaModFix/>
          </a:blip>
          <a:srcRect l="25998" t="8846" r="26628" b="3048"/>
          <a:stretch/>
        </p:blipFill>
        <p:spPr>
          <a:xfrm>
            <a:off x="6643400" y="2082225"/>
            <a:ext cx="2976203" cy="43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3"/>
          <p:cNvPicPr preferRelativeResize="0"/>
          <p:nvPr/>
        </p:nvPicPr>
        <p:blipFill rotWithShape="1">
          <a:blip r:embed="rId4">
            <a:alphaModFix/>
          </a:blip>
          <a:srcRect l="29997" t="10685" r="27308" b="4107"/>
          <a:stretch/>
        </p:blipFill>
        <p:spPr>
          <a:xfrm>
            <a:off x="640075" y="2150400"/>
            <a:ext cx="2712741" cy="4323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13"/>
          <p:cNvCxnSpPr/>
          <p:nvPr/>
        </p:nvCxnSpPr>
        <p:spPr>
          <a:xfrm rot="10800000" flipH="1">
            <a:off x="562325" y="941175"/>
            <a:ext cx="10959600" cy="228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4" name="Google Shape;284;p13"/>
          <p:cNvPicPr preferRelativeResize="0"/>
          <p:nvPr/>
        </p:nvPicPr>
        <p:blipFill rotWithShape="1">
          <a:blip r:embed="rId5">
            <a:alphaModFix/>
          </a:blip>
          <a:srcRect t="6068"/>
          <a:stretch/>
        </p:blipFill>
        <p:spPr>
          <a:xfrm>
            <a:off x="9895525" y="2082175"/>
            <a:ext cx="2123225" cy="2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3"/>
          <p:cNvPicPr preferRelativeResize="0"/>
          <p:nvPr/>
        </p:nvPicPr>
        <p:blipFill rotWithShape="1">
          <a:blip r:embed="rId6">
            <a:alphaModFix/>
          </a:blip>
          <a:srcRect l="1343" t="-4830" r="1343" b="4830"/>
          <a:stretch/>
        </p:blipFill>
        <p:spPr>
          <a:xfrm>
            <a:off x="3511650" y="2082175"/>
            <a:ext cx="23915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TextBox 285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HERFINDAHL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36775" y="585216"/>
            <a:ext cx="10911300" cy="5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Quanto dipendono i comuni sardi da un unico mercato turistico?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/>
          <p:nvPr/>
        </p:nvSpPr>
        <p:spPr>
          <a:xfrm>
            <a:off x="562325" y="1144553"/>
            <a:ext cx="98139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Quattro direzioni di intervento che nascono direttamente dagli indici e dai grafici presentati.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1170000" y="207801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Destagionalizzare</a:t>
            </a:r>
            <a:endParaRPr sz="14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1170000" y="238869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Indirizzare la promozione verso mercati con un profilo stagionale più ampio, come quello tedesco, per alleggerire la pressione sul bimestre luglio-agosto.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1170000" y="294669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Monitorare i comuni mono-mercato</a:t>
            </a:r>
            <a:endParaRPr sz="14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170000" y="325737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territori con HHI più alto sono i più esposti a uno shock di un singolo mercato di provenienza.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1170000" y="381537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Regolamentare dove serve davvero</a:t>
            </a:r>
            <a:endParaRPr sz="14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170000" y="412605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comuni con alta quota di case sfitte e alta pressione turistica per residente sono i casi prioritari per interventi sugli affitti brevi.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1170000" y="468405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Investire nelle gemme nascoste</a:t>
            </a:r>
            <a:endParaRPr sz="14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170000" y="499473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comuni ad alta attrattività e bassa pressione offrono spazio per una crescita turistica ancora sostenibile.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14 / 65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17"/>
          <p:cNvGrpSpPr/>
          <p:nvPr/>
        </p:nvGrpSpPr>
        <p:grpSpPr>
          <a:xfrm>
            <a:off x="562332" y="2036846"/>
            <a:ext cx="420118" cy="374575"/>
            <a:chOff x="741287" y="1985785"/>
            <a:chExt cx="357000" cy="318300"/>
          </a:xfrm>
        </p:grpSpPr>
        <p:sp>
          <p:nvSpPr>
            <p:cNvPr id="304" name="Google Shape;304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107600" tIns="107600" rIns="107600" bIns="107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lang="en-US" sz="1765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76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6" name="Google Shape;306;p17"/>
          <p:cNvCxnSpPr/>
          <p:nvPr/>
        </p:nvCxnSpPr>
        <p:spPr>
          <a:xfrm rot="10800000" flipH="1">
            <a:off x="562325" y="833825"/>
            <a:ext cx="5492400" cy="75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07" name="Google Shape;307;p17"/>
          <p:cNvGrpSpPr/>
          <p:nvPr/>
        </p:nvGrpSpPr>
        <p:grpSpPr>
          <a:xfrm>
            <a:off x="562332" y="2905521"/>
            <a:ext cx="420118" cy="374575"/>
            <a:chOff x="741287" y="1985785"/>
            <a:chExt cx="357000" cy="318300"/>
          </a:xfrm>
        </p:grpSpPr>
        <p:sp>
          <p:nvSpPr>
            <p:cNvPr id="308" name="Google Shape;308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107600" tIns="107600" rIns="107600" bIns="107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lang="en-US" sz="1765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76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17"/>
          <p:cNvGrpSpPr/>
          <p:nvPr/>
        </p:nvGrpSpPr>
        <p:grpSpPr>
          <a:xfrm>
            <a:off x="562332" y="3774196"/>
            <a:ext cx="420118" cy="374575"/>
            <a:chOff x="741287" y="1985785"/>
            <a:chExt cx="357000" cy="318300"/>
          </a:xfrm>
        </p:grpSpPr>
        <p:sp>
          <p:nvSpPr>
            <p:cNvPr id="311" name="Google Shape;311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107600" tIns="107600" rIns="107600" bIns="107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lang="en-US" sz="1765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76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7"/>
          <p:cNvGrpSpPr/>
          <p:nvPr/>
        </p:nvGrpSpPr>
        <p:grpSpPr>
          <a:xfrm>
            <a:off x="562332" y="4642871"/>
            <a:ext cx="420118" cy="374575"/>
            <a:chOff x="741287" y="1985785"/>
            <a:chExt cx="357000" cy="318300"/>
          </a:xfrm>
        </p:grpSpPr>
        <p:sp>
          <p:nvSpPr>
            <p:cNvPr id="314" name="Google Shape;314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spcFirstLastPara="1" wrap="square" lIns="107600" tIns="107600" rIns="107600" bIns="107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lang="en-US" sz="1765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76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TextBox 315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RACCOMANDAZIONI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40075" y="585216"/>
            <a:ext cx="10911300" cy="54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Cosa possono fare le istituzioni?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502920" y="292608"/>
            <a:ext cx="822960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50" b="1" i="0" u="none" strike="noStrike" cap="non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40075" y="1511600"/>
            <a:ext cx="102849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 indici costruiti in questo lavoro permettono di seguire l'evoluzione anno su anno, comune per comune, distinguendo pressione turistica, attrattività strutturale e sostenibilità del mercato abitativo come dimensioni distinte ma collegate.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2548675" y="2868875"/>
            <a:ext cx="5235600" cy="1589100"/>
          </a:xfrm>
          <a:prstGeom prst="roundRect">
            <a:avLst>
              <a:gd name="adj" fmla="val 5455"/>
            </a:avLst>
          </a:prstGeom>
          <a:solidFill>
            <a:srgbClr val="0F4C63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2868720" y="3128872"/>
            <a:ext cx="4594200" cy="1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prossimo passo naturale è l'aggiornamento periodico di questi indici, per trasformarli da analisi one-off a strumento di monitoraggio continuo per le istituzioni sarde.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15 / 65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18"/>
          <p:cNvCxnSpPr/>
          <p:nvPr/>
        </p:nvCxnSpPr>
        <p:spPr>
          <a:xfrm>
            <a:off x="640075" y="1163323"/>
            <a:ext cx="7691400" cy="72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29" name="Google Shape;329;p18" title="15376668-uomo-lampadina-idea-icona-schema-stile-vettorial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1075" y="4016451"/>
            <a:ext cx="1883200" cy="18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TextBox 329"/>
          <p:cNvSpPr txBox="1"/>
          <p:nvPr/>
        </p:nvSpPr>
        <p:spPr>
          <a:xfrm>
            <a:off x="640075" y="731523"/>
            <a:ext cx="10911300" cy="5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B2A3A"/>
                </a:solidFill>
                <a:latin typeface="Calibri"/>
              </a:rPr>
              <a:t>Un modello di lettura, non solo una fotografia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3f8a346b7a1_0_215" title="1401882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7600" y="4293825"/>
            <a:ext cx="2039500" cy="15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f8a346b7a1_0_215"/>
          <p:cNvSpPr txBox="1"/>
          <p:nvPr/>
        </p:nvSpPr>
        <p:spPr>
          <a:xfrm>
            <a:off x="1091485" y="3959175"/>
            <a:ext cx="301752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github.com/AlessandroCravidi/</a:t>
            </a:r>
            <a:br>
              <a:rPr lang="en-US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sardegna-overtourism-aida26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8a346b7a1_0_215"/>
          <p:cNvSpPr txBox="1"/>
          <p:nvPr/>
        </p:nvSpPr>
        <p:spPr>
          <a:xfrm>
            <a:off x="7829750" y="3959175"/>
            <a:ext cx="23871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MAPPA INTEATTIVA</a:t>
            </a:r>
            <a:b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[link da pubblicare]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8a346b7a1_0_215"/>
          <p:cNvSpPr txBox="1"/>
          <p:nvPr/>
        </p:nvSpPr>
        <p:spPr>
          <a:xfrm>
            <a:off x="4160520" y="4160520"/>
            <a:ext cx="3840480" cy="14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Davide Colucci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Alessandro Cravidi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Giuseppe Gatto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Matteo Rovedo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8C"/>
                </a:solidFill>
                <a:latin typeface="Calibri"/>
              </a:rPr>
              <a:t>CHIUSURA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670"/>
                </a:solidFill>
                <a:latin typeface="Calibri"/>
              </a:rPr>
              <a:t>Overtourism in Sardegna   ·   Master AIDA26 — Gruppo 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0360152" y="647395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670"/>
                </a:solidFill>
                <a:latin typeface="Calibri"/>
              </a:rPr>
              <a:t>16 / 65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672369" y="1350475"/>
            <a:ext cx="4847253" cy="121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A3A"/>
                </a:solidFill>
                <a:latin typeface="Calibri"/>
              </a:rPr>
              <a:t>GRAZIE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Indice della relazione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Relazione Tecnica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17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1. Scenario e obiettivo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4630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6. ETL — source, staging, DW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4630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11. Data Presentation &amp; risultati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2. Stakeholder &amp; usefulness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2996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7. Pipeline dei notebook (01→10)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02996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12. Obiettivi raggiunti / non raggiunti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968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3. Architettura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968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8. Indicatori calcolati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5968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13. Criticità, limiti e miglioramenti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6382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4. Tecnologie e sorgenti dati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16382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9. Mappa delle gemme nascoste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16382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14. Repository, autori, conclusioni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5. Data Collection &amp; Profiling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73075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10. Data Distribution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7286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Nota di metodo: ogni slide di analisi riporta in basso il riferimento al notebook o allo schema dati da cui proviene il contenuto, per mantenere tracciabilità diretta fra questa relazione e il codice del repository.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CONTESTO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Overtourism in Sardegna: perché è rilevante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Scenario e contesto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18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La Sardegna concentra una quota enorme della domanda turistica regionale in poche settimane estive e in un numero ristretto di comuni costieri, mentre gran parte dell'entroterra resta fuori da qualunque statistica ufficiale.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L'overtourism non è solo "tanti turisti": è pressione che eccede la capacità del territorio — ricettiva, infrastrutturale, abitativa — misurabile solo confrontando i flussi con le caratteristiche strutturali di ciascun comune.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Il fenomeno opposto, altrettanto rilevante per la sostenibilità del settore, è quello dei comuni ad alto potenziale attrattivo ma ancora privi di pressione turistica significativa: un margine di crescita che il progetto prova a rendere visibile.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Il progetto copre 377 comuni sardi su una finestra di osservazione 2022–2025 (48 mesi), incrociando dati ISTAT, dati regionali (SIRED) e OpenStreetMap.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5270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377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219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comuni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4173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0" y="15270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2219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mesi (2022–25)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7889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8986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935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indicatori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7889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0" y="28986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5935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fonti dati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Obiettivo del progetto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Obiettivo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19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 i="0">
                <a:solidFill>
                  <a:srgbClr val="1B2A3A"/>
                </a:solidFill>
                <a:latin typeface="Calibri"/>
              </a:rPr>
              <a:t>Costruire uno strumento data-driven, aggiornabile nel tempo, che permetta di distinguere — comune per comune, mese per mese — dove il turismo è già eccessivo da dove esiste ancora margine per una crescita sostenibile.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Non una fotografia statica: una pipeline che si ricalcola quando arrivano nuovi dati (nuovi mesi SIRED, nuovi anni ISTAT).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Due dimensioni tenute volutamente separate — pressione turistica reale (Indice di Overtourism) e potenziale strutturale del territorio (Indice di Attrattività) — combinate solo alla fine nel Gem Score.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Output pensato per essere consumato sia da una dashboard Tableau (pubblico non tecnico) sia da un notebook/mappa interattiva (pubblico tecnico).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Domande di ricerca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Domande di ricerca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20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Quanto e dove il turismo eccede la capacità del territorio? → Indice di Overtourism, comune × mese, 2022–2025.</a:t>
            </a:r>
          </a:p>
          <a:p>
            <a:pPr marL="0" indent="0" algn="l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Cosa rende un comune attrattivo indipendentemente dai flussi turistici attuali? → Indice di Attrattività da OpenStreetMap.</a:t>
            </a:r>
          </a:p>
          <a:p>
            <a:pPr marL="0" indent="0" algn="l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Quanta parte dei flussi turistici reali sfugge alle statistiche ufficiali (il "sommerso turistico")? → confronto fra flussi fisici porti/aeroporti e dati SIRED.</a:t>
            </a:r>
          </a:p>
          <a:p>
            <a:pPr marL="0" indent="0" algn="l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Quanto sono dipendenti i comuni sardi da un singolo mercato di provenienza turistica? → Indice di Herfindahl-Hirschman sulle nazionalità.</a:t>
            </a:r>
          </a:p>
          <a:p>
            <a:pPr marL="0" indent="0" algn="l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Quali comuni combinano alta attrattività e bassa pressione turistica, cioè sono candidati a un turismo sostenibile? → Gem Score e mappa delle gemme nascoste.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Stakeholder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Stakeholder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21 / 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Enti del turismo regionale e locale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56232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Assessorato al Turismo, uffici IAT comunali: pianificazione della promozione, individuazione delle mete da destagionalizzare.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Comuni costieri e amministrazioni locali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56232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gestione della capacità ricettiva, regolamentazione degli affitti brevi dove la pressione è più alta.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25496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1693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Operatori del settore turistico/ricettivo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64408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lettura della stagionalità e della concentrazione di mercato per orientare investimenti e canali di vendita.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825496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91693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Residenti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64408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impatto sul mercato abitativo (abitazioni non occupate, affitti brevi) nei comuni a più alta pressione.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3367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32511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Decisori politici regionali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72584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priorizzazione degli interventi normativi sulla base di indicatori oggettivi e aggiornabili.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23367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32511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Turisti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72584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scelta consapevole di una meta autentica e non satura, tramite la mappa delle gemme nascoste.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USEFULNESS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Utilità concreta per gli stakeholder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Usefulness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22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Regolamentare dove serve davvero: i comuni con alta quota di case sfitte e alta pressione turistica per residente sono i casi prioritari per interventi sugli affitti brevi.</a:t>
            </a:r>
          </a:p>
          <a:p>
            <a:pPr marL="0" indent="0" algn="l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Destagionalizzare: la scomposizione per mercato di provenienza indica quali bacini (es. mercato tedesco, a profilo stagionale più ampio) promuovere per alleggerire il bimestre luglio-agosto.</a:t>
            </a:r>
          </a:p>
          <a:p>
            <a:pPr marL="0" indent="0" algn="l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Monitorare i comuni mono-mercato: i territori con HHI più alto sono i più esposti a uno shock di un singolo mercato di provenienza (es. Muros e Ardauli, oltre il 75% dai turisti francesi).</a:t>
            </a:r>
          </a:p>
          <a:p>
            <a:pPr marL="0" indent="0" algn="l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Investire nelle gemme nascoste: i comuni ad alta attrattività e bassa pressione offrono spazio per una crescita turistica ancora sostenibile.</a:t>
            </a:r>
          </a:p>
          <a:p>
            <a:pPr marL="0" indent="0" algn="l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Correggere le statistiche ufficiali: la stima del sommerso turistico (fino al 46,8% del flusso fisico nel 2022) dà un ordine di grandezza a un problema noto ma raramente quantificato a livello comunale.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Architettura BI adottata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Architettura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23 / 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883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8A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8883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Sorgenti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323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ISTAT · SIRED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sardegnamobilità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OpenStreetMap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4843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90875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0875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2315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tabelle sorgente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1 per fonte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DuckDB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6835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12867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12867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4307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join, pulizia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chiavi comune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gestione missing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78827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34859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4859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6299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data warehouse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1 tabella/indicatore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+ indicatori_comune_anno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00819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6851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C9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56851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BI /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291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Tableau dashboard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mappa Leaflet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CSV per Tableau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033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Lo strato ETL è implementato interamente in DuckDB (db/sardegna_overtourism.duckdb): tre schemi separati (raw, staging, presentation) mantengono la tracciabilità dalla fonte grezza fino alla tabella pronta per il consumo. Gli indicatori (notebook 04–09) scrivono direttamente in presentation.*; l'esportazione in CSV/GeoJSON verso data/ e File x Tableau/ è lo strato di Data Distribution.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Tecnologie e strumenti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Tecnologie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24 / 65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Strumento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Ruolo nel progetto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Linguaggio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Tutta la pipeline ETL e il calcolo degli indicatori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Jupyter Notebook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10 notebook, uno per fase/indicatore, eseguiti in ordine 01→10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Manipolazione dati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pandas, numpy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Pulizia, join, calcolo indicatori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Dati geografici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geopandas, shapely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Allocazione POI ai comuni, calcolo aree comunali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Sorgente geodati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OpenStreetMap / Overpass API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Punti di interesse per l'Indice di Attrattività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Data warehouse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DuckDB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Schemi raw / staging / presentation, query SQL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Mappe interattive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Folium, Leaflet (via HTML/JS)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Mappa coropletica attrattività, mappa gemme nascoste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Visualizzazione statica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matplotlib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Scatter plot quadranti, grafici esplorativi nei notebook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Dashboard BI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Dashboard finale: HHI, sommerso turistico, stagionalità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Sorgenti dati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Sorgenti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25 / 65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Dato fornito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Aggiornamento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 raw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Anagrafica comuni, popolazione residente, superficie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annuale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anagrafica_comuni, popolazione_residente, superficie_comunale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Abitazioni occupate / non occupate per comune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periodico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raw.abitazioni_non_occupate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Regione Sardegna — Osservatorio Turismo (SIRED)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Arrivi e presenze ufficiali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mensile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raw.arrivi_presenze_sired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Regione Sardegna — Osservatorio Turismo (SIRED)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Capacità delle strutture ricettive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annuale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raw.capacita_ricettiva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sardegnamobilità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Flussi giornalieri porti e aeroporti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giornaliero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raw.porti_aeroporti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OpenStreetMap (Overpass API)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Punti di interesse, 5 pilastri tematici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statico (snapshot)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osm_per_comune.csv (fuori da DuckDB)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Come sono stati raccolti i dati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26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Nessuno scraping in senso stretto: le fonti ISTAT e Regione Sardegna sono Open Data ufficiali, scaricati come CSV/Excel e versionati in data/raw/originali/ senza modifiche manuali.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 punti di interesse OpenStreetMap sono l'unica fonte raccolta programmaticamente, tramite query Overpass API sulla bounding box della Sardegna, per 5 categorie tematiche (pilastri).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Ogni fonte grezza viene caricata as-is nello schema raw.* di DuckDB con read_csv_auto, prima di qualunque trasformazione — così la tabella raw resta sempre un riflesso fedele del file originale.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Cardinalità: 377 comuni sardi, osservazioni mensili 2022–2025 per arrivi/presenze (~18.000 righe comune×mese×anno), snapshot annuale per capacità ricettiva/popolazione/superficie.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17320"/>
            <a:ext cx="3886200" cy="329184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notebooks/01_pipeline_ingestion.ipynb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46504"/>
            <a:ext cx="34838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con = duckdb.connect(str(DB_PATH))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con.execute(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"CREATE SCHEMA IF NOT EXISTS raw")</a:t>
            </a:r>
          </a:p>
          <a:p>
            <a:pPr>
              <a:lnSpc>
                <a:spcPct val="112000"/>
              </a:lnSpc>
            </a:pPr>
            <a:endParaRPr sz="1250">
              <a:solidFill>
                <a:srgbClr val="E8E6DD"/>
              </a:solidFill>
              <a:latin typeface="Consolas"/>
            </a:endParaRP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con.execute("""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CREATE TABLE raw.arrivi_presenze_sired AS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SELECT * FROM read_csv_auto(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'{PATH_SIRED_2025}')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""")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Profiling — problemi identificati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27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Valori mancanti non uniformi fra indicatori: alcuni comuni non hanno tutti e 4 i sotto-indicatori disponibili in un dato mese (n_indicatori_disponibili &lt; 4) — trattati come dato mancante, mai come zero.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Giorni mancanti negli scali (porti/aeroporti): verificati scalo per scalo; Golfo Aranci è risultato il caso più sospetto per continuità dei dati e controllato manualmente prima dell'uso.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Nomi di comune corrotti: un pattern di apostrofo "fantasma" (es. su Sant'Antioco e affini) proveniente dai file Excel regionali, che rompeva il join con l'anagrafica ISTAT se non corretto.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Eterogeneità di formato: decimali italiani con virgola, date in formato dd/mm/yyyy, casing incoerente delle macro-tipologie ricettive — armonizzati prima del caricamento in staging.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17320"/>
            <a:ext cx="3886200" cy="329184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notebooks/01_pipeline_ingestion.ipynb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46504"/>
            <a:ext cx="34838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def ripara_apostrofi(nome):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nome = str(nome)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if nome.startswith("'") \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and nome.endswith("'"):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nome = nome[1:-1]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# sequenza corrotta -&gt; apostrofo vero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nome = nome.replace('"\'', "'")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return nome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TRATTAMENTO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Cleaning &amp; trattamento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28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Normalizzazione delle chiavi di join: tutti i nomi comune armonizzati in Title Case e riparati dagli apostrofi corrotti prima di qualunque merge, per evitare comuni "persi" nei join.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Missing ≠ zero, in tutta la pipeline: un comune senza presenze registrate ha un indicatore mancante, escluso dal calcolo — mai forzato a 0, che ne falserebbe la media.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Winsorizzazione al 99° percentile + min-max per ogni sotto-indicatore dell'Overtourism, con ancore (minimo, cap p99) calcolate una sola volta e congelate, per restare confrontabili quando si aggiungono nuovi mesi.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Regolarizzazione dell'area comunale nell'Indice di Attrattività: un buffer (mediana delle superfici) sommato all'area reale prima di calcolare le densità, per evitare che comuni microscopici risultino artificialmente iper-densi.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Filtro di eleggibilità sul Gem Score: un comune entra in "Gemma Nascosta" solo se ha almeno 3 sotto-indicatori disponibili e densità ricettiva &gt; 0 — altrimenti un overtourism a zero per assenza di dati verrebbe scambiato per autenticità.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ETL — Source Tables (schema raw)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ETL ·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29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Ogni fonte grezza è caricata as-is in una tabella dedicata, senza trasformazioni — il punto di partenza tracciabile della pipeline.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raw.anagrafica_comuni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Elenco comuni italiani filtrati su Sardegna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raw.popolazione_residente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Popolazione residente per comune, per anno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raw.superficie_comunale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Superficie in km² per comune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raw.abitazioni_non_occupate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Abitazioni occupate / non occupate per comune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raw.arrivi_presenze_sired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Arrivi e presenze turistiche mensili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Regione Sardegna (SIRED)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raw.capacita_ricettiva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Posti letto per struttura/comune, annuale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Regione Sardegna (SIRED)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raw.porti_aeroporti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Bollettino arrivi/partenze giornaliero per scalo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sardegnamobilità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2A3A"/>
                </a:solidFill>
                <a:latin typeface="Calibri"/>
              </a:rPr>
              <a:t>ETL — Staging Area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ETL · staging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30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Le tabelle raw vengono pulite, ri-chiavate su un riferimento comune unico e aggregate al grano richiesto dagli indicatori.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staging.comuni_riferimento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Anagrafica comune con chiave di join normalizzata (apostrofi riparati)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staging.arrivi_presenze_annuale / .presenze_mensili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Arrivi/presenze aggregati per anno e per mese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staging.capacita_annuale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Posti letto aggregati per comune e anno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staging.popolazione / .superficie / .abitazioni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Dimensioni anagrafiche pulite, pronte per il join finale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staging.gini_stagionalita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Indice di concentrazione stagionale dei flussi per comune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staging.flusso_regionale_giornaliero / .flusso_non_catturato_annuale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Flusso fisico porti/aeroporti vs quota non catturata da SIRED (sommerso turistico)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ETL — Data Warehouse (schema presentation)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ETL ·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31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Una tabella per indicatore, più una tabella wide di sintesi: lo strato pronto per il consumo da Tableau e dai notebook a valle.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Grano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Notebook produttore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presentation.densita_turistica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mese × anno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presentation.densita_ricettiva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anno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presentation.intensita_turistica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mese × anno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presentation.utilizzazione_lorda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anno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presentation.indice_overtourism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mese × anno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presentation.indicatori_comune_anno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anno (tabella wide, export Tableau)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presentation.presenze_giornaliere_stimate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giorno (stima disaggregata da scalo)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8463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Criticità: nell'ultima istantanea locale del database, il file db/sardegna_overtourism.duckdb contiene solo lo schema presentation — gli schemi raw e staging (definiti nel notebook 01) non risultano materializzati insieme nello stesso run. Va rieseguito 01_pipeline_ingestion.ipynb per rigenerare l'intera catena in un unico database coerente.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PANORAMICA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La pipeline dei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947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C7CED3"/>
                </a:solidFill>
                <a:latin typeface="Calibri"/>
              </a:rPr>
              <a:t>Dieci notebook, eseguiti in ordine 01 → 10: dalla raccolta dati alla mappa interattiva finale.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55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Relazione Tecnica · Overtourism in Sardegna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 10 notebook della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33 / 65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69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Cosa produce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pipeline_ingestion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Collection + ETL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Schema raw/staging/presentation; HHI; sommerso turistico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dati_osm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Collection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POI OpenStreetMap allocati ai comuni (5 pilastri)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indice_da_osm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 di Attrattività (0–100, quintili)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indicatore_densita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Densità Turistica (comune × mese × anno)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densita_ricettiva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Densità Ricettiva (comune × anno)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intensita_turistica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Intensità Turistica (comune × mese × anno)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utilizzazione_lorda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Utilizzazione Lorda (comune × anno)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indice_overtourism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 di Overtourism (media geometrica dei 4 indicatori)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calcolo_gem_score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Presentation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Gem Score, quadranti, tier, eleggibilità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genera_mappa_gemme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Presentation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Leaflet interattiva autocontenuta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01 · pipeline_ingestion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notebooks/01_pipeline_ingestion.ipynb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34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Ingerisce le fonti ISTAT/SIRED/porti-aeroporti e costruisce lo schema raw→staging→presentation in DuckDB.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le analisi di contesto: indice di Herfindahl-Hirschman sui mercati di provenienza, stima del sommerso turistico, stagionalità.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70 celle: è il notebook più esteso, organizzato in blocchi (FASE 0/1/2) rieseguibili singolarmente.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5584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Fondamenta dell'intera pipeline: tutti gli altri notebook 04–09 leggono da qui.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Alimenta direttamente le slide "sommerso turistico" e "Herfindahl" della presentazione e i CSV in File x Tableau/.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Unico notebook che fa vera pulizia/ETL relazionale (gli altri lavorano su indicatori già isolati).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02 · dati_osm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notebooks/02_dati_osm.ipynb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35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Interroga l'Overpass API di OpenStreetMap sulla bounding box della Sardegna, per 5 categorie di POI (pilastri).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Alloca ogni punto al comune di appartenenza tramite spatial join (GeoPandas).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Il pilastro "natura" è stato ripulito dai tag di copertura del suolo generica (natural=tree/wood/water/rock), che gonfiavano artificialmente l'attrattività dei comuni boscosi.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5584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Fornisce l'unica fonte di dati indipendente dai flussi turistici: la base dell'Indice di Attrattività.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La pulizia dei tag OSM è stata una correzione metodologica diretta a un bias osservato: comuni interni minuscoli risultavano falsamente iper-attrattivi.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03 · indice_da_osm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notebooks/03_indice_da_osm.ipynb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36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la densità di POI per km² per ciascun pilastro, su un'area "regolarizzata" (area reale + buffer).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Applica min-max normalization, poi trasformazione logaritmica per non far dominare la scala ai comuni iper-densi.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Somma pesata dei 5 pilastri (30/25/20/15/10%) e classificazione in quintili.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42132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26180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Il buffer di area è la correzione chiave contro il falso positivo "comune microscopico = molto attrattivo": senza, pochi POI in 2-3 km² generavano densità enormi.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Produce indicatore_di_attrattivita.csv, input diretto del notebook 09.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886200" cy="402336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notebooks/03_indice_da_osm.ipynb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746504"/>
            <a:ext cx="3483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area regolarizzata: buffer = mediana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delle superfici comunali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buffer = area_km2.median()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area_reg = area_km2 + buffer</a:t>
            </a:r>
          </a:p>
          <a:p>
            <a:pPr>
              <a:lnSpc>
                <a:spcPct val="112000"/>
              </a:lnSpc>
            </a:pPr>
            <a:endParaRPr sz="1250">
              <a:solidFill>
                <a:srgbClr val="E8E6DD"/>
              </a:solidFill>
              <a:latin typeface="Consolas"/>
            </a:endParaRP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densita = conteggio_poi / area_reg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comune piccolo -&gt; buffer domina,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densita' si attenua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04 · indicatore_densita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notebooks/04_indicatore_densita.ipynb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37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la Densità Turistica: presenze mensili diviso superficie comunale.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Scrive presentation.densita_turistica in DuckDB e i CSV annuali in data/.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2526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9316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Primo dei 4 sotto-indicatori che compongono l'Indice di Overtourism (notebook 08).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Misura il carico fisico di persone sul territorio, indipendentemente dalla popolazione residente.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05 · densita_ricettiva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notebooks/05_densita_ricettiva.ipynb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38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la Densità Ricettiva: letti totali diviso superficie comunale, a grana annuale.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Scrive presentation.densita_ricettiva.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2526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9316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Secondo sotto-indicatore dell'Overtourism: misura la pressione delle infrastrutture ricettive, non dei turisti effettivi.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Riusata anche come filtro di eleggibilità nel Gem Score (notebook 09): un comune senza letti non può essere una "gemma" autentica.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06 · intensita_turistica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notebooks/06_intensita_turistica.ipynb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39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l'Intensità Turistica: presenze diviso popolazione residente.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Sceglie le presenze (notti di pernottamento) invece degli arrivi come base, perché rappresentano il carico cumulato nel tempo; gli arrivi restano calcolati come confronto complementare.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1043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94482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Terzo sotto-indicatore dell'Overtourism: quantifica il rapporto turisti/residenti, rilevante per l'impatto sociale.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La scelta presenze-vs-arrivi è motivata esplicitamente nel notebook ed è coerente con la Densità Turistica.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07 · utilizzazione_lorda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notebooks/07_utilizzazione_lorda.ipynb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40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l'Utilizzazione Lorda: presenze annue diviso (letti disponibili × 365), in percentuale.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Nota metodologica esplicita nel notebook: è un valore ANNUALE spalmato costante sui 12 mesi.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2526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9316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Quarto sotto-indicatore dell'Overtourism: misura quanto la capacità ricettiva è effettivamente satura.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Caso Villasimius, documentato nel notebook: capacità enorme dimensionata sul picco estivo (17.027 letti) produce un'utilizzazione annua modesta (~15%), diluendo nella media geometrica un segnale che gli altri 3 indicatori mostrano fortissimo in agosto — un limite noto, non un errore di calcolo.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08 · indice_overtourism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notebooks/08_indice_overtourism.ipynb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41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Unisce i 4 indicatori normalizzati (winsor p99 + min-max) e li combina con la media geometrica, riga per riga, escludendo i valori mancanti.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 valore mancante non è uno zero; se manca l'intera riga, l'indice resta mancante.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80766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64814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È il cuore quantitativo della "pressione turistica": la media geometrica penalizza gli squilibri (un comune alto su 3 indicatori ma quasi zero sul quarto ottiene un indice basso), più coerente di una media aritmetica.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Output diretto: indice_overtourism_complessivo.csv, input del Gem Score (notebook 09).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886200" cy="402336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notebooks/08_indice_overtourism.ipynb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746504"/>
            <a:ext cx="3483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def media_geometrica_riga(valori):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# esclude i NaN dal calcolo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v = [x for x in valori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 if not pd.isna(x)]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if not v: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return np.nan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if 0 in v: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return 0.0  # un fattore zero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            # annulla il prodotto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return np.prod(v) ** (1/len(v))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09 · calcolo_gem_score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notebooks/09_calcolo_gem_score.ipynb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42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Unisce Indice di Attrattività (statico) e Indice di Overtourism (mensile) sulla chiave comune.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gem_score = attrattività × (1 − overtourism), lo normalizza 0–100 e classifica ogni comune/mese in 4 quadranti sulle mediane.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Applica un filtro di eleggibilità: un comune entra in "Gemma Nascosta" solo se ha ≥3 sotto-indicatori disponibili e densità ricettiva &gt;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7298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11346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Prima della correzione, comuni interni con zero offerta ricettiva (overtourism a zero per assenza di dati, non per bassa pressione reale) risultavano falsamente classificati come gemme.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Con il filtro, i comuni Q1 ("Gemma Nascosta") sono scesi da un elenco dominato da falsi positivi a un piccolo insieme di comuni con reale, per quanto minima, offerta turistica verificabile.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886200" cy="402336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notebooks/09_calcolo_gem_score.ipynb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746504"/>
            <a:ext cx="3483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eleggibile = (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(df['n_indicatori_disponibili']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&gt;= 3) &amp;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(df['densita_ricettiva'] &gt; 0)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Q1 ma non eleggibile -&gt; declassato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df.loc[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(df.quadrante=='Q1') &amp; ~eleggibile,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'quadrante'] = 'Q3'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10 · genera_mappa_gemme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notebooks/10_genera_mappa_gemme.ipynb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43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i centroidi comunali dal GeoJSON dei confini e costruisce, per ogni comune, gli array mensili (48 valori) di gem score, overtourism e quadrante.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Genera un'unica pagina HTML autocontenuta con Leaflet: mappa, selettori mese/anno, classifica delle gemme del mese, popup per comune.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95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7964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È l'output finale consumabile senza Python né Jupyter: un file HTML apribile in qualunque browser, in data/mappa_gemme_nascoste/.</a:t>
            </a: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Rende esplorabile l'evoluzione mensile del fenomeno, non solo uno snapshot annuale come le mappe statiche della dashboard Tableau.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Gli indicatori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947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C7CED3"/>
                </a:solidFill>
                <a:latin typeface="Calibri"/>
              </a:rPr>
              <a:t>Definizione, formula e ruolo di ciascuno dei 7 indicatori calcolati dalla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55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Relazione Tecnica · Overtourism in Sardegna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Densità Turistica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45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Presenze turistiche per km² di superficie comunale: misura il carico fisico di persone sul territorio.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densità_turistica = presenze_mese / superficie_km²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raw.arrivi_presenze_sired (presenze mensili)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raw.superficie_comunale (ISTAT)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presentation.densita_turistica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1° sotto-indicatore dell'Indice di Overtourism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Densità Ricettiva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46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Letti totali per km² di superficie comunale: misura la pressione delle infrastrutture ricettive sul territorio, indipendentemente dai turisti effettivamente presenti.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densità_ricettiva = letti_totali / superficie_km²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raw.capacita_ricettiva (posti letto, annuale)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raw.superficie_comunale (ISTAT)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presentation.densita_ricettiva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2° sotto-indicatore dell'Overtourism; filtro di eleggibilità nel Gem Score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Intensità Turistica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47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Rapporto fra flusso turistico e popolazione locale: quanti "turisti-notte" per residente.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intensità_turistica = presenze_mese / popolazione_residente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raw.arrivi_presenze_sired (presenze mensili)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raw.popolazione_residente (ISTAT)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presentation.intensita_turistica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3° sotto-indicatore dell'Overtourism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Nota: si usano le presenze (notti di pernottamento) e non gli arrivi, perché rappresentano il carico prolungato nel tempo su alloggi, servizi e infrastrutture — gli arrivi sono comunque calcolati come confronto complementare.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Utilizzazione Lorda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48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Quanto la capacità ricettiva è effettivamente satura nel periodo, come percentuale non superiore al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utilizzazione_lorda = presenze_annue / (letti_disponibili × 365)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raw.arrivi_presenze_sired (presenze annue)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raw.capacita_ricettiva (letti)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presentation.utilizzazione_lorda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4° sotto-indicatore dell'Overtourism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Nota: è un valore ANNUALE applicato costante su tutti i mesi. In comuni con capacità dimensionata sul picco estivo (es. Villasimius) diluisce nella media di agosto un segnale che gli altri 3 indicatori mostrano molto più forte — limite noto, non un errore.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Indice di Overtourism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49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Combinazione dei 4 indicatori precedenti in un unico punteggio di pressione turistica per comune e mese.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overtourism = media_geometrica(4 indicatori normalizzati, esclusi i mancanti)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 4 sotto-indicatori, dopo winsorizzazione p99 e min-max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Ancore (minimo, cap p99) congelate una sola volta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indice_overtourism_complessivo.csv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Asse verticale dei quadranti nel Gem Score (notebook 09)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La media geometrica penalizza gli squilibri: un comune alto su 3 indicatori ma quasi zero sul quarto ottiene un indice più basso che con una media aritmetica — un segnale equilibrato pesa più di uno estremo su una sola dimensione.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Indice di Attrattività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50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Punteggio 0–100 costruito sui punti di interesse OpenStreetMap, indipendente dai flussi turistici: misura il potenziale del territorio, non la sua popolarità attuale.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A = Σ ωₚ · norm(POIₚ / (area + buffer))  →  0–100 dopo log + min-max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osm_per_comune.csv (5 pilastri: turismo 30%, natura 25%, ristorazione 20%, servizi 15%, infrastrutture 10%)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area_km2 (ISTAT) + buffer di regolarizzazione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indicatore_di_attrattivita.csv, classi in quintili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Asse orizzontale dei quadranti nel Gem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Il buffer di area (mediana delle superfici comunali) evita che comuni microscopici risultino iper-densi e quindi falsamente iper-attrattivi con pochi POI; il pilastro "natura" esclude i tag di copertura del suolo generica (alberi, boschi) per non premiare la semplice ruralità.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Gem Score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51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Combina Attrattività e Overtourism in un unico punteggio e in una classificazione a 4 quadranti, per individuare le "gemme nascoste": comuni ad alta attrattività e bassa pressione.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gem_score = attrattività × (1 − overtourism)  →  normalizzato 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indice_attrattivita (statico)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indice_overtourism (mensile)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densità ricettiva e n. indicatori disponibili (per l'eleggibilità)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indicatore_gem_score.csv: quadrante, tier, rank, eleggibile_gemma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Input della mappa interattiva (notebook 10)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Un comune entra nel quadrante "Gemma Nascosta" solo se supera anche il filtro di eleggibilità (≥3 sotto-indicatori disponibili, densità ricettiva &gt; 0): senza questo filtro, comuni privi di qualunque offerta turistica venivano scambiati per autentici per la sola assenza di dati.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Mappa delle gemme nascoste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52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Mappa Leaflet interattiva, autocontenuta in un solo file HTML (data/mappa_gemme_nascoste/) — nessun server necessario, i dati sono incorporati come JSON nella pagina.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Selettori mese/anno: per ciascuno dei 48 step mensili (2022-01 → 2025-12) mostra i comuni classificati Gemma Nascosta quel mese, ordinati per gem score.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Ogni comune ha un marker colorato per quadrante e un popup con i 4 indicatori grezzi di overtourism, l'attrattività e il gem score del mese.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Costruita a partire da indicatore_gem_score.csv (notebook 09) e dai centroidi calcolati dal GeoJSON dei confini comunali — non richiede GeoPandas a runtime, solo nella fase di generazione.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17320"/>
            <a:ext cx="40233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1B2A3A"/>
                </a:solidFill>
                <a:latin typeface="Calibri"/>
              </a:rPr>
              <a:t>Quadranti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2011680"/>
            <a:ext cx="274320" cy="27432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9842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🌟 Gemma Nascosta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2514600"/>
            <a:ext cx="274320" cy="274320"/>
          </a:xfrm>
          <a:prstGeom prst="rect">
            <a:avLst/>
          </a:prstGeom>
          <a:solidFill>
            <a:srgbClr val="C9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4871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🏖️ Destinazione Popolare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3017520"/>
            <a:ext cx="274320" cy="274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99008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🌄 Territorio Autentico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520440"/>
            <a:ext cx="274320" cy="2743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3493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⚠️ Zona Satura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16052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File: data/mappa_gemme_nascoste/gemme_nascoste_mappa.html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(≈1,3 MB, 371 comuni × 48 mesi incorporati)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DISTRIBUZIONE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Distribution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53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Ogni indicatore viene esportato sia in DuckDB (schema presentation) sia in CSV annuali dentro data/, per due modalità di consumo indipendenti: query SQL e file piatti.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La cartella File x Tableau/ isola gli export dedicati alla dashboard BI (Herfindahl, provenienze, stagionalità, mappa di provenienza, top 5 mercati) — un confine netto fra dati di lavoro e dati di presentazione.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 GeoJSON dei confini comunali sono distribuiti sia nella cartella indicatore_attrattivita/ sia in mappa_gemme_nascoste/, per rendere ciascun notebook autosufficiente rispetto alla geometria che gli serve.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1188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Cartella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Consumatore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File x Tableau/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6 CSV: HHI, provenienze, stagionalità, top5 mercati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Dashboard Tableau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data/presentation/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Export della tabella wide indicatori_comune_anno + tabelle di supporto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Tableau, analisi ad hoc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data/indicatore_*/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Output per singolo indicatore (uno per notebook 03–09)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Notebook a valle, verifica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data/mappa_gemme_nascoste/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GeoJSON + mappa HTML finale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Utente finale (browser)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Presentation / Visualization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54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Dashboard Tableau costruita sulle tabelle di data/presentation/ e File x Tableau/: mappe coropletiche, scatter overtourism/attrattività, classifiche HHI e stagionalità.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Quattro grafici Tableau esportati come immagini in presentazione/charts/ (crescita_confronto, top_gini, top_pressione, top_seconde_case) e riusati nelle slide di sintesi.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Due mappe interattive complementari: la choropletica dell'Indice di Attrattività (Folium, notebook 03) e quella mensile delle gemme nascoste (Leaflet, notebook 10).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24612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Output visivo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Strumento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T="50800" marB="50800" anchor="ctr"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Scatter Overtourism × Attrattività (4 quadranti)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Slide 9 della presentazione di sintesi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evolutiva delle gemme (quadranti per comune)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Slide 13 della presentazione di sintesi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5 classi di attrattività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Slide 12 della presentazione di sintesi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coropletica Indice di Attrattività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Folium/Python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data/indicatore_attrattivita/output_attrattivita/</a:t>
                      </a:r>
                    </a:p>
                  </a:txBody>
                  <a:tcPr marT="38100" marB="38100" anchor="ctr"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interattiva mensile delle gemme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Leaflet/HTML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data/mappa_gemme_nascoste/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RISULTATI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Risposte alle domande di ricerca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Risultati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55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Dove il turismo eccede la capacità del territorio: l'Indice di Overtourism, seguito su 4 anni, individua le zone costiere come quelle in cui la pressione è cresciuta più velocemente, non solo dove è già più alta oggi.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Cosa rende un comune attrattivo a prescindere dai flussi: l'Indice di Attrattività isola un potenziale strutturale (natura, ristorazione, servizi, infrastrutture) che pesa quanto l'offerta turistica in senso stretto, e non coincide sempre con i comuni già più visitati.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Il sommerso turistico è quantificabile: nel 2025 il 36,5% del flusso fisico via porti e aeroporti non risulta nei dati ufficiali SIRED, in calo rispetto al 46,8% del 2022 — gli arrivi registrati crescono più velocemente (+40,5%) del flusso fisico totale (+17,8%).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La dipendenza da un unico mercato è misurabile comune per comune: l'indice di Herfindahl-Hirschman individua casi estremi come Muros e Ardauli (oltre il 75% dai turisti francesi) o Villasalto (oltre il 50% dal Regno Unito).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Le gemme nascoste esistono ma sono poche e verificabili: dopo il filtro di eleggibilità, un piccolo insieme di comuni combina attrattività sopra la mediana, overtourism sotto la mediana e un'offerta ricettiva reale, non solo l'assenza di dati.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BILANCIO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Obiettivi raggiunti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Obiettivi raggiunti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56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Pipeline ETL completa e tracciabile in DuckDB, con separazione esplicita fra dati grezzi, staging e data warehouse.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7 indicatori calcolati su 377 comuni, con storico mensile 2022–2025 dove la fonte lo consente.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Indice di Attrattività indipendente dai flussi, costruito da fonte geografica aperta (OpenStreetMap), corretto per due bias osservati in corso d'opera (comuni microscopici, copertura del suolo generica).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Gem Score con classificazione a quadranti e filtro di eleggibilità, per evitare falsi positivi nella categoria "gemma nascosta".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Due mappe interattive e una dashboard Tableau, oltre alle analisi complementari su sommerso turistico e concentrazione di mercato.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Presentazione di sintesi e questa relazione tecnica, entrambe allineate allo stato corrente del repository.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BILANCIO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Obiettivi non raggiunti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Obiettivi non raggiunti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57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Nessuna fase di scraping in senso stretto: le fonti restano Open Data ufficiali scaricati manualmente, non un pipeline di raccolta automatica da siti/social.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Il workbook Tableau (.twb/.twbx) non è versionato nel repository: solo i CSV sorgente e le immagini esportate, quindi la dashboard non è ricostruibile end-to-end dal solo codice.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Gli schemi raw e staging di DuckDB non risultano materializzati insieme all'ultima istantanea locale del database — richiede una riesecuzione completa del notebook 01 per essere verificato end-to-end.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 set di test automatici sulla pipeline: la validazione è affidata a controlli manuali dentro i notebook (print, assert puntuali), non a una suite eseguibile.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 file di dipendenze (requirements.txt/environment.yml): le librerie usate sono documentate solo nel README, non fissate a una versione.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RIFLESSIONE CRITICA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Dove si è sbagliato e come migliorare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Riflessione critica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58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Bias nell'Indice di Attrattività non intercettato subito: la densità per km² senza correzioni premiava i comuni piccolissimi, e il pilastro "natura" includeva tag di copertura del suolo generica — entrambi corretti solo dopo un controllo puntuale sui risultati, non da un test automatico. Andrebbe aggiunta una validazione sistematica (es. soglie di plausibilità sui top/bottom comuni) eseguita ad ogni run.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Etichette dei quadranti disallineate fra codice e presentazione: la slide di sintesi usava nomi diversi ("Criticità", "Destinazione Matura") da quelli realmente prodotti dal codice ("Zona Satura", "Destinazione Popolare") — sintomo di presentazione scritta a mano invece che generata dagli stessi dati.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Rischio di disallineamento fra dashboard Tableau e pipeline Python: la dashboard è costruita su un workbook non versionato, quindi un aggiornamento della pipeline (come le due correzioni sopra) non si propaga automaticamente ai grafici Tableau già esportati.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Duplicazione/riordino dei notebook fra branch di lavoro: il file notebooks/01_pipeline_ingestion.ipynb.ipynb ha un'estensione doppia residua, segno di una copia/rinomina non ripulita.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Miglioramento proposto: automatizzare l'intera catena (01→10) con uno script/Makefile unico, aggiungere un requirements.txt con versioni fissate, e versionare il workbook Tableau o generare i suoi grafici direttamente da Python per garantire un'unica fonte di verità.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CRITICITÀ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Criticità emerse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Criticità emerse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59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Tecniche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Query Overpass API soggette a rate-limit e timeout: la pipeline prevede endpoint di fallback e retry, ma resta una dipendenza esterna non garantita.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db/*.duckdb non è tracciato in git (per scelta, essendo rigenerabile): chiunque cloni il repository deve rieseguire almeno il notebook 01 prima di poter interrogare lo schema completo.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Alcuni notebook (04, 05, 07) creano solo lo schema presentation al volo, senza dipendere esplicitamente dagli schemi raw/staging — funzionano solo se 01 è già stato eseguito almeno una volta.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Di 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Copertura non uniforme: non tutti i comuni hanno tutti e 4 i sotto-indicatori di overtourism disponibili ogni mese.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L'Utilizzazione Lorda è un valore annuale spalmato sui mesi: attenua il segnale nei comuni con capacità dimensionata sul solo picco estivo (caso Villasimius, documentato nel notebook 07).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L'Indice di Attrattività dipende dalla copertura di OpenStreetMap: comuni poco mappati avranno un punteggio basso anche se il territorio è oggettivamente interessante.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LIMITI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Limiti dei dati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Limiti dei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60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Copertura temporale: la serie SIRED copre 2022–2025, un periodo post-pandemico che potrebbe non riflettere pattern di lungo periodo.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Rappresentatività di OpenStreetMap: la densità di mappatura volontaria varia da comune a comune, indipendentemente dalla reale offerta turistica — un limite intrinseco della fonte, non della metodologia.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Freschezza: i POI OSM sono uno snapshot statico al momento della raccolta (query Overpass), non un flusso aggiornato automaticamente come i dati SIRED mensili.</a:t>
            </a:r>
          </a:p>
          <a:p>
            <a:pPr marL="0" indent="0" algn="l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Il flusso porti/aeroporti (sardegnamobilità) copre solo gli accessi via scalo tracciato: non cattura chi arriva via auto/traghetto senza passare da uno scalo monitorato, quindi la stima del sommerso turistico è un limite inferiore, non una misura esaustiva.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LIMITI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Limiti dei metodi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Limiti dei metodi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61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Le mediane come soglie dei quadranti sono robuste agli outlier ma dividono la popolazione esattamente al 50%: due comuni quasi identici possono finire in quadranti diversi per un margine minimo.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 pesi dei 5 pilastri dell'Attrattività (30/25/20/15/10%) sono una scelta editoriale del gruppo, non derivata da un modello statistico o da una validazione esterna.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Il buffer di area (mediana delle superfici) e il filtro di eleggibilità del Gem Score (≥3 indicatori, densità ricettiva &gt; 0) sono soglie ragionate ma arbitrarie: valori diversi produrrebbero elenchi di "gemme" leggermente diversi.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Il Gem Score è una metrica composita: due comuni con lo stesso punteggio possono avere profili molto diversi (uno molto attrattivo e mediamente affollato, l'altro poco affollato e mediamente attrattivo).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L'indice di Overtourism è una proxy costruita su densità e capacità ricettiva: non misura direttamente la percezione di affollamento da parte del visitatore o del residente.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Struttura della repository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Struttura della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62 / 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545336"/>
            <a:ext cx="599846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data/                    dataset e output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raw/                   fonti pulite + originali/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presentation/          export schema presentation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indicatore_*/          output per indicatore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mappa_gemme_nascoste/  mappa Leaflet finale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notebooks/               pipeline, 01 -&gt; 10 in ordine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db/                      *.duckdb (non tracciato)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File x Tableau/          export per la dashboard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presentazione/           slide, grafici, relazione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4114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alibri"/>
              </a:rPr>
              <a:t>Il repository segue la stessa separazione logica dell'architettura BI: data/raw rispecchia lo schema raw, data/presentation lo schema presentation, e ogni indicatore ha una cartella dedicata che isola i suoi output da quelli degli altri notebook. File x Tableau/ è l'unico punto di contatto esplicito con la dashboard BI.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Autori e contributi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Autori e contributi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63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Commit per autore sul repository locale (git shortlog), a titolo indicativo dell'attività di versionamento — non del solo lavoro di analisi.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Alessandro Cravidi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093976"/>
            <a:ext cx="6858000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0" y="20574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Giuseppe Gatto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779776"/>
            <a:ext cx="4071937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5217" y="27432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Davide Colucci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465576"/>
            <a:ext cx="3643312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26592" y="34290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Matteo Rovedo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151376"/>
            <a:ext cx="1714500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97780" y="4114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Nota: Davide Colucci ha commesso da due account (Davide, David-KDW-999): i due totali sono qui accorpati (15 + 2 = 17).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CHIUSURA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Conclusioni e sviluppi futuri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Conclusioni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64 / 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1B2A3A"/>
                </a:solidFill>
                <a:latin typeface="Calibri"/>
              </a:rPr>
              <a:t>Un modello di lettura, non solo una fotografia: gli indici costruiti permettono di seguire l'evoluzione anno su anno, comune per comune, distinguendo pressione turistica, attrattività strutturale e sostenibilità del mercato abitativo come dimensioni distinte ma collegate.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Aggiornamento periodico degli indici, per trasformarli da analisi one-off a strumento di monitoraggio continuo per le istituzioni sarde.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Versionamento del workbook Tableau (o migrazione dei suoi grafici in Python) per chiudere il gap fra pipeline dati e dashboard.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Validazione automatica dei risultati (soglie di plausibilità, test di regressione sui top/bottom comuni) per intercettare bias come quelli corretti in questo lavoro prima della pubblicazione.</a:t>
            </a:r>
          </a:p>
          <a:p>
            <a:pPr marL="0" indent="0" algn="l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Estensione della finestra di osservazione oltre il 2022–2025 e integrazione di ulteriori fonti (es. dati meteo, eventi) per arricchire l'interpretazione della stagionalità.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Grazie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7EC8B9"/>
                </a:solidFill>
                <a:latin typeface="Calibri"/>
              </a:rPr>
              <a:t>github.com/AlessandroCravidi/sardegna-overtourism-aida26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C7CED3"/>
                </a:solidFill>
                <a:latin typeface="Calibri"/>
              </a:rPr>
              <a:t>Davide Colucci · Alessandro Cravidi · Giuseppe Gatto · Matteo Rovedo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65 / 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9115</Words>
  <Application>Microsoft Office PowerPoint</Application>
  <PresentationFormat>Widescreen</PresentationFormat>
  <Paragraphs>938</Paragraphs>
  <Slides>65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65</vt:i4>
      </vt:variant>
    </vt:vector>
  </HeadingPairs>
  <TitlesOfParts>
    <vt:vector size="73" baseType="lpstr">
      <vt:lpstr>Aptos</vt:lpstr>
      <vt:lpstr>Arial</vt:lpstr>
      <vt:lpstr>Calibri</vt:lpstr>
      <vt:lpstr>Cambria</vt:lpstr>
      <vt:lpstr>Caveat</vt:lpstr>
      <vt:lpstr>Consolas</vt:lpstr>
      <vt:lpstr>Times New Roman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COLUCCI DAVIDE</cp:lastModifiedBy>
  <cp:revision>2</cp:revision>
  <dcterms:created xsi:type="dcterms:W3CDTF">2013-01-27T09:14:16Z</dcterms:created>
  <dcterms:modified xsi:type="dcterms:W3CDTF">2026-09-02T14:51:22Z</dcterms:modified>
  <cp:category/>
</cp:coreProperties>
</file>