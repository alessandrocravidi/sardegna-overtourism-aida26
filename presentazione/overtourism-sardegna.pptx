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JCD1+H9wsvp5QiFNLFNi9BJ0K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8a346b7a1_0_1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f8a346b7a1_0_1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f8a346b7a1_0_1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a346b7a1_0_44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a346b7a1_0_44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f8a346b7a1_0_44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409b6d92d7a_3_13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g409b6d92d7a_3_13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409b6d92d7a_3_13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a346b7a1_0_155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g3f8a346b7a1_0_155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8a346b7a1_0_155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409b77e888c_0_0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g409b77e888c_0_0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409b77e888c_0_0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1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8a346b7a1_0_215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8a346b7a1_0_215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f8a346b7a1_0_215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jpg"/><Relationship Id="rId4" Type="http://schemas.openxmlformats.org/officeDocument/2006/relationships/image" Target="../media/image2.jp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2.jpg"/><Relationship Id="rId5" Type="http://schemas.openxmlformats.org/officeDocument/2006/relationships/image" Target="../media/image2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3.jpg"/><Relationship Id="rId7" Type="http://schemas.openxmlformats.org/officeDocument/2006/relationships/image" Target="../media/image29.jpg"/><Relationship Id="rId8" Type="http://schemas.openxmlformats.org/officeDocument/2006/relationships/image" Target="../media/image2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lin ang="5400012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362175" y="6293950"/>
            <a:ext cx="34527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9FD1E0"/>
                </a:solidFill>
                <a:latin typeface="Calibri"/>
                <a:ea typeface="Calibri"/>
                <a:cs typeface="Calibri"/>
                <a:sym typeface="Calibri"/>
              </a:rPr>
              <a:t>PROJECT WORK  </a:t>
            </a:r>
            <a:r>
              <a:rPr b="1" lang="en-US" sz="1200">
                <a:solidFill>
                  <a:srgbClr val="9FD1E0"/>
                </a:solidFill>
                <a:latin typeface="Calibri"/>
                <a:ea typeface="Calibri"/>
                <a:cs typeface="Calibri"/>
                <a:sym typeface="Calibri"/>
              </a:rPr>
              <a:t>- GRUPPO 3 - A.A. 2026/2027</a:t>
            </a:r>
            <a:endParaRPr b="1" sz="1200">
              <a:solidFill>
                <a:srgbClr val="9FD1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1E0"/>
                </a:solidFill>
                <a:latin typeface="Calibri"/>
                <a:ea typeface="Calibri"/>
                <a:cs typeface="Calibri"/>
                <a:sym typeface="Calibri"/>
              </a:rPr>
              <a:t>Artificial Intelligent &amp; Data Analytics for Business</a:t>
            </a:r>
            <a:endParaRPr b="1" sz="1200">
              <a:solidFill>
                <a:srgbClr val="9FD1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2174" y="2548250"/>
            <a:ext cx="4827000" cy="13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Overtourism in Sardegna:</a:t>
            </a:r>
            <a:endParaRPr b="1" sz="52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Una mappa per identificare le criticità e le opportunità di miglioramento</a:t>
            </a:r>
            <a:endParaRPr b="1" sz="2800">
              <a:solidFill>
                <a:srgbClr val="FFFFFF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175" y="279325"/>
            <a:ext cx="802975" cy="8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 title="logoist_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5150" y="279325"/>
            <a:ext cx="802975" cy="8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1750" y="1451900"/>
            <a:ext cx="5805476" cy="395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 txBox="1"/>
          <p:nvPr/>
        </p:nvSpPr>
        <p:spPr>
          <a:xfrm>
            <a:off x="9949025" y="5735350"/>
            <a:ext cx="16782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Davide Colucci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Alessandro Cravidi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Giuseppe Gatto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Matteo Rovedo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a346b7a1_0_1"/>
          <p:cNvSpPr/>
          <p:nvPr/>
        </p:nvSpPr>
        <p:spPr>
          <a:xfrm>
            <a:off x="640075" y="320675"/>
            <a:ext cx="402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Obiettivi dell’analisi</a:t>
            </a:r>
            <a:endParaRPr b="0" sz="29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30;g3f8a346b7a1_0_1"/>
          <p:cNvGrpSpPr/>
          <p:nvPr/>
        </p:nvGrpSpPr>
        <p:grpSpPr>
          <a:xfrm>
            <a:off x="5417125" y="1236669"/>
            <a:ext cx="264649" cy="235957"/>
            <a:chOff x="741280" y="1985783"/>
            <a:chExt cx="357007" cy="318302"/>
          </a:xfrm>
        </p:grpSpPr>
        <p:sp>
          <p:nvSpPr>
            <p:cNvPr id="31" name="Google Shape;31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7775" lIns="67775" spcFirstLastPara="1" rIns="67775" wrap="square" tIns="67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r>
                <a:t/>
              </a:r>
              <a:endParaRPr b="0" i="0" sz="111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Google Shape;33;g3f8a346b7a1_0_1"/>
          <p:cNvGrpSpPr/>
          <p:nvPr/>
        </p:nvGrpSpPr>
        <p:grpSpPr>
          <a:xfrm>
            <a:off x="5417125" y="2510994"/>
            <a:ext cx="264649" cy="235957"/>
            <a:chOff x="741280" y="1985783"/>
            <a:chExt cx="357007" cy="318302"/>
          </a:xfrm>
        </p:grpSpPr>
        <p:sp>
          <p:nvSpPr>
            <p:cNvPr id="34" name="Google Shape;34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7775" lIns="67775" spcFirstLastPara="1" rIns="67775" wrap="square" tIns="67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r>
                <a:t/>
              </a:r>
              <a:endParaRPr b="0" i="0" sz="111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g3f8a346b7a1_0_1"/>
          <p:cNvGrpSpPr/>
          <p:nvPr/>
        </p:nvGrpSpPr>
        <p:grpSpPr>
          <a:xfrm>
            <a:off x="5417125" y="3785319"/>
            <a:ext cx="264649" cy="235957"/>
            <a:chOff x="741280" y="1985783"/>
            <a:chExt cx="357007" cy="318302"/>
          </a:xfrm>
        </p:grpSpPr>
        <p:sp>
          <p:nvSpPr>
            <p:cNvPr id="37" name="Google Shape;37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7775" lIns="67775" spcFirstLastPara="1" rIns="67775" wrap="square" tIns="67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r>
                <a:t/>
              </a:r>
              <a:endParaRPr b="0" i="0" sz="111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39;g3f8a346b7a1_0_1"/>
          <p:cNvGrpSpPr/>
          <p:nvPr/>
        </p:nvGrpSpPr>
        <p:grpSpPr>
          <a:xfrm>
            <a:off x="5417125" y="4633194"/>
            <a:ext cx="264649" cy="235957"/>
            <a:chOff x="741280" y="1985783"/>
            <a:chExt cx="357007" cy="318302"/>
          </a:xfrm>
        </p:grpSpPr>
        <p:sp>
          <p:nvSpPr>
            <p:cNvPr id="40" name="Google Shape;40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7775" lIns="67775" spcFirstLastPara="1" rIns="67775" wrap="square" tIns="67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r>
                <a:t/>
              </a:r>
              <a:endParaRPr b="0" i="0" sz="111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2" name="Google Shape;42;g3f8a346b7a1_0_1" title="images.jpg"/>
          <p:cNvPicPr preferRelativeResize="0"/>
          <p:nvPr/>
        </p:nvPicPr>
        <p:blipFill rotWithShape="1">
          <a:blip r:embed="rId3">
            <a:alphaModFix/>
          </a:blip>
          <a:srcRect b="28343" l="0" r="0" t="-67348"/>
          <a:stretch/>
        </p:blipFill>
        <p:spPr>
          <a:xfrm>
            <a:off x="821225" y="2199188"/>
            <a:ext cx="3662800" cy="3820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g3f8a346b7a1_0_1" title="images (1).jpg"/>
          <p:cNvPicPr preferRelativeResize="0"/>
          <p:nvPr/>
        </p:nvPicPr>
        <p:blipFill rotWithShape="1">
          <a:blip r:embed="rId4">
            <a:alphaModFix/>
          </a:blip>
          <a:srcRect b="9058" l="0" r="0" t="0"/>
          <a:stretch/>
        </p:blipFill>
        <p:spPr>
          <a:xfrm>
            <a:off x="1637325" y="1341175"/>
            <a:ext cx="2030600" cy="2318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" name="Google Shape;44;g3f8a346b7a1_0_1"/>
          <p:cNvCxnSpPr/>
          <p:nvPr/>
        </p:nvCxnSpPr>
        <p:spPr>
          <a:xfrm>
            <a:off x="627975" y="745775"/>
            <a:ext cx="34989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" name="Google Shape;45;g3f8a346b7a1_0_1"/>
          <p:cNvSpPr/>
          <p:nvPr/>
        </p:nvSpPr>
        <p:spPr>
          <a:xfrm>
            <a:off x="627978" y="6463150"/>
            <a:ext cx="302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f8a346b7a1_0_1"/>
          <p:cNvSpPr/>
          <p:nvPr/>
        </p:nvSpPr>
        <p:spPr>
          <a:xfrm>
            <a:off x="10684285" y="6463155"/>
            <a:ext cx="118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02 / 18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47;g3f8a346b7a1_0_1"/>
          <p:cNvGrpSpPr/>
          <p:nvPr/>
        </p:nvGrpSpPr>
        <p:grpSpPr>
          <a:xfrm>
            <a:off x="5417125" y="5481069"/>
            <a:ext cx="264649" cy="235957"/>
            <a:chOff x="741280" y="1985783"/>
            <a:chExt cx="357007" cy="318302"/>
          </a:xfrm>
        </p:grpSpPr>
        <p:sp>
          <p:nvSpPr>
            <p:cNvPr id="48" name="Google Shape;48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7775" lIns="67775" spcFirstLastPara="1" rIns="67775" wrap="square" tIns="67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r>
                <a:t/>
              </a:r>
              <a:endParaRPr b="0" i="0" sz="111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50;g3f8a346b7a1_0_1"/>
          <p:cNvSpPr txBox="1"/>
          <p:nvPr/>
        </p:nvSpPr>
        <p:spPr>
          <a:xfrm>
            <a:off x="5681775" y="1156275"/>
            <a:ext cx="5221800" cy="48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 di Overtourism: un indice comune per comune - su densità turistica, intensità turistica, utilizzazione lorda e densità ricettiva - in grado di quantificare quanto il turismo eccede la capacità del territorio e segnalare la sua crescita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 di Attrattività dei comuni: valutare il potenziale turistico di ciascun territorio i punti di interesse presenti ( turismo, natura, ristorazione, servizi e infrastrutture) per confrontarlo con il livello di Overtourism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Stimare il sommerso turistico: misurare quanta parte dei flussi turistici sfugge alle statistiche ufficiali e come evolve nel tempo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Fornire uno strumento operativo: tradurre gli indici in una base dati aggiornabile e utile alle istituzioni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Individuare delle Gemme nascoste contrapponendo l’indice di Overtourism con l'indice di Attrattività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8a346b7a1_0_44"/>
          <p:cNvSpPr/>
          <p:nvPr/>
        </p:nvSpPr>
        <p:spPr>
          <a:xfrm>
            <a:off x="618025" y="385775"/>
            <a:ext cx="28932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Fonti utilizzate</a:t>
            </a:r>
            <a:endParaRPr b="0" sz="29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3f8a346b7a1_0_44"/>
          <p:cNvSpPr/>
          <p:nvPr/>
        </p:nvSpPr>
        <p:spPr>
          <a:xfrm>
            <a:off x="375928" y="6482300"/>
            <a:ext cx="2998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f8a346b7a1_0_44"/>
          <p:cNvSpPr txBox="1"/>
          <p:nvPr/>
        </p:nvSpPr>
        <p:spPr>
          <a:xfrm>
            <a:off x="565525" y="2731300"/>
            <a:ext cx="2998200" cy="1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Utilizzata per l'anagrafica dei comuni (Elenco comuni italiani, dato statistico), il bilancio demografico comunale (popolazione residente, aggiornamento annuale) e le statistiche geografiche su comuni (superficie, dato statico)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g3f8a346b7a1_0_44" title="image_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975" y="1799025"/>
            <a:ext cx="1423300" cy="5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g3f8a346b7a1_0_44" title="Sardegn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8100" y="998613"/>
            <a:ext cx="1064975" cy="13370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f8a346b7a1_0_44"/>
          <p:cNvSpPr txBox="1"/>
          <p:nvPr/>
        </p:nvSpPr>
        <p:spPr>
          <a:xfrm>
            <a:off x="4873988" y="2685375"/>
            <a:ext cx="2893200" cy="19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 ufficiale dei dati regionali: dall'Osservatorio del Turismo, tramite il sistema SIRED, abbiamo recuperato i dati per gli arrivi e le presenze ufficiali (aggiornamento mensile) e per la capacità delle strutture ricettive (aggiornamento annuale) e sardegnamobilità per i flussi giornalieri di porti e aeroporti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8a346b7a1_0_44"/>
          <p:cNvSpPr txBox="1"/>
          <p:nvPr/>
        </p:nvSpPr>
        <p:spPr>
          <a:xfrm>
            <a:off x="4286350" y="205575"/>
            <a:ext cx="11895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(ultimare)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g3f8a346b7a1_0_44"/>
          <p:cNvCxnSpPr/>
          <p:nvPr/>
        </p:nvCxnSpPr>
        <p:spPr>
          <a:xfrm flipH="1" rot="10800000">
            <a:off x="583525" y="798100"/>
            <a:ext cx="2583000" cy="17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g3f8a346b7a1_0_44"/>
          <p:cNvSpPr/>
          <p:nvPr/>
        </p:nvSpPr>
        <p:spPr>
          <a:xfrm>
            <a:off x="10661335" y="6482305"/>
            <a:ext cx="118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/ 18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f8a346b7a1_0_44"/>
          <p:cNvSpPr/>
          <p:nvPr/>
        </p:nvSpPr>
        <p:spPr>
          <a:xfrm>
            <a:off x="2954043" y="5091695"/>
            <a:ext cx="2521800" cy="1234200"/>
          </a:xfrm>
          <a:prstGeom prst="roundRect">
            <a:avLst>
              <a:gd fmla="val 5926" name="adj"/>
            </a:avLst>
          </a:prstGeom>
          <a:solidFill>
            <a:srgbClr val="F3F6F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f8a346b7a1_0_44"/>
          <p:cNvSpPr/>
          <p:nvPr/>
        </p:nvSpPr>
        <p:spPr>
          <a:xfrm>
            <a:off x="3118563" y="5237855"/>
            <a:ext cx="21927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B5602F"/>
                </a:solidFill>
                <a:latin typeface="Cambria"/>
                <a:ea typeface="Cambria"/>
                <a:cs typeface="Cambria"/>
                <a:sym typeface="Cambria"/>
              </a:rPr>
              <a:t>377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f8a346b7a1_0_44"/>
          <p:cNvSpPr/>
          <p:nvPr/>
        </p:nvSpPr>
        <p:spPr>
          <a:xfrm>
            <a:off x="3118563" y="5750135"/>
            <a:ext cx="21927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 sardi analizzati</a:t>
            </a:r>
            <a:endParaRPr b="0" sz="105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f8a346b7a1_0_44"/>
          <p:cNvSpPr/>
          <p:nvPr/>
        </p:nvSpPr>
        <p:spPr>
          <a:xfrm>
            <a:off x="5894048" y="5091695"/>
            <a:ext cx="2521800" cy="1234200"/>
          </a:xfrm>
          <a:prstGeom prst="roundRect">
            <a:avLst>
              <a:gd fmla="val 5926" name="adj"/>
            </a:avLst>
          </a:prstGeom>
          <a:solidFill>
            <a:srgbClr val="F3F6F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f8a346b7a1_0_44"/>
          <p:cNvSpPr/>
          <p:nvPr/>
        </p:nvSpPr>
        <p:spPr>
          <a:xfrm>
            <a:off x="6058568" y="5237855"/>
            <a:ext cx="21927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B5602F"/>
                </a:solidFill>
                <a:latin typeface="Cambria"/>
                <a:ea typeface="Cambria"/>
                <a:cs typeface="Cambria"/>
                <a:sym typeface="Cambria"/>
              </a:rPr>
              <a:t>2022–25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f8a346b7a1_0_44"/>
          <p:cNvSpPr/>
          <p:nvPr/>
        </p:nvSpPr>
        <p:spPr>
          <a:xfrm>
            <a:off x="6058568" y="5750135"/>
            <a:ext cx="21927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Periodo di osservazione</a:t>
            </a:r>
            <a:endParaRPr b="0" sz="105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g3f8a346b7a1_0_44" title="NEU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57300" y="1386800"/>
            <a:ext cx="1423299" cy="94886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f8a346b7a1_0_44"/>
          <p:cNvSpPr txBox="1"/>
          <p:nvPr/>
        </p:nvSpPr>
        <p:spPr>
          <a:xfrm>
            <a:off x="9077450" y="2685375"/>
            <a:ext cx="2583000" cy="19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OpenStreetMap è una mappa geografica mondiale, costruita e aggiornata da una comunità di volontari, con dati liberamente consultabili e riutilizzabili. L'abbiamo utilizzata come fonte dei punti di interesse (POI) presenti sul territorio sardo, raggruppati in cinque pilastri - turismo, natura, ristorazione, servizi, infrastrutture - con cui abbiamo costruito l'indice di Attrattività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/>
          <p:nvPr/>
        </p:nvSpPr>
        <p:spPr>
          <a:xfrm>
            <a:off x="640075" y="439775"/>
            <a:ext cx="54879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Come abbiamo costruito la pipeline</a:t>
            </a:r>
            <a:endParaRPr b="1" sz="26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10649860" y="6473880"/>
            <a:ext cx="118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/ 18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2"/>
          <p:cNvCxnSpPr/>
          <p:nvPr/>
        </p:nvCxnSpPr>
        <p:spPr>
          <a:xfrm>
            <a:off x="640075" y="947025"/>
            <a:ext cx="5419200" cy="5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2"/>
          <p:cNvSpPr/>
          <p:nvPr/>
        </p:nvSpPr>
        <p:spPr>
          <a:xfrm>
            <a:off x="640075" y="2272250"/>
            <a:ext cx="3041100" cy="325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40075" y="1847150"/>
            <a:ext cx="3041100" cy="425100"/>
          </a:xfrm>
          <a:prstGeom prst="rect">
            <a:avLst/>
          </a:prstGeom>
          <a:gradFill>
            <a:gsLst>
              <a:gs pos="0">
                <a:srgbClr val="1076D2"/>
              </a:gs>
              <a:gs pos="100000">
                <a:srgbClr val="09305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2"/>
          <p:cNvCxnSpPr>
            <a:stCxn id="82" idx="1"/>
            <a:endCxn id="82" idx="3"/>
          </p:cNvCxnSpPr>
          <p:nvPr/>
        </p:nvCxnSpPr>
        <p:spPr>
          <a:xfrm>
            <a:off x="640075" y="3901850"/>
            <a:ext cx="304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5" name="Google Shape;85;p2"/>
          <p:cNvSpPr/>
          <p:nvPr/>
        </p:nvSpPr>
        <p:spPr>
          <a:xfrm>
            <a:off x="4562300" y="2244624"/>
            <a:ext cx="3041100" cy="3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4562300" y="1817225"/>
            <a:ext cx="3041100" cy="427500"/>
          </a:xfrm>
          <a:prstGeom prst="rect">
            <a:avLst/>
          </a:prstGeom>
          <a:gradFill>
            <a:gsLst>
              <a:gs pos="0">
                <a:srgbClr val="1076D2"/>
              </a:gs>
              <a:gs pos="100000">
                <a:srgbClr val="09305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8484550" y="2254624"/>
            <a:ext cx="3041100" cy="3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8484550" y="1827225"/>
            <a:ext cx="3041100" cy="427500"/>
          </a:xfrm>
          <a:prstGeom prst="rect">
            <a:avLst/>
          </a:prstGeom>
          <a:gradFill>
            <a:gsLst>
              <a:gs pos="0">
                <a:srgbClr val="1076D2"/>
              </a:gs>
              <a:gs pos="100000">
                <a:srgbClr val="09305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ANALYSIS &amp; VISUALIZATION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913875" y="2455850"/>
            <a:ext cx="493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ISTAT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1524625" y="4031275"/>
            <a:ext cx="12720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Regione Sardegna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2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2927748"/>
            <a:ext cx="549700" cy="54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4505098"/>
            <a:ext cx="549700" cy="5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3920888" y="3756125"/>
            <a:ext cx="4017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7843113" y="3756125"/>
            <a:ext cx="4017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999975" y="3166975"/>
            <a:ext cx="321300" cy="17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1999975" y="4693100"/>
            <a:ext cx="321300" cy="17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6596971" y="3806225"/>
            <a:ext cx="216600" cy="17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" title="images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39" y="3041264"/>
            <a:ext cx="1045598" cy="425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99" name="Google Shape;99;p2" title="images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39" y="4567389"/>
            <a:ext cx="1045598" cy="425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00" name="Google Shape;100;p2" title="images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650" y="3710874"/>
            <a:ext cx="847085" cy="3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5350821" y="3796213"/>
            <a:ext cx="216600" cy="17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" title="python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2088" y="3563313"/>
            <a:ext cx="677075" cy="6770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03" name="Google Shape;103;p2" title="duckdb_logo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5888" y="3544538"/>
            <a:ext cx="677075" cy="67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2"/>
          <p:cNvCxnSpPr/>
          <p:nvPr/>
        </p:nvCxnSpPr>
        <p:spPr>
          <a:xfrm>
            <a:off x="8484550" y="3901850"/>
            <a:ext cx="304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5" name="Google Shape;105;p2"/>
          <p:cNvSpPr txBox="1"/>
          <p:nvPr/>
        </p:nvSpPr>
        <p:spPr>
          <a:xfrm>
            <a:off x="9293500" y="2455850"/>
            <a:ext cx="14232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esplorativa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172150" y="4031275"/>
            <a:ext cx="16659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Visualizzazione del deck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2" title="matplotlib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66563" y="2915288"/>
            <a:ext cx="677076" cy="677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 title="tableau-software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05738" y="4505100"/>
            <a:ext cx="798726" cy="79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9b6d92d7a_3_13"/>
          <p:cNvSpPr/>
          <p:nvPr/>
        </p:nvSpPr>
        <p:spPr>
          <a:xfrm>
            <a:off x="640200" y="443448"/>
            <a:ext cx="10911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Indice di Overtourism</a:t>
            </a:r>
            <a:endParaRPr b="1" sz="29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1F2733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g409b6d92d7a_3_13"/>
          <p:cNvSpPr/>
          <p:nvPr/>
        </p:nvSpPr>
        <p:spPr>
          <a:xfrm>
            <a:off x="640000" y="991950"/>
            <a:ext cx="10016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L'Indice di Overtourism per comune, seguito nei quattro anni di osservazione, individua dove la pressione è cresciuta più velocemente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409b6d92d7a_3_13"/>
          <p:cNvSpPr/>
          <p:nvPr/>
        </p:nvSpPr>
        <p:spPr>
          <a:xfrm>
            <a:off x="642816" y="6463367"/>
            <a:ext cx="7595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8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3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409b6d92d7a_3_13"/>
          <p:cNvSpPr/>
          <p:nvPr/>
        </p:nvSpPr>
        <p:spPr>
          <a:xfrm>
            <a:off x="10738540" y="6463367"/>
            <a:ext cx="12339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8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06 / 18</a:t>
            </a:r>
            <a:endParaRPr b="0" sz="103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409b6d92d7a_3_13"/>
          <p:cNvSpPr/>
          <p:nvPr/>
        </p:nvSpPr>
        <p:spPr>
          <a:xfrm>
            <a:off x="642728" y="1451871"/>
            <a:ext cx="4842300" cy="960900"/>
          </a:xfrm>
          <a:prstGeom prst="roundRect">
            <a:avLst>
              <a:gd fmla="val 6250" name="adj"/>
            </a:avLst>
          </a:prstGeom>
          <a:solidFill>
            <a:srgbClr val="E8F1F5"/>
          </a:solidFill>
          <a:ln cap="flat" cmpd="sng" w="98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409b6d92d7a_3_13"/>
          <p:cNvSpPr txBox="1"/>
          <p:nvPr/>
        </p:nvSpPr>
        <p:spPr>
          <a:xfrm>
            <a:off x="1190591" y="1462826"/>
            <a:ext cx="41385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98"/>
              <a:buFont typeface="Calibri"/>
              <a:buNone/>
            </a:pPr>
            <a:r>
              <a:rPr b="1" lang="en-US" sz="129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Densità Turistica</a:t>
            </a:r>
            <a:endParaRPr b="1" sz="129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409b6d92d7a_3_13"/>
          <p:cNvSpPr txBox="1"/>
          <p:nvPr/>
        </p:nvSpPr>
        <p:spPr>
          <a:xfrm>
            <a:off x="1224078" y="1702995"/>
            <a:ext cx="41385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Presenze turistiche per km² di superficie comunale: misura il carico fisico di persone sul territorio.</a:t>
            </a:r>
            <a:endParaRPr sz="1142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Presenze / Superficie</a:t>
            </a:r>
            <a:endParaRPr b="1" sz="986">
              <a:solidFill>
                <a:srgbClr val="5B6B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409b6d92d7a_3_13"/>
          <p:cNvSpPr/>
          <p:nvPr/>
        </p:nvSpPr>
        <p:spPr>
          <a:xfrm>
            <a:off x="5485217" y="3636980"/>
            <a:ext cx="505200" cy="210000"/>
          </a:xfrm>
          <a:prstGeom prst="downArrow">
            <a:avLst>
              <a:gd fmla="val 50985" name="adj1"/>
              <a:gd fmla="val 50000" name="adj2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409b6d92d7a_3_13"/>
          <p:cNvSpPr/>
          <p:nvPr/>
        </p:nvSpPr>
        <p:spPr>
          <a:xfrm>
            <a:off x="642863" y="3862235"/>
            <a:ext cx="10190100" cy="615900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8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409b6d92d7a_3_13"/>
          <p:cNvSpPr txBox="1"/>
          <p:nvPr/>
        </p:nvSpPr>
        <p:spPr>
          <a:xfrm>
            <a:off x="1190591" y="3882739"/>
            <a:ext cx="93897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4"/>
              <a:buFont typeface="Calibri"/>
              <a:buNone/>
            </a:pPr>
            <a:r>
              <a:rPr b="1" i="0" lang="en-US" sz="1454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Normalizzazione — Winsor p99 + Min-Max</a:t>
            </a:r>
            <a:endParaRPr b="0" i="0" sz="145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409b6d92d7a_3_13"/>
          <p:cNvSpPr txBox="1"/>
          <p:nvPr/>
        </p:nvSpPr>
        <p:spPr>
          <a:xfrm>
            <a:off x="1190591" y="4177596"/>
            <a:ext cx="93897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94"/>
              <a:buFont typeface="Calibri"/>
              <a:buNone/>
            </a:pPr>
            <a:r>
              <a:rPr b="0" i="0" lang="en-US" sz="1194" u="none" cap="none" strike="noStrik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Le ancore (minimo, cap al 99° percentile) sono calcolate una sola volta e congelate: l'indice resta confrontabile quando si aggiungono nuovi anni.</a:t>
            </a:r>
            <a:endParaRPr b="0" i="0" sz="11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409b6d92d7a_3_13"/>
          <p:cNvSpPr/>
          <p:nvPr/>
        </p:nvSpPr>
        <p:spPr>
          <a:xfrm>
            <a:off x="5485217" y="4507967"/>
            <a:ext cx="5052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409b6d92d7a_3_13"/>
          <p:cNvSpPr/>
          <p:nvPr/>
        </p:nvSpPr>
        <p:spPr>
          <a:xfrm>
            <a:off x="642863" y="4733221"/>
            <a:ext cx="10190100" cy="615900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8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409b6d92d7a_3_13"/>
          <p:cNvSpPr txBox="1"/>
          <p:nvPr/>
        </p:nvSpPr>
        <p:spPr>
          <a:xfrm>
            <a:off x="1224078" y="4753728"/>
            <a:ext cx="93561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4"/>
              <a:buFont typeface="Calibri"/>
              <a:buNone/>
            </a:pPr>
            <a:r>
              <a:rPr b="1" i="0" lang="en-US" sz="1454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Gestione dei dati mancanti — missing ≠ zero</a:t>
            </a:r>
            <a:endParaRPr b="0" i="0" sz="145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409b6d92d7a_3_13"/>
          <p:cNvSpPr txBox="1"/>
          <p:nvPr/>
        </p:nvSpPr>
        <p:spPr>
          <a:xfrm>
            <a:off x="1224078" y="5048585"/>
            <a:ext cx="93561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94"/>
              <a:buFont typeface="Calibri"/>
              <a:buNone/>
            </a:pPr>
            <a:r>
              <a:rPr b="0" i="0" lang="en-US" sz="1194" u="none" cap="none" strike="noStrik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Scaffold pieno sui 377 comuni (da Densità Ricettiva). Comuni senza presenze registrate: valore mancante escluso dal calcolo, mai confuso con uno zero vero.</a:t>
            </a:r>
            <a:endParaRPr b="0" i="0" sz="11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409b6d92d7a_3_13"/>
          <p:cNvSpPr/>
          <p:nvPr/>
        </p:nvSpPr>
        <p:spPr>
          <a:xfrm>
            <a:off x="5485217" y="5378954"/>
            <a:ext cx="5052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g409b6d92d7a_3_13"/>
          <p:cNvGrpSpPr/>
          <p:nvPr/>
        </p:nvGrpSpPr>
        <p:grpSpPr>
          <a:xfrm>
            <a:off x="747869" y="1767025"/>
            <a:ext cx="370673" cy="330491"/>
            <a:chOff x="741287" y="1985785"/>
            <a:chExt cx="357000" cy="318300"/>
          </a:xfrm>
        </p:grpSpPr>
        <p:sp>
          <p:nvSpPr>
            <p:cNvPr id="131" name="Google Shape;131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4925" lIns="94925" spcFirstLastPara="1" rIns="94925" wrap="square" tIns="94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b="1" lang="en-US" sz="155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55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g409b6d92d7a_3_13"/>
          <p:cNvSpPr/>
          <p:nvPr/>
        </p:nvSpPr>
        <p:spPr>
          <a:xfrm>
            <a:off x="6017290" y="1451871"/>
            <a:ext cx="4842300" cy="960900"/>
          </a:xfrm>
          <a:prstGeom prst="roundRect">
            <a:avLst>
              <a:gd fmla="val 6250" name="adj"/>
            </a:avLst>
          </a:prstGeom>
          <a:solidFill>
            <a:srgbClr val="E8F1F5"/>
          </a:solidFill>
          <a:ln cap="flat" cmpd="sng" w="98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4"/>
          </a:p>
        </p:txBody>
      </p:sp>
      <p:sp>
        <p:nvSpPr>
          <p:cNvPr id="134" name="Google Shape;134;g409b6d92d7a_3_13"/>
          <p:cNvSpPr txBox="1"/>
          <p:nvPr/>
        </p:nvSpPr>
        <p:spPr>
          <a:xfrm>
            <a:off x="6565153" y="1462826"/>
            <a:ext cx="41385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98"/>
              <a:buFont typeface="Calibri"/>
              <a:buNone/>
            </a:pPr>
            <a:r>
              <a:rPr b="1" lang="en-US" sz="129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Intensità</a:t>
            </a:r>
            <a:r>
              <a:rPr b="1" i="0" lang="en-US" sz="12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Turistica</a:t>
            </a:r>
            <a:endParaRPr b="0" i="0" sz="12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409b6d92d7a_3_13"/>
          <p:cNvSpPr txBox="1"/>
          <p:nvPr/>
        </p:nvSpPr>
        <p:spPr>
          <a:xfrm>
            <a:off x="6565153" y="1682708"/>
            <a:ext cx="4138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Quantifica il rapporto tra flusso turistico e popolazione locale.</a:t>
            </a:r>
            <a:endParaRPr sz="1142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Presenze / Popolazione residente</a:t>
            </a:r>
            <a:endParaRPr sz="986">
              <a:solidFill>
                <a:srgbClr val="5B6B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g409b6d92d7a_3_13"/>
          <p:cNvGrpSpPr/>
          <p:nvPr/>
        </p:nvGrpSpPr>
        <p:grpSpPr>
          <a:xfrm>
            <a:off x="6122432" y="1767025"/>
            <a:ext cx="370673" cy="330491"/>
            <a:chOff x="741287" y="1985785"/>
            <a:chExt cx="357000" cy="318300"/>
          </a:xfrm>
        </p:grpSpPr>
        <p:sp>
          <p:nvSpPr>
            <p:cNvPr id="137" name="Google Shape;137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4925" lIns="94925" spcFirstLastPara="1" rIns="94925" wrap="square" tIns="94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b="1" lang="en-US" sz="155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55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g409b6d92d7a_3_13"/>
          <p:cNvSpPr/>
          <p:nvPr/>
        </p:nvSpPr>
        <p:spPr>
          <a:xfrm>
            <a:off x="642728" y="2538966"/>
            <a:ext cx="4842300" cy="960900"/>
          </a:xfrm>
          <a:prstGeom prst="roundRect">
            <a:avLst>
              <a:gd fmla="val 6250" name="adj"/>
            </a:avLst>
          </a:prstGeom>
          <a:solidFill>
            <a:srgbClr val="E8F1F5"/>
          </a:solidFill>
          <a:ln cap="flat" cmpd="sng" w="98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4"/>
          </a:p>
        </p:txBody>
      </p:sp>
      <p:sp>
        <p:nvSpPr>
          <p:cNvPr id="140" name="Google Shape;140;g409b6d92d7a_3_13"/>
          <p:cNvSpPr txBox="1"/>
          <p:nvPr/>
        </p:nvSpPr>
        <p:spPr>
          <a:xfrm>
            <a:off x="1190591" y="2549920"/>
            <a:ext cx="41385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98"/>
              <a:buFont typeface="Calibri"/>
              <a:buNone/>
            </a:pPr>
            <a:r>
              <a:rPr b="1" lang="en-US" sz="129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Densità Ricettiva</a:t>
            </a:r>
            <a:endParaRPr b="1" sz="129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409b6d92d7a_3_13"/>
          <p:cNvSpPr txBox="1"/>
          <p:nvPr/>
        </p:nvSpPr>
        <p:spPr>
          <a:xfrm>
            <a:off x="1224078" y="2790089"/>
            <a:ext cx="41385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Presenze turistiche per km² di superficie comunale: Misura la pressione delle infrastrutture ricettive sul territorio</a:t>
            </a:r>
            <a:endParaRPr sz="1142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Letti totali / Superficie</a:t>
            </a:r>
            <a:endParaRPr sz="1142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" name="Google Shape;142;g409b6d92d7a_3_13"/>
          <p:cNvGrpSpPr/>
          <p:nvPr/>
        </p:nvGrpSpPr>
        <p:grpSpPr>
          <a:xfrm>
            <a:off x="747869" y="2854119"/>
            <a:ext cx="370673" cy="330491"/>
            <a:chOff x="741287" y="1985785"/>
            <a:chExt cx="357000" cy="318300"/>
          </a:xfrm>
        </p:grpSpPr>
        <p:sp>
          <p:nvSpPr>
            <p:cNvPr id="143" name="Google Shape;143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4925" lIns="94925" spcFirstLastPara="1" rIns="94925" wrap="square" tIns="94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b="1" lang="en-US" sz="155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55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g409b6d92d7a_3_13"/>
          <p:cNvSpPr/>
          <p:nvPr/>
        </p:nvSpPr>
        <p:spPr>
          <a:xfrm>
            <a:off x="6017290" y="2547454"/>
            <a:ext cx="4842300" cy="960900"/>
          </a:xfrm>
          <a:prstGeom prst="roundRect">
            <a:avLst>
              <a:gd fmla="val 6250" name="adj"/>
            </a:avLst>
          </a:prstGeom>
          <a:solidFill>
            <a:srgbClr val="E8F1F5"/>
          </a:solidFill>
          <a:ln cap="flat" cmpd="sng" w="98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4"/>
          </a:p>
        </p:txBody>
      </p:sp>
      <p:sp>
        <p:nvSpPr>
          <p:cNvPr id="146" name="Google Shape;146;g409b6d92d7a_3_13"/>
          <p:cNvSpPr txBox="1"/>
          <p:nvPr/>
        </p:nvSpPr>
        <p:spPr>
          <a:xfrm>
            <a:off x="6565153" y="2558409"/>
            <a:ext cx="41385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98"/>
              <a:buFont typeface="Calibri"/>
              <a:buNone/>
            </a:pPr>
            <a:r>
              <a:rPr b="1" lang="en-US" sz="1142">
                <a:solidFill>
                  <a:schemeClr val="dk1"/>
                </a:solidFill>
              </a:rPr>
              <a:t>Utilizzazione Lorda</a:t>
            </a:r>
            <a:endParaRPr b="0" i="0" sz="12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409b6d92d7a_3_13"/>
          <p:cNvSpPr txBox="1"/>
          <p:nvPr/>
        </p:nvSpPr>
        <p:spPr>
          <a:xfrm>
            <a:off x="6565153" y="2782587"/>
            <a:ext cx="41385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Misura quanto la capacità ricettiva è effettivamente satura nel periodo, espresso in % non superiore al 100</a:t>
            </a:r>
            <a:endParaRPr sz="1142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resenze / (posti letto disponibili * 365) %</a:t>
            </a:r>
            <a:endParaRPr b="1" sz="1142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8" name="Google Shape;148;g409b6d92d7a_3_13"/>
          <p:cNvGrpSpPr/>
          <p:nvPr/>
        </p:nvGrpSpPr>
        <p:grpSpPr>
          <a:xfrm>
            <a:off x="6122432" y="2862608"/>
            <a:ext cx="370673" cy="330491"/>
            <a:chOff x="741287" y="1985785"/>
            <a:chExt cx="357000" cy="318300"/>
          </a:xfrm>
        </p:grpSpPr>
        <p:sp>
          <p:nvSpPr>
            <p:cNvPr id="149" name="Google Shape;149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4925" lIns="94925" spcFirstLastPara="1" rIns="94925" wrap="square" tIns="94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b="1" lang="en-US" sz="155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55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g409b6d92d7a_3_13"/>
          <p:cNvGrpSpPr/>
          <p:nvPr/>
        </p:nvGrpSpPr>
        <p:grpSpPr>
          <a:xfrm>
            <a:off x="747869" y="4004816"/>
            <a:ext cx="370673" cy="330491"/>
            <a:chOff x="741287" y="1985785"/>
            <a:chExt cx="357000" cy="318300"/>
          </a:xfrm>
        </p:grpSpPr>
        <p:sp>
          <p:nvSpPr>
            <p:cNvPr id="152" name="Google Shape;152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4925" lIns="94925" spcFirstLastPara="1" rIns="94925" wrap="square" tIns="94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b="1" lang="en-US" sz="155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55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g409b6d92d7a_3_13"/>
          <p:cNvGrpSpPr/>
          <p:nvPr/>
        </p:nvGrpSpPr>
        <p:grpSpPr>
          <a:xfrm>
            <a:off x="747869" y="4875803"/>
            <a:ext cx="370673" cy="330491"/>
            <a:chOff x="741287" y="1985785"/>
            <a:chExt cx="357000" cy="318300"/>
          </a:xfrm>
        </p:grpSpPr>
        <p:sp>
          <p:nvSpPr>
            <p:cNvPr id="155" name="Google Shape;155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4925" lIns="94925" spcFirstLastPara="1" rIns="94925" wrap="square" tIns="94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b="1" lang="en-US" sz="155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55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g409b6d92d7a_3_13"/>
          <p:cNvSpPr/>
          <p:nvPr/>
        </p:nvSpPr>
        <p:spPr>
          <a:xfrm>
            <a:off x="642733" y="5644809"/>
            <a:ext cx="10190100" cy="754800"/>
          </a:xfrm>
          <a:prstGeom prst="roundRect">
            <a:avLst>
              <a:gd fmla="val 853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4"/>
          </a:p>
        </p:txBody>
      </p:sp>
      <p:sp>
        <p:nvSpPr>
          <p:cNvPr id="158" name="Google Shape;158;g409b6d92d7a_3_13"/>
          <p:cNvSpPr txBox="1"/>
          <p:nvPr/>
        </p:nvSpPr>
        <p:spPr>
          <a:xfrm>
            <a:off x="1190410" y="5665316"/>
            <a:ext cx="93897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4"/>
              <a:buFont typeface="Calibri"/>
              <a:buNone/>
            </a:pPr>
            <a:r>
              <a:rPr b="1" lang="en-US" sz="145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Indice di OverTourism</a:t>
            </a:r>
            <a:endParaRPr b="0" i="0" sz="1454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409b6d92d7a_3_13"/>
          <p:cNvSpPr txBox="1"/>
          <p:nvPr/>
        </p:nvSpPr>
        <p:spPr>
          <a:xfrm>
            <a:off x="1190410" y="5960160"/>
            <a:ext cx="93897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94"/>
              <a:buFont typeface="Calibri"/>
              <a:buNone/>
            </a:pPr>
            <a:r>
              <a:rPr lang="en-US" sz="119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Media geometrica di quattro indicatori normalizzati (densità turistica, densità ricettiva, intensità turistica, utilizzazione lorda), dopo winsorizzazione al 99° percentile e min-max.</a:t>
            </a:r>
            <a:endParaRPr sz="119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g409b6d92d7a_3_13"/>
          <p:cNvGrpSpPr/>
          <p:nvPr/>
        </p:nvGrpSpPr>
        <p:grpSpPr>
          <a:xfrm>
            <a:off x="747902" y="5888636"/>
            <a:ext cx="370673" cy="330491"/>
            <a:chOff x="40387" y="5396910"/>
            <a:chExt cx="357000" cy="318300"/>
          </a:xfrm>
        </p:grpSpPr>
        <p:sp>
          <p:nvSpPr>
            <p:cNvPr id="161" name="Google Shape;161;g409b6d92d7a_3_13"/>
            <p:cNvSpPr/>
            <p:nvPr/>
          </p:nvSpPr>
          <p:spPr>
            <a:xfrm>
              <a:off x="40387" y="5396910"/>
              <a:ext cx="357000" cy="318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4925" lIns="94925" spcFirstLastPara="1" rIns="94925" wrap="square" tIns="94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g409b6d92d7a_3_13"/>
            <p:cNvSpPr txBox="1"/>
            <p:nvPr/>
          </p:nvSpPr>
          <p:spPr>
            <a:xfrm>
              <a:off x="40387" y="5396910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b="1" lang="en-US" sz="1558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b="0" i="0" sz="1558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g409b6d92d7a_3_13"/>
          <p:cNvSpPr/>
          <p:nvPr/>
        </p:nvSpPr>
        <p:spPr>
          <a:xfrm>
            <a:off x="568475" y="1315025"/>
            <a:ext cx="10338600" cy="2291100"/>
          </a:xfrm>
          <a:prstGeom prst="roundRect">
            <a:avLst>
              <a:gd fmla="val 6250" name="adj"/>
            </a:avLst>
          </a:prstGeom>
          <a:noFill/>
          <a:ln cap="flat" cmpd="sng" w="98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4"/>
          </a:p>
        </p:txBody>
      </p:sp>
      <p:cxnSp>
        <p:nvCxnSpPr>
          <p:cNvPr id="164" name="Google Shape;164;g409b6d92d7a_3_13"/>
          <p:cNvCxnSpPr/>
          <p:nvPr/>
        </p:nvCxnSpPr>
        <p:spPr>
          <a:xfrm>
            <a:off x="640200" y="846898"/>
            <a:ext cx="3705900" cy="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8a346b7a1_0_155"/>
          <p:cNvSpPr/>
          <p:nvPr/>
        </p:nvSpPr>
        <p:spPr>
          <a:xfrm>
            <a:off x="640200" y="443448"/>
            <a:ext cx="10911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Indice di Attrattività</a:t>
            </a:r>
            <a:endParaRPr b="1" sz="29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1F2733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1" name="Google Shape;171;g3f8a346b7a1_0_155"/>
          <p:cNvSpPr/>
          <p:nvPr/>
        </p:nvSpPr>
        <p:spPr>
          <a:xfrm>
            <a:off x="640000" y="991950"/>
            <a:ext cx="10016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punteggio comunale costruito sui punti di interesse OpenStreetMap, indipendentemente dai flussi turistici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8a346b7a1_0_155"/>
          <p:cNvSpPr/>
          <p:nvPr/>
        </p:nvSpPr>
        <p:spPr>
          <a:xfrm>
            <a:off x="642816" y="6463367"/>
            <a:ext cx="7595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8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3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8a346b7a1_0_155"/>
          <p:cNvSpPr/>
          <p:nvPr/>
        </p:nvSpPr>
        <p:spPr>
          <a:xfrm>
            <a:off x="10738540" y="6463367"/>
            <a:ext cx="12339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8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06 / 18</a:t>
            </a:r>
            <a:endParaRPr b="0" sz="103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174;g3f8a346b7a1_0_155"/>
          <p:cNvCxnSpPr/>
          <p:nvPr/>
        </p:nvCxnSpPr>
        <p:spPr>
          <a:xfrm flipH="1" rot="10800000">
            <a:off x="640200" y="837298"/>
            <a:ext cx="3456600" cy="9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g3f8a346b7a1_0_155"/>
          <p:cNvSpPr/>
          <p:nvPr/>
        </p:nvSpPr>
        <p:spPr>
          <a:xfrm>
            <a:off x="640188" y="2641550"/>
            <a:ext cx="3041100" cy="23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8a346b7a1_0_155"/>
          <p:cNvSpPr txBox="1"/>
          <p:nvPr/>
        </p:nvSpPr>
        <p:spPr>
          <a:xfrm>
            <a:off x="858588" y="2751175"/>
            <a:ext cx="26043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punteggio da 0 a 100 per ciascun comune, costruito su cinque categorie di punti di interesse rilevati da OpenStreetMap - turismo, natura, ristorazione, servizi, infrastrutture - pesate rispettivamente 30%, 25%, 20%, 15% e 10%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8a346b7a1_0_155"/>
          <p:cNvSpPr/>
          <p:nvPr/>
        </p:nvSpPr>
        <p:spPr>
          <a:xfrm>
            <a:off x="4439250" y="2645125"/>
            <a:ext cx="3041100" cy="23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8a346b7a1_0_155"/>
          <p:cNvSpPr txBox="1"/>
          <p:nvPr/>
        </p:nvSpPr>
        <p:spPr>
          <a:xfrm>
            <a:off x="4657650" y="2754750"/>
            <a:ext cx="26043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Ogni categoria è normalizzata per la superficie comunale, calcolata su una proiezione metrica (UTM 32N) per avere aree corrette, poi riportata su una scala comune 0-100 con un min-max sui 377 comuni, e infine sommata pesando ciascuna categoria secondo la sua importanza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8a346b7a1_0_155"/>
          <p:cNvSpPr/>
          <p:nvPr/>
        </p:nvSpPr>
        <p:spPr>
          <a:xfrm>
            <a:off x="8238313" y="2641562"/>
            <a:ext cx="3313200" cy="222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8a346b7a1_0_155"/>
          <p:cNvSpPr txBox="1"/>
          <p:nvPr/>
        </p:nvSpPr>
        <p:spPr>
          <a:xfrm>
            <a:off x="8476259" y="2745604"/>
            <a:ext cx="2837400" cy="20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Ogni categoria è normalizzata per la superficie comunale, calcolata su una proiezione metrica (UTM 32N) per avere aree corrette, poi riportata su una scala comune 0–100 con un min-max sui 377 comuni, e infine sommata pesando ciascuna categoria secondo la sua importanza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8a346b7a1_0_155"/>
          <p:cNvSpPr/>
          <p:nvPr/>
        </p:nvSpPr>
        <p:spPr>
          <a:xfrm>
            <a:off x="8238313" y="2641550"/>
            <a:ext cx="3313200" cy="23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8a346b7a1_0_155"/>
          <p:cNvSpPr txBox="1"/>
          <p:nvPr/>
        </p:nvSpPr>
        <p:spPr>
          <a:xfrm>
            <a:off x="8476259" y="2745604"/>
            <a:ext cx="2837400" cy="20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 comuni sono divisi in cinque classi di pari numerosità (quintili) in base al punteggio finale, da attrattività molto bassa a molto alta: una classificazione relativa, che si aggiorna automaticamente quando cambiano i dati sottostanti 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8a346b7a1_0_155"/>
          <p:cNvSpPr txBox="1"/>
          <p:nvPr/>
        </p:nvSpPr>
        <p:spPr>
          <a:xfrm>
            <a:off x="642825" y="2183000"/>
            <a:ext cx="2372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 misura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8a346b7a1_0_155"/>
          <p:cNvSpPr txBox="1"/>
          <p:nvPr/>
        </p:nvSpPr>
        <p:spPr>
          <a:xfrm>
            <a:off x="4462150" y="2183000"/>
            <a:ext cx="2372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 si calcolo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8a346b7a1_0_155"/>
          <p:cNvSpPr txBox="1"/>
          <p:nvPr/>
        </p:nvSpPr>
        <p:spPr>
          <a:xfrm>
            <a:off x="8238225" y="2183000"/>
            <a:ext cx="2372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 si classifica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640050" y="387247"/>
            <a:ext cx="1091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Come si è mossa la pressione turistica nei comuni sardi</a:t>
            </a:r>
            <a:endParaRPr b="0" sz="29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40049" y="1117125"/>
            <a:ext cx="109113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L'Indice di Overtourism per comune, seguito nei quattro anni di osservazione, individua dove la pressione è cresciuta più velocemente — non solo dove è più alta oggi. Dalle mappe emerge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 le zone costiere sono quelle che sono state impattate di più dall’overtourism 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06 / 18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7"/>
          <p:cNvCxnSpPr/>
          <p:nvPr/>
        </p:nvCxnSpPr>
        <p:spPr>
          <a:xfrm flipH="1" rot="10800000">
            <a:off x="640050" y="873547"/>
            <a:ext cx="9275100" cy="21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50" y="1742407"/>
            <a:ext cx="4801800" cy="4724881"/>
          </a:xfrm>
          <a:prstGeom prst="rect">
            <a:avLst/>
          </a:prstGeom>
          <a:solidFill>
            <a:srgbClr val="EAF1F3"/>
          </a:solidFill>
          <a:ln>
            <a:noFill/>
          </a:ln>
        </p:spPr>
      </p:pic>
      <p:pic>
        <p:nvPicPr>
          <p:cNvPr id="197" name="Google Shape;19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0600" y="1735825"/>
            <a:ext cx="4841214" cy="473805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640075" y="1894125"/>
            <a:ext cx="10440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482794" y="1894125"/>
            <a:ext cx="1348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69765" y="4743228"/>
            <a:ext cx="1669360" cy="17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56238" y="4719425"/>
            <a:ext cx="1647825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/>
          <p:nvPr/>
        </p:nvSpPr>
        <p:spPr>
          <a:xfrm>
            <a:off x="640375" y="421672"/>
            <a:ext cx="109113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Cosa rende un comune attrattivo, indipendentemente dal turismo</a:t>
            </a:r>
            <a:endParaRPr b="0" sz="28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41195" y="1124650"/>
            <a:ext cx="10084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L’indice di Attrattività misura il potenziale di un territorio a prescindere dai flussi attuali: natura, ristorazione, servizi e infrastrutture pesano quanto l'offerta turistica in senso stretto</a:t>
            </a:r>
            <a:endParaRPr b="0" sz="1439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41200" y="6466339"/>
            <a:ext cx="7516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8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2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0632061" y="6466339"/>
            <a:ext cx="12210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8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07 / 18</a:t>
            </a:r>
            <a:endParaRPr b="0" sz="102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8"/>
          <p:cNvPicPr preferRelativeResize="0"/>
          <p:nvPr/>
        </p:nvPicPr>
        <p:blipFill rotWithShape="1">
          <a:blip r:embed="rId3">
            <a:alphaModFix/>
          </a:blip>
          <a:srcRect b="4008" l="29840" r="27170" t="11788"/>
          <a:stretch/>
        </p:blipFill>
        <p:spPr>
          <a:xfrm>
            <a:off x="7543075" y="1702500"/>
            <a:ext cx="3641524" cy="476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599450" y="1702497"/>
            <a:ext cx="5684400" cy="13341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98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3" name="Google Shape;213;p8"/>
          <p:cNvGrpSpPr/>
          <p:nvPr/>
        </p:nvGrpSpPr>
        <p:grpSpPr>
          <a:xfrm>
            <a:off x="834382" y="2172353"/>
            <a:ext cx="394598" cy="394638"/>
            <a:chOff x="828050" y="2020722"/>
            <a:chExt cx="384000" cy="384038"/>
          </a:xfrm>
        </p:grpSpPr>
        <p:sp>
          <p:nvSpPr>
            <p:cNvPr id="214" name="Google Shape;214;p8"/>
            <p:cNvSpPr/>
            <p:nvPr/>
          </p:nvSpPr>
          <p:spPr>
            <a:xfrm>
              <a:off x="828050" y="2020722"/>
              <a:ext cx="384000" cy="384038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3950" lIns="93950" spcFirstLastPara="1" rIns="93950" wrap="square" tIns="93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8"/>
            <p:cNvSpPr txBox="1"/>
            <p:nvPr/>
          </p:nvSpPr>
          <p:spPr>
            <a:xfrm>
              <a:off x="828050" y="2020722"/>
              <a:ext cx="3840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39"/>
                <a:buFont typeface="Calibri"/>
                <a:buNone/>
              </a:pPr>
              <a:r>
                <a:rPr b="1" i="0" lang="en-US" sz="143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8"/>
          <p:cNvSpPr txBox="1"/>
          <p:nvPr/>
        </p:nvSpPr>
        <p:spPr>
          <a:xfrm>
            <a:off x="1369924" y="1852848"/>
            <a:ext cx="4744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87"/>
              <a:buFont typeface="Calibri"/>
              <a:buNone/>
            </a:pPr>
            <a:r>
              <a:rPr b="1" i="0" lang="en-US" sz="1387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Conteggio POI per pilastro (OSM / Overpass API)</a:t>
            </a:r>
            <a:endParaRPr b="0" i="0" sz="13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1369916" y="2115007"/>
            <a:ext cx="47919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Raccolta dei Punti di Interesse (POI) sardi da </a:t>
            </a:r>
            <a:r>
              <a:rPr i="1"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OpenStreetMap</a:t>
            </a: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 e suddivisione degli stessi in 5 pilastri: </a:t>
            </a:r>
            <a:r>
              <a:rPr b="1" i="0" lang="en-US" sz="1110" u="none" cap="none" strike="noStrik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Turismo, Natura, Ristorazione, Servizi, Infrastrutture</a:t>
            </a: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. Allocazione dei POI ai vari comuni attraverso </a:t>
            </a:r>
            <a:r>
              <a:rPr b="1"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GeoPandas</a:t>
            </a:r>
            <a:r>
              <a:rPr b="0" i="0" lang="en-US" sz="1110" u="none" cap="none" strike="noStrik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99450" y="3130838"/>
            <a:ext cx="5684400" cy="13341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98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p8"/>
          <p:cNvGrpSpPr/>
          <p:nvPr/>
        </p:nvGrpSpPr>
        <p:grpSpPr>
          <a:xfrm>
            <a:off x="834382" y="3600831"/>
            <a:ext cx="394598" cy="394598"/>
            <a:chOff x="828050" y="3410749"/>
            <a:chExt cx="384000" cy="384000"/>
          </a:xfrm>
        </p:grpSpPr>
        <p:sp>
          <p:nvSpPr>
            <p:cNvPr id="220" name="Google Shape;220;p8"/>
            <p:cNvSpPr/>
            <p:nvPr/>
          </p:nvSpPr>
          <p:spPr>
            <a:xfrm>
              <a:off x="828050" y="3410749"/>
              <a:ext cx="384000" cy="3840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3950" lIns="93950" spcFirstLastPara="1" rIns="93950" wrap="square" tIns="93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8"/>
            <p:cNvSpPr txBox="1"/>
            <p:nvPr/>
          </p:nvSpPr>
          <p:spPr>
            <a:xfrm>
              <a:off x="828050" y="3410749"/>
              <a:ext cx="3840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39"/>
                <a:buFont typeface="Calibri"/>
                <a:buNone/>
              </a:pPr>
              <a:r>
                <a:rPr b="1" i="0" lang="en-US" sz="143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8"/>
          <p:cNvSpPr txBox="1"/>
          <p:nvPr/>
        </p:nvSpPr>
        <p:spPr>
          <a:xfrm>
            <a:off x="1369924" y="3281189"/>
            <a:ext cx="4744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87"/>
              <a:buFont typeface="Calibri"/>
              <a:buNone/>
            </a:pPr>
            <a:r>
              <a:rPr b="1" i="0" lang="en-US" sz="1387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Densità per km² e trasformazione logaritmica</a:t>
            </a:r>
            <a:endParaRPr b="0" i="0" sz="13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1369916" y="3565109"/>
            <a:ext cx="47919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Il calcolo della densità serve a confrontare comuni di “taglia” diversa Comuni molto estesi geograficamente hanno molti punti di interesse. </a:t>
            </a:r>
            <a:endParaRPr b="0" i="0" sz="11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99450" y="4559176"/>
            <a:ext cx="5684400" cy="17967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98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p8"/>
          <p:cNvGrpSpPr/>
          <p:nvPr/>
        </p:nvGrpSpPr>
        <p:grpSpPr>
          <a:xfrm>
            <a:off x="834382" y="5260271"/>
            <a:ext cx="394598" cy="394638"/>
            <a:chOff x="828050" y="4800776"/>
            <a:chExt cx="384000" cy="384038"/>
          </a:xfrm>
        </p:grpSpPr>
        <p:sp>
          <p:nvSpPr>
            <p:cNvPr id="226" name="Google Shape;226;p8"/>
            <p:cNvSpPr/>
            <p:nvPr/>
          </p:nvSpPr>
          <p:spPr>
            <a:xfrm>
              <a:off x="828050" y="4800776"/>
              <a:ext cx="384000" cy="384038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3950" lIns="93950" spcFirstLastPara="1" rIns="93950" wrap="square" tIns="93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8"/>
            <p:cNvSpPr txBox="1"/>
            <p:nvPr/>
          </p:nvSpPr>
          <p:spPr>
            <a:xfrm>
              <a:off x="828050" y="4800776"/>
              <a:ext cx="384000" cy="384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39"/>
                <a:buFont typeface="Calibri"/>
                <a:buNone/>
              </a:pPr>
              <a:r>
                <a:rPr b="1" i="0" lang="en-US" sz="143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8"/>
          <p:cNvSpPr txBox="1"/>
          <p:nvPr/>
        </p:nvSpPr>
        <p:spPr>
          <a:xfrm>
            <a:off x="1369924" y="4709530"/>
            <a:ext cx="4744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87"/>
              <a:buFont typeface="Calibri"/>
              <a:buNone/>
            </a:pPr>
            <a:r>
              <a:rPr b="1" lang="en-US" sz="1387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Calcolo indicatore pesato e logatirmizzazione</a:t>
            </a:r>
            <a:endParaRPr b="0" i="0" sz="13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1369916" y="5047837"/>
            <a:ext cx="47919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Per ogni comune è stato calcolatà un indicatore assoluto.</a:t>
            </a:r>
            <a:endParaRPr sz="1110">
              <a:solidFill>
                <a:srgbClr val="5B6B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Successivamente, è stata calcolata l</a:t>
            </a: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a trasformazione logaritmica notmalizzata, onde  evitare che poche zone iper-dense (con molti POI) comprimano la scala. </a:t>
            </a:r>
            <a:r>
              <a:rPr b="0" i="0" lang="en-US" sz="1110" u="none" cap="none" strike="noStrik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Ogni pilastro normalizzato 0–100, combinato con i pesi</a:t>
            </a: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 di ogni pilastro</a:t>
            </a:r>
            <a:r>
              <a:rPr b="0" i="0" lang="en-US" sz="1110" u="none" cap="none" strike="noStrik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. L'indice finale classifica i comuni in 5 classi (quintili) di attrattività.</a:t>
            </a:r>
            <a:endParaRPr b="0" i="0" sz="11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1394012" y="4112272"/>
            <a:ext cx="47919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Densita dei POI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 = (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/Area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densità è stata normalizzata: norm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= (densità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 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min)/(max-min)</a:t>
            </a:r>
            <a:endParaRPr b="1"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1394021" y="2637625"/>
            <a:ext cx="47919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 ogni comune c, per ogni pilastro p: 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 =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Σ POI (pilastro p, comune c)</a:t>
            </a:r>
            <a:endParaRPr b="1" i="0" sz="11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1398354" y="5824003"/>
            <a:ext cx="47919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Indicatore assoluto di attrattività: 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Σ ω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 norm-d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</a:t>
            </a:r>
            <a:endParaRPr b="1"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Indicatore finale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</a:t>
            </a:r>
            <a:r>
              <a:rPr b="1" i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= (ln(1+A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ln(1+min))/(ln(1+max)-ln(1+min))</a:t>
            </a:r>
            <a:endParaRPr b="1"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8"/>
          <p:cNvCxnSpPr/>
          <p:nvPr/>
        </p:nvCxnSpPr>
        <p:spPr>
          <a:xfrm>
            <a:off x="642650" y="929550"/>
            <a:ext cx="109137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640350" y="421672"/>
            <a:ext cx="109113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Overtourism e attrattività a confronto</a:t>
            </a:r>
            <a:endParaRPr b="0" sz="29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640350" y="2502588"/>
            <a:ext cx="3436800" cy="22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Ogni punto è un comune, posizionato secondo il proprio livello di Overtourism e di Attrattività: le due mediane dividono il piano in quattro quadranti - Criticità, Destinazione Matura, Territorio da Sviluppare, Gemma Nascosta - che mostrano dove la pressione turistica è già eccessiva e dove esiste ancora margine di sviluppo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08 / 18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9"/>
          <p:cNvPicPr preferRelativeResize="0"/>
          <p:nvPr/>
        </p:nvPicPr>
        <p:blipFill rotWithShape="1">
          <a:blip r:embed="rId3">
            <a:alphaModFix/>
          </a:blip>
          <a:srcRect b="0" l="0" r="11567" t="7339"/>
          <a:stretch/>
        </p:blipFill>
        <p:spPr>
          <a:xfrm>
            <a:off x="4549075" y="1595150"/>
            <a:ext cx="5088861" cy="4066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p9"/>
          <p:cNvCxnSpPr/>
          <p:nvPr/>
        </p:nvCxnSpPr>
        <p:spPr>
          <a:xfrm flipH="1" rot="10800000">
            <a:off x="640350" y="878575"/>
            <a:ext cx="6369000" cy="11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5" name="Google Shape;245;p9"/>
          <p:cNvPicPr preferRelativeResize="0"/>
          <p:nvPr/>
        </p:nvPicPr>
        <p:blipFill rotWithShape="1">
          <a:blip r:embed="rId4">
            <a:alphaModFix/>
          </a:blip>
          <a:srcRect b="-4380" l="1756" r="1766" t="4380"/>
          <a:stretch/>
        </p:blipFill>
        <p:spPr>
          <a:xfrm>
            <a:off x="9838450" y="1595150"/>
            <a:ext cx="1880125" cy="11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/>
          <p:nvPr/>
        </p:nvSpPr>
        <p:spPr>
          <a:xfrm>
            <a:off x="536775" y="398723"/>
            <a:ext cx="109113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Quanto dipendono i comuni sardi da un unico mercato turistico?</a:t>
            </a:r>
            <a:endParaRPr b="0" sz="29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536775" y="1134575"/>
            <a:ext cx="109113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L'indice di Herfindahl-Hirschman misura la concentrazione dei mercati di provenienza. Muros e Ardauli superano il 75% dai turisti francesi, Villasalto oltre il 50% dal Regno Unito.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12 / 18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13"/>
          <p:cNvPicPr preferRelativeResize="0"/>
          <p:nvPr/>
        </p:nvPicPr>
        <p:blipFill rotWithShape="1">
          <a:blip r:embed="rId3">
            <a:alphaModFix/>
          </a:blip>
          <a:srcRect b="3048" l="25998" r="26628" t="8846"/>
          <a:stretch/>
        </p:blipFill>
        <p:spPr>
          <a:xfrm>
            <a:off x="6643400" y="2082225"/>
            <a:ext cx="2976203" cy="432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3"/>
          <p:cNvPicPr preferRelativeResize="0"/>
          <p:nvPr/>
        </p:nvPicPr>
        <p:blipFill rotWithShape="1">
          <a:blip r:embed="rId4">
            <a:alphaModFix/>
          </a:blip>
          <a:srcRect b="4107" l="29997" r="27308" t="10685"/>
          <a:stretch/>
        </p:blipFill>
        <p:spPr>
          <a:xfrm>
            <a:off x="640075" y="2150400"/>
            <a:ext cx="2712741" cy="43234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13"/>
          <p:cNvCxnSpPr/>
          <p:nvPr/>
        </p:nvCxnSpPr>
        <p:spPr>
          <a:xfrm flipH="1" rot="10800000">
            <a:off x="562325" y="941175"/>
            <a:ext cx="10959600" cy="22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8" name="Google Shape;258;p13"/>
          <p:cNvPicPr preferRelativeResize="0"/>
          <p:nvPr/>
        </p:nvPicPr>
        <p:blipFill rotWithShape="1">
          <a:blip r:embed="rId5">
            <a:alphaModFix/>
          </a:blip>
          <a:srcRect b="0" l="0" r="0" t="6068"/>
          <a:stretch/>
        </p:blipFill>
        <p:spPr>
          <a:xfrm>
            <a:off x="9895525" y="2082175"/>
            <a:ext cx="2123225" cy="22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3"/>
          <p:cNvPicPr preferRelativeResize="0"/>
          <p:nvPr/>
        </p:nvPicPr>
        <p:blipFill rotWithShape="1">
          <a:blip r:embed="rId6">
            <a:alphaModFix/>
          </a:blip>
          <a:srcRect b="4830" l="1343" r="1343" t="-4830"/>
          <a:stretch/>
        </p:blipFill>
        <p:spPr>
          <a:xfrm>
            <a:off x="3511650" y="2082175"/>
            <a:ext cx="2391550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/>
          <p:nvPr/>
        </p:nvSpPr>
        <p:spPr>
          <a:xfrm>
            <a:off x="640080" y="384120"/>
            <a:ext cx="77720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IL SOMMERSO TURISTICO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640075" y="731525"/>
            <a:ext cx="102504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Quasi un terzo dei turisti reali non compare nei dati ufficiali</a:t>
            </a:r>
            <a:endParaRPr b="0" sz="29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938125" y="1660000"/>
            <a:ext cx="28089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00" u="none" strike="noStrike">
                <a:solidFill>
                  <a:srgbClr val="B5602F"/>
                </a:solidFill>
                <a:latin typeface="Cambria"/>
                <a:ea typeface="Cambria"/>
                <a:cs typeface="Cambria"/>
                <a:sym typeface="Cambria"/>
              </a:rPr>
              <a:t>36,5%</a:t>
            </a:r>
            <a:endParaRPr b="0" sz="6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598225" y="3137241"/>
            <a:ext cx="34887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flusso fisico via porti e aeroporti nel 2025 non risulta nei dati ufficiali (SIRED). Gli arrivi registrati crescono però più velocemente (+40,5%) del flusso fisico totale (+17,8%).</a:t>
            </a:r>
            <a:endParaRPr b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598224" y="4683800"/>
            <a:ext cx="6663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B3C55"/>
                </a:solidFill>
                <a:latin typeface="Cambria"/>
                <a:ea typeface="Cambria"/>
                <a:cs typeface="Cambria"/>
                <a:sym typeface="Cambria"/>
              </a:rPr>
              <a:t>46,8%</a:t>
            </a:r>
            <a:endParaRPr b="1" sz="1700" u="none" strike="noStrik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 b="1" sz="1900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1338850" y="4683800"/>
            <a:ext cx="6663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B3C55"/>
                </a:solidFill>
                <a:latin typeface="Cambria"/>
                <a:ea typeface="Cambria"/>
                <a:cs typeface="Cambria"/>
                <a:sym typeface="Cambria"/>
              </a:rPr>
              <a:t>46,4%</a:t>
            </a:r>
            <a:endParaRPr b="1" sz="1700" u="none" strike="noStrik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b="1" sz="1900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2079475" y="4683800"/>
            <a:ext cx="6663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B3C55"/>
                </a:solidFill>
                <a:latin typeface="Cambria"/>
                <a:ea typeface="Cambria"/>
                <a:cs typeface="Cambria"/>
                <a:sym typeface="Cambria"/>
              </a:rPr>
              <a:t>42,6%</a:t>
            </a:r>
            <a:endParaRPr b="1" sz="1700" u="none" strike="noStrik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b="1" sz="1900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2827924" y="4683800"/>
            <a:ext cx="6663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B3C55"/>
                </a:solidFill>
                <a:latin typeface="Cambria"/>
                <a:ea typeface="Cambria"/>
                <a:cs typeface="Cambria"/>
                <a:sym typeface="Cambria"/>
              </a:rPr>
              <a:t>36,5%</a:t>
            </a:r>
            <a:endParaRPr b="1" sz="1700" u="none" strike="noStrik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1" sz="1900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457928" y="6473875"/>
            <a:ext cx="294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14 / 18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15"/>
          <p:cNvPicPr preferRelativeResize="0"/>
          <p:nvPr/>
        </p:nvPicPr>
        <p:blipFill rotWithShape="1">
          <a:blip r:embed="rId3">
            <a:alphaModFix/>
          </a:blip>
          <a:srcRect b="0" l="0" r="0" t="7749"/>
          <a:stretch/>
        </p:blipFill>
        <p:spPr>
          <a:xfrm>
            <a:off x="4985300" y="1874063"/>
            <a:ext cx="5591949" cy="3829875"/>
          </a:xfrm>
          <a:prstGeom prst="rect">
            <a:avLst/>
          </a:prstGeom>
          <a:solidFill>
            <a:srgbClr val="EAF1F3"/>
          </a:solidFill>
          <a:ln cap="flat" cmpd="sng" w="19050">
            <a:solidFill>
              <a:srgbClr val="1C7293"/>
            </a:solidFill>
            <a:prstDash val="dash"/>
            <a:round/>
            <a:headEnd len="sm" w="sm" type="none"/>
            <a:tailEnd len="sm" w="sm" type="none"/>
          </a:ln>
        </p:spPr>
      </p:pic>
      <p:cxnSp>
        <p:nvCxnSpPr>
          <p:cNvPr id="276" name="Google Shape;276;p15"/>
          <p:cNvCxnSpPr/>
          <p:nvPr/>
        </p:nvCxnSpPr>
        <p:spPr>
          <a:xfrm>
            <a:off x="640075" y="1212000"/>
            <a:ext cx="102504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"/>
          <p:cNvSpPr/>
          <p:nvPr/>
        </p:nvSpPr>
        <p:spPr>
          <a:xfrm>
            <a:off x="640080" y="301495"/>
            <a:ext cx="109113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sng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Dove promuovere un turismo più equilibrato</a:t>
            </a:r>
            <a:endParaRPr b="0" sz="2600" u="sng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753250" y="2759250"/>
            <a:ext cx="5323800" cy="13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Attraverso la costituzione dell’indice di attrattività si sono individuate 5 classi attraverso le quali sono stati raggruppati i vari comuni sardi, dove il valore 5 indica il massimo valore attrattivo, mentre il valore 1 il minimo.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15 / 18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9477" y="1116298"/>
            <a:ext cx="5061900" cy="497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67800" y="4657050"/>
            <a:ext cx="167640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409b77e888c_0_0"/>
          <p:cNvSpPr/>
          <p:nvPr/>
        </p:nvSpPr>
        <p:spPr>
          <a:xfrm>
            <a:off x="640080" y="301495"/>
            <a:ext cx="109113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 u="sng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Evoluzione delle Gemme Nascoste Sarde </a:t>
            </a:r>
            <a:endParaRPr b="0" i="0" sz="26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409b77e888c_0_0"/>
          <p:cNvSpPr/>
          <p:nvPr/>
        </p:nvSpPr>
        <p:spPr>
          <a:xfrm>
            <a:off x="640080" y="6473880"/>
            <a:ext cx="7314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409b77e888c_0_0"/>
          <p:cNvSpPr/>
          <p:nvPr/>
        </p:nvSpPr>
        <p:spPr>
          <a:xfrm>
            <a:off x="10362960" y="6473880"/>
            <a:ext cx="118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15 / 18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g409b77e888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7425" y="1042275"/>
            <a:ext cx="6011200" cy="527920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409b77e888c_0_0"/>
          <p:cNvSpPr/>
          <p:nvPr/>
        </p:nvSpPr>
        <p:spPr>
          <a:xfrm>
            <a:off x="640075" y="2896625"/>
            <a:ext cx="40014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Attraverso la costituzione dell’indice di attrattività si sono individuate 5 classi attraverso le quali sono stati raggruppati i vari comuni sardi, dove il valore 5 indica il massimo valore attrattivo, mentre il valore 1 il minimo.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/>
          <p:nvPr/>
        </p:nvSpPr>
        <p:spPr>
          <a:xfrm>
            <a:off x="640075" y="301573"/>
            <a:ext cx="10911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Cosa possono fare le istituzioni? </a:t>
            </a:r>
            <a:endParaRPr b="1" sz="2900" u="none" strike="noStrike">
              <a:solidFill>
                <a:schemeClr val="lt1"/>
              </a:solidFill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562325" y="1144553"/>
            <a:ext cx="98139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Quattro direzioni di intervento che nascono direttamente dagli indici e dai grafici presentati.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1170000" y="2078015"/>
            <a:ext cx="10289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u="none" strike="noStrike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Destagionalizzare</a:t>
            </a:r>
            <a:endParaRPr b="0" sz="14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1170000" y="2388695"/>
            <a:ext cx="10289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Indirizzare la promozione verso mercati con un profilo stagionale più ampio, come quello tedesco, per alleggerire la pressione sul bimestre luglio-agosto.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1170000" y="2946695"/>
            <a:ext cx="10289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u="none" strike="noStrike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Monitorare i comuni mono-mercato</a:t>
            </a:r>
            <a:endParaRPr b="0" sz="14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1170000" y="3257375"/>
            <a:ext cx="10289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 territori con HHI più alto sono i più esposti a uno shock di un singolo mercato di provenienza.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1170000" y="3815375"/>
            <a:ext cx="10289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u="none" strike="noStrike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Regolamentare dove serve davvero</a:t>
            </a:r>
            <a:endParaRPr b="0" sz="14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1170000" y="4126055"/>
            <a:ext cx="10289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 comuni con alta quota di case sfitte e alta pressione turistica per residente sono i casi prioritari per interventi sugli affitti brevi.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1170000" y="4684055"/>
            <a:ext cx="10289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u="none" strike="noStrike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Investire nelle gemme nascoste</a:t>
            </a:r>
            <a:endParaRPr b="0" sz="14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1170000" y="4994735"/>
            <a:ext cx="10289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 comuni ad alta attrattività e bassa pressione offrono spazio per una crescita turistica ancora sostenibile.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16 / 18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p17"/>
          <p:cNvGrpSpPr/>
          <p:nvPr/>
        </p:nvGrpSpPr>
        <p:grpSpPr>
          <a:xfrm>
            <a:off x="562332" y="2036846"/>
            <a:ext cx="420118" cy="374575"/>
            <a:chOff x="741287" y="1985785"/>
            <a:chExt cx="357000" cy="318300"/>
          </a:xfrm>
        </p:grpSpPr>
        <p:sp>
          <p:nvSpPr>
            <p:cNvPr id="316" name="Google Shape;316;p17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107600" lIns="107600" spcFirstLastPara="1" rIns="107600" wrap="square" tIns="107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7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65"/>
                <a:buFont typeface="Calibri"/>
                <a:buNone/>
              </a:pPr>
              <a:r>
                <a:rPr b="1" lang="en-US" sz="17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7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18" name="Google Shape;318;p17"/>
          <p:cNvCxnSpPr/>
          <p:nvPr/>
        </p:nvCxnSpPr>
        <p:spPr>
          <a:xfrm flipH="1" rot="10800000">
            <a:off x="562325" y="833825"/>
            <a:ext cx="5492400" cy="7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9" name="Google Shape;319;p17"/>
          <p:cNvGrpSpPr/>
          <p:nvPr/>
        </p:nvGrpSpPr>
        <p:grpSpPr>
          <a:xfrm>
            <a:off x="562332" y="2905521"/>
            <a:ext cx="420118" cy="374575"/>
            <a:chOff x="741287" y="1985785"/>
            <a:chExt cx="357000" cy="318300"/>
          </a:xfrm>
        </p:grpSpPr>
        <p:sp>
          <p:nvSpPr>
            <p:cNvPr id="320" name="Google Shape;320;p17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107600" lIns="107600" spcFirstLastPara="1" rIns="107600" wrap="square" tIns="107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7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65"/>
                <a:buFont typeface="Calibri"/>
                <a:buNone/>
              </a:pPr>
              <a:r>
                <a:rPr b="1" lang="en-US" sz="17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7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17"/>
          <p:cNvGrpSpPr/>
          <p:nvPr/>
        </p:nvGrpSpPr>
        <p:grpSpPr>
          <a:xfrm>
            <a:off x="562332" y="3774196"/>
            <a:ext cx="420118" cy="374575"/>
            <a:chOff x="741287" y="1985785"/>
            <a:chExt cx="357000" cy="318300"/>
          </a:xfrm>
        </p:grpSpPr>
        <p:sp>
          <p:nvSpPr>
            <p:cNvPr id="323" name="Google Shape;323;p17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107600" lIns="107600" spcFirstLastPara="1" rIns="107600" wrap="square" tIns="107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7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65"/>
                <a:buFont typeface="Calibri"/>
                <a:buNone/>
              </a:pPr>
              <a:r>
                <a:rPr b="1" lang="en-US" sz="17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7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7"/>
          <p:cNvGrpSpPr/>
          <p:nvPr/>
        </p:nvGrpSpPr>
        <p:grpSpPr>
          <a:xfrm>
            <a:off x="562332" y="4642871"/>
            <a:ext cx="420118" cy="374575"/>
            <a:chOff x="741287" y="1985785"/>
            <a:chExt cx="357000" cy="318300"/>
          </a:xfrm>
        </p:grpSpPr>
        <p:sp>
          <p:nvSpPr>
            <p:cNvPr id="326" name="Google Shape;326;p17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107600" lIns="107600" spcFirstLastPara="1" rIns="107600" wrap="square" tIns="107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7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65"/>
                <a:buFont typeface="Calibri"/>
                <a:buNone/>
              </a:pPr>
              <a:r>
                <a:rPr b="1" lang="en-US" sz="17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7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"/>
          <p:cNvSpPr/>
          <p:nvPr/>
        </p:nvSpPr>
        <p:spPr>
          <a:xfrm>
            <a:off x="640080" y="384120"/>
            <a:ext cx="77720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9FD1E0"/>
                </a:solidFill>
                <a:latin typeface="Calibri"/>
                <a:ea typeface="Calibri"/>
                <a:cs typeface="Calibri"/>
                <a:sym typeface="Calibri"/>
              </a:rPr>
              <a:t>CONCLUSIONI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640075" y="731523"/>
            <a:ext cx="109113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modello di lettura, non solo una fotografia</a:t>
            </a:r>
            <a:endParaRPr b="0" sz="2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640075" y="1511600"/>
            <a:ext cx="102849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Gli indici costruiti in questo lavoro permettono di seguire l'evoluzione anno su anno, comune per comune, distinguendo pressione turistica, attrattività strutturale e sostenibilità del mercato abitativo come dimensioni distinte ma collegate.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2548675" y="2868875"/>
            <a:ext cx="5235600" cy="1589100"/>
          </a:xfrm>
          <a:prstGeom prst="roundRect">
            <a:avLst>
              <a:gd fmla="val 5455" name="adj"/>
            </a:avLst>
          </a:prstGeom>
          <a:solidFill>
            <a:srgbClr val="0F4C6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2868720" y="3128872"/>
            <a:ext cx="4594200" cy="10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 prossimo passo naturale è l'aggiornamento periodico di questi indici, per trasformarli da analisi one-off a strumento di monitoraggio continuo per le istituzioni sarde.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C99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C99"/>
                </a:solidFill>
                <a:latin typeface="Calibri"/>
                <a:ea typeface="Calibri"/>
                <a:cs typeface="Calibri"/>
                <a:sym typeface="Calibri"/>
              </a:rPr>
              <a:t>17 / 18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18"/>
          <p:cNvCxnSpPr/>
          <p:nvPr/>
        </p:nvCxnSpPr>
        <p:spPr>
          <a:xfrm>
            <a:off x="640075" y="1163323"/>
            <a:ext cx="7691400" cy="7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41" name="Google Shape;341;p18" title="15376668-uomo-lampadina-idea-icona-schema-stile-vettorial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1075" y="4016451"/>
            <a:ext cx="1883200" cy="18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8a346b7a1_0_215"/>
          <p:cNvSpPr/>
          <p:nvPr/>
        </p:nvSpPr>
        <p:spPr>
          <a:xfrm>
            <a:off x="3672369" y="1350475"/>
            <a:ext cx="4847253" cy="121551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Caveat"/>
              </a:rPr>
              <a:t>GRAZIE</a:t>
            </a:r>
          </a:p>
        </p:txBody>
      </p:sp>
      <p:pic>
        <p:nvPicPr>
          <p:cNvPr id="348" name="Google Shape;348;g3f8a346b7a1_0_215" title="140188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875" y="4293825"/>
            <a:ext cx="2039500" cy="159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f8a346b7a1_0_215" title="140188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7600" y="4293825"/>
            <a:ext cx="2039500" cy="15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f8a346b7a1_0_215"/>
          <p:cNvSpPr txBox="1"/>
          <p:nvPr/>
        </p:nvSpPr>
        <p:spPr>
          <a:xfrm>
            <a:off x="1411525" y="3959175"/>
            <a:ext cx="23871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GIT HUB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f8a346b7a1_0_215"/>
          <p:cNvSpPr txBox="1"/>
          <p:nvPr/>
        </p:nvSpPr>
        <p:spPr>
          <a:xfrm>
            <a:off x="7829750" y="3959175"/>
            <a:ext cx="23871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MAPPA INTERATTIVA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f8a346b7a1_0_215"/>
          <p:cNvSpPr txBox="1"/>
          <p:nvPr/>
        </p:nvSpPr>
        <p:spPr>
          <a:xfrm>
            <a:off x="5060875" y="4670700"/>
            <a:ext cx="1331100" cy="14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2026-08-28T17:02:36Z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